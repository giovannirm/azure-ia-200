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6" r:id="rId41"/>
  </p:sldIdLst>
  <p:sldSz cx="12192000" cy="6858000"/>
  <p:notesSz cx="6858000" cy="9144000"/>
  <p:custDataLst>
    <p:tags r:id="rId43"/>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4346" autoAdjust="0"/>
    <p:restoredTop sz="94660"/>
  </p:normalViewPr>
  <p:slideViewPr>
    <p:cSldViewPr snapToGrid="0">
      <p:cViewPr varScale="1">
        <p:scale>
          <a:sx n="82" d="100"/>
          <a:sy n="82" d="100"/>
        </p:scale>
        <p:origin x="642" y="90"/>
      </p:cViewPr>
      <p:guideLst>
        <p:guide pos="3840"/>
        <p:guide orient="horz" pos="216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gs" Target="tags/tag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51021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6509832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C58D156-4B2E-4C57-9C33-59F659D18680}" type="datetimeFigureOut">
              <a:rPr lang="en-US"/>
              <a:t>10/9/2026</a:t>
            </a:fld>
            <a:endParaRPr lang="en-US"/>
          </a:p>
        </p:txBody>
      </p:sp>
      <p:sp>
        <p:nvSpPr>
          <p:cNvPr id="88218251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sp>
      <p:sp>
        <p:nvSpPr>
          <p:cNvPr id="135570540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3865882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61318013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0B4D7BB-47DA-46D4-B152-A08B9EBCF1F1}"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training/paths/deploy-manage-apps-azure-container-app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training/modules/deploy-containers-azure-container-app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training/modules/manage-containers-azure-container-app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earn.microsoft.com/training/modules/scale-containers-azure-container-app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292309" name="Slide Image Placeholder 1"/>
          <p:cNvSpPr>
            <a:spLocks noGrp="1" noRot="1" noChangeAspect="1"/>
          </p:cNvSpPr>
          <p:nvPr>
            <p:ph type="sldImg"/>
          </p:nvPr>
        </p:nvSpPr>
        <p:spPr bwMode="auto"/>
      </p:sp>
      <p:sp>
        <p:nvSpPr>
          <p:cNvPr id="895747032" name="Notes Placeholder 2"/>
          <p:cNvSpPr>
            <a:spLocks noGrp="1"/>
          </p:cNvSpPr>
          <p:nvPr>
            <p:ph type="body" idx="1"/>
          </p:nvPr>
        </p:nvSpPr>
        <p:spPr bwMode="auto"/>
        <p:txBody>
          <a:bodyPr/>
          <a:lstStyle/>
          <a:p>
            <a:pPr marL="0" marR="0" lvl="0" indent="0" algn="l" defTabSz="914400" rtl="0">
              <a:lnSpc>
                <a:spcPct val="100000"/>
              </a:lnSpc>
              <a:spcBef>
                <a:spcPct val="0"/>
              </a:spcBef>
              <a:spcAft>
                <a:spcPct val="0"/>
              </a:spcAft>
              <a:buClrTx/>
              <a:buSzTx/>
              <a:buFontTx/>
              <a:buNone/>
              <a:defRPr/>
            </a:pPr>
            <a:r>
              <a:rPr lang="es-ES" sz="1200" b="0" i="0" strike="noStrike" cap="none" baseline="0" dirty="0">
                <a:solidFill>
                  <a:srgbClr val="000000"/>
                </a:solidFill>
                <a:effectLst/>
                <a:latin typeface="Aptos"/>
                <a:ea typeface="Aptos"/>
                <a:cs typeface="Aptos"/>
              </a:rPr>
              <a:t>Estos módulos de </a:t>
            </a:r>
            <a:r>
              <a:rPr lang="es-ES" sz="1200" b="0" i="0" strike="noStrike" cap="none" baseline="0" dirty="0" err="1">
                <a:solidFill>
                  <a:srgbClr val="000000"/>
                </a:solidFill>
                <a:effectLst/>
                <a:latin typeface="Aptos"/>
                <a:ea typeface="Aptos"/>
                <a:cs typeface="Aptos"/>
              </a:rPr>
              <a:t>Learn</a:t>
            </a:r>
            <a:r>
              <a:rPr lang="es-ES" sz="1200" b="0" i="0" strike="noStrike" cap="none" baseline="0" dirty="0">
                <a:solidFill>
                  <a:srgbClr val="000000"/>
                </a:solidFill>
                <a:effectLst/>
                <a:latin typeface="Aptos"/>
                <a:ea typeface="Aptos"/>
                <a:cs typeface="Aptos"/>
              </a:rPr>
              <a:t> forman parte de la ruta de aprendizaje Implementación y administración de aplicaciones en Azure Container Apps:</a:t>
            </a:r>
            <a:r>
              <a:rPr lang="es-ES" sz="1200" b="0" i="0" strike="noStrike" cap="none" baseline="0" dirty="0">
                <a:solidFill>
                  <a:srgbClr val="171717"/>
                </a:solidFill>
                <a:effectLst/>
                <a:latin typeface="Segoe UI"/>
                <a:ea typeface="Segoe UI"/>
                <a:cs typeface="Segoe UI"/>
              </a:rPr>
              <a:t> </a:t>
            </a:r>
            <a:r>
              <a:rPr lang="es-ES" sz="1200" b="0" i="0" u="sng" strike="noStrike" cap="none" baseline="0" dirty="0">
                <a:solidFill>
                  <a:srgbClr val="467886"/>
                </a:solidFill>
                <a:effectLst/>
                <a:uFill>
                  <a:solidFill>
                    <a:srgbClr val="467886"/>
                  </a:solidFill>
                </a:uFill>
                <a:latin typeface="Aptos"/>
                <a:ea typeface="Aptos"/>
                <a:cs typeface="Aptos"/>
                <a:hlinkClick r:id="rId3" history="0"/>
              </a:rPr>
              <a:t>https://learn.microsoft.com/training/paths/deploy-manage-apps-azure-container-apps/</a:t>
            </a:r>
            <a:endParaRPr dirty="0"/>
          </a:p>
          <a:p>
            <a:pPr>
              <a:defRPr/>
            </a:pPr>
            <a:endParaRPr lang="en-US" dirty="0"/>
          </a:p>
        </p:txBody>
      </p:sp>
      <p:sp>
        <p:nvSpPr>
          <p:cNvPr id="1156474388" name="Slide Number Placeholder 3"/>
          <p:cNvSpPr>
            <a:spLocks noGrp="1"/>
          </p:cNvSpPr>
          <p:nvPr>
            <p:ph type="sldNum" sz="quarter" idx="5"/>
          </p:nvPr>
        </p:nvSpPr>
        <p:spPr bwMode="auto"/>
        <p:txBody>
          <a:bodyPr/>
          <a:lstStyle/>
          <a:p>
            <a:pPr>
              <a:defRPr/>
            </a:pPr>
            <a:fld id="{10B4D7BB-47DA-46D4-B152-A08B9EBCF1F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669478" name="Slide Image Placeholder 1"/>
          <p:cNvSpPr>
            <a:spLocks noGrp="1" noRot="1" noChangeAspect="1"/>
          </p:cNvSpPr>
          <p:nvPr>
            <p:ph type="sldImg"/>
          </p:nvPr>
        </p:nvSpPr>
        <p:spPr bwMode="auto"/>
      </p:sp>
      <p:sp>
        <p:nvSpPr>
          <p:cNvPr id="95071085" name="Notes Placeholder 2"/>
          <p:cNvSpPr>
            <a:spLocks noGrp="1"/>
          </p:cNvSpPr>
          <p:nvPr>
            <p:ph type="body" idx="1"/>
          </p:nvPr>
        </p:nvSpPr>
        <p:spPr bwMode="auto"/>
        <p:txBody>
          <a:bodyPr/>
          <a:lstStyle/>
          <a:p>
            <a:pPr>
              <a:defRPr/>
            </a:pPr>
            <a:endParaRPr/>
          </a:p>
        </p:txBody>
      </p:sp>
      <p:sp>
        <p:nvSpPr>
          <p:cNvPr id="1881818378" name="Slide Number Placeholder 3"/>
          <p:cNvSpPr>
            <a:spLocks noGrp="1"/>
          </p:cNvSpPr>
          <p:nvPr>
            <p:ph type="sldNum" sz="quarter" idx="10"/>
          </p:nvPr>
        </p:nvSpPr>
        <p:spPr bwMode="auto"/>
        <p:txBody>
          <a:bodyPr/>
          <a:lstStyle/>
          <a:p>
            <a:pPr>
              <a:defRPr/>
            </a:pPr>
            <a:fld id="{61920445-B59E-9DB3-5289-71AB67717F2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662144" name="Slide Image Placeholder 1"/>
          <p:cNvSpPr>
            <a:spLocks noGrp="1" noRot="1" noChangeAspect="1"/>
          </p:cNvSpPr>
          <p:nvPr>
            <p:ph type="sldImg"/>
          </p:nvPr>
        </p:nvSpPr>
        <p:spPr bwMode="auto"/>
      </p:sp>
      <p:sp>
        <p:nvSpPr>
          <p:cNvPr id="1232874417" name="Notes Placeholder 2"/>
          <p:cNvSpPr>
            <a:spLocks noGrp="1"/>
          </p:cNvSpPr>
          <p:nvPr>
            <p:ph type="body" idx="1"/>
          </p:nvPr>
        </p:nvSpPr>
        <p:spPr bwMode="auto"/>
        <p:txBody>
          <a:bodyPr/>
          <a:lstStyle/>
          <a:p>
            <a:pPr lvl="0">
              <a:defRPr/>
            </a:pPr>
            <a:r>
              <a:rPr lang="es-ES" sz="1200" b="0" i="0" strike="noStrike" cap="none" baseline="0">
                <a:solidFill>
                  <a:srgbClr val="000000"/>
                </a:solidFill>
                <a:effectLst/>
                <a:latin typeface="Aptos"/>
                <a:ea typeface="Aptos"/>
                <a:cs typeface="Aptos"/>
              </a:rPr>
              <a:t>En este módulo, se describe la implementación de aplicaciones contenedorizadas en Azure Container Apps, incluyendo entornos, flujos de trabajo de CLI y YAML, configuración en tiempo de ejecución, autenticación del registro y comprobación de la implementación.</a:t>
            </a:r>
            <a:endParaRPr sz="1200"/>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https://learn.microsoft.com/training/modules/deploy-containers-azure-container-apps/</a:t>
            </a:r>
            <a:endParaRPr/>
          </a:p>
        </p:txBody>
      </p:sp>
      <p:sp>
        <p:nvSpPr>
          <p:cNvPr id="1627229688" name="Slide Number Placeholder 3"/>
          <p:cNvSpPr>
            <a:spLocks noGrp="1"/>
          </p:cNvSpPr>
          <p:nvPr>
            <p:ph type="sldNum" sz="quarter" idx="5"/>
          </p:nvPr>
        </p:nvSpPr>
        <p:spPr bwMode="auto"/>
        <p:txBody>
          <a:bodyPr/>
          <a:lstStyle/>
          <a:p>
            <a:pPr>
              <a:defRPr/>
            </a:pPr>
            <a:fld id="{10B4D7BB-47DA-46D4-B152-A08B9EBCF1F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757040" name="Slide Image Placeholder 1"/>
          <p:cNvSpPr>
            <a:spLocks noGrp="1" noRot="1" noChangeAspect="1"/>
          </p:cNvSpPr>
          <p:nvPr>
            <p:ph type="sldImg"/>
          </p:nvPr>
        </p:nvSpPr>
        <p:spPr bwMode="auto"/>
      </p:sp>
      <p:sp>
        <p:nvSpPr>
          <p:cNvPr id="653044632"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Este módulo se centra en el ciclo de vida de la implementación desde la configuración del entorno hasta la comprobación.</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Los alumnos deben salir comprendiendo los puntos de decisión clave: cuándo usar marcas de YAML frente a CLI, cómo fluyen los secretos en contenedores y cómo diagnosticar errores de implementación rápidamente.</a:t>
            </a:r>
            <a:endParaRPr/>
          </a:p>
        </p:txBody>
      </p:sp>
      <p:sp>
        <p:nvSpPr>
          <p:cNvPr id="353667188" name="Slide Number Placeholder 3"/>
          <p:cNvSpPr>
            <a:spLocks noGrp="1"/>
          </p:cNvSpPr>
          <p:nvPr>
            <p:ph type="sldNum" sz="quarter" idx="10"/>
          </p:nvPr>
        </p:nvSpPr>
        <p:spPr bwMode="auto"/>
        <p:txBody>
          <a:bodyPr/>
          <a:lstStyle/>
          <a:p>
            <a:pPr>
              <a:defRPr/>
            </a:pPr>
            <a:fld id="{8A5EA6C8-E85E-0208-FD7A-0202E7F6E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960118" name="Slide Image Placeholder 1"/>
          <p:cNvSpPr>
            <a:spLocks noGrp="1" noRot="1" noChangeAspect="1"/>
          </p:cNvSpPr>
          <p:nvPr>
            <p:ph type="sldImg"/>
          </p:nvPr>
        </p:nvSpPr>
        <p:spPr bwMode="auto"/>
      </p:sp>
      <p:sp>
        <p:nvSpPr>
          <p:cNvPr id="1790899556"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Container Apps es una plataforma sin servidor totalmente administrada para ejecutar cargas de trabajo contenedorizadas sin necesidad de administrar la infraestructura.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implementaciones basadas en revisiones crean una instantánea con versiones para cada cambio de configuración, lo que permite lanzamientos seguros y reversión.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cargas de trabajo de IA, Container Apps proporciona escalabilidad horizontal rápida para el tráfico de inferencia de ráfagas y la integración de la observabilidad.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alumnos que han usado Kubernetes observarán conceptos conocidos, como variables de entorno, secretos y registros de contenedor, pero sin la sobrecarga de la administración de clústeres.</a:t>
            </a:r>
            <a:endParaRPr sz="1200"/>
          </a:p>
          <a:p>
            <a:pPr>
              <a:defRPr/>
            </a:pPr>
            <a:endParaRPr/>
          </a:p>
        </p:txBody>
      </p:sp>
      <p:sp>
        <p:nvSpPr>
          <p:cNvPr id="1681323041" name="Slide Number Placeholder 3"/>
          <p:cNvSpPr>
            <a:spLocks noGrp="1"/>
          </p:cNvSpPr>
          <p:nvPr>
            <p:ph type="sldNum" sz="quarter" idx="10"/>
          </p:nvPr>
        </p:nvSpPr>
        <p:spPr bwMode="auto"/>
        <p:txBody>
          <a:bodyPr/>
          <a:lstStyle/>
          <a:p>
            <a:pPr>
              <a:defRPr/>
            </a:pPr>
            <a:fld id="{607A661D-EA09-E7FA-1343-587F38B87ADE}"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1955524" name="Slide Image Placeholder 1"/>
          <p:cNvSpPr>
            <a:spLocks noGrp="1" noRot="1" noChangeAspect="1"/>
          </p:cNvSpPr>
          <p:nvPr>
            <p:ph type="sldImg"/>
          </p:nvPr>
        </p:nvSpPr>
        <p:spPr bwMode="auto"/>
      </p:sp>
      <p:sp>
        <p:nvSpPr>
          <p:cNvPr id="214026047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Un entorno es el primer recurso que creas o al que haces referencia al implementar aplicaciones contenedoras.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servicios relacionados, como una API de IA y su trabajador en segundo plano, pertenecen al mismo entorno para que compartan redes y registros.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entrada interna mantiene los servicios accesibles solo dentro del entorno. La entrada externa los expone públicamente.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creación del entorno de forma explícita con </a:t>
            </a:r>
            <a:r>
              <a:rPr lang="es-ES" sz="1200" b="0" i="0" strike="noStrike" cap="none" baseline="0">
                <a:solidFill>
                  <a:srgbClr val="000000"/>
                </a:solidFill>
                <a:effectLst/>
                <a:latin typeface="Consolas"/>
                <a:ea typeface="Consolas"/>
                <a:cs typeface="Consolas"/>
              </a:rPr>
              <a:t>az containerapp env create</a:t>
            </a:r>
            <a:r>
              <a:rPr lang="es-ES" sz="1200" b="0" i="0" strike="noStrike" cap="none" baseline="0">
                <a:solidFill>
                  <a:srgbClr val="000000"/>
                </a:solidFill>
                <a:effectLst/>
                <a:latin typeface="Aptos"/>
                <a:ea typeface="Aptos"/>
                <a:cs typeface="Aptos"/>
              </a:rPr>
              <a:t> te proporciona control sobre la nomenclatura y el ciclo de vida.</a:t>
            </a:r>
            <a:endParaRPr sz="1200"/>
          </a:p>
          <a:p>
            <a:pPr marL="0" lvl="0" indent="0">
              <a:buNone/>
              <a:defRPr/>
            </a:pPr>
            <a:endParaRPr sz="1200"/>
          </a:p>
          <a:p>
            <a:pPr marL="0" marR="0" lvl="0" indent="0" algn="l">
              <a:lnSpc>
                <a:spcPct val="100000"/>
              </a:lnSpc>
              <a:spcBef>
                <a:spcPct val="0"/>
              </a:spcBef>
              <a:spcAft>
                <a:spcPct val="0"/>
              </a:spcAft>
              <a:buNone/>
              <a:defRPr/>
            </a:pPr>
            <a:r>
              <a:rPr lang="es-ES" sz="1200" b="0" i="0" strike="noStrike" cap="none" baseline="0">
                <a:solidFill>
                  <a:srgbClr val="000000"/>
                </a:solidFill>
                <a:effectLst/>
                <a:latin typeface="Aptos"/>
                <a:ea typeface="Aptos"/>
                <a:cs typeface="Aptos"/>
              </a:rPr>
              <a:t>Usa </a:t>
            </a:r>
            <a:r>
              <a:rPr lang="es-ES" sz="1200" b="0" i="0" strike="noStrike" cap="none" baseline="0">
                <a:solidFill>
                  <a:srgbClr val="000000"/>
                </a:solidFill>
                <a:effectLst/>
                <a:latin typeface="Consolas"/>
                <a:ea typeface="Consolas"/>
                <a:cs typeface="Consolas"/>
              </a:rPr>
              <a:t>az containerapp env show</a:t>
            </a:r>
            <a:r>
              <a:rPr lang="es-ES" sz="1200" b="0" i="0" strike="noStrike" cap="none" baseline="0">
                <a:solidFill>
                  <a:srgbClr val="000000"/>
                </a:solidFill>
                <a:effectLst/>
                <a:latin typeface="Aptos"/>
                <a:ea typeface="Aptos"/>
                <a:cs typeface="Aptos"/>
              </a:rPr>
              <a:t> para inspeccionar la configuración del entorno y confirmar la región y la configuración.</a:t>
            </a:r>
            <a:endParaRPr sz="1200"/>
          </a:p>
          <a:p>
            <a:pPr marL="0" lvl="0" indent="0">
              <a:buNone/>
              <a:defRPr/>
            </a:pPr>
            <a:endParaRPr sz="1200"/>
          </a:p>
          <a:p>
            <a:pPr>
              <a:defRPr/>
            </a:pPr>
            <a:endParaRPr/>
          </a:p>
        </p:txBody>
      </p:sp>
      <p:sp>
        <p:nvSpPr>
          <p:cNvPr id="916031337" name="Slide Number Placeholder 3"/>
          <p:cNvSpPr>
            <a:spLocks noGrp="1"/>
          </p:cNvSpPr>
          <p:nvPr>
            <p:ph type="sldNum" sz="quarter" idx="10"/>
          </p:nvPr>
        </p:nvSpPr>
        <p:spPr bwMode="auto"/>
        <p:txBody>
          <a:bodyPr/>
          <a:lstStyle/>
          <a:p>
            <a:pPr>
              <a:defRPr/>
            </a:pPr>
            <a:fld id="{4528E26C-F9C7-A99A-F8D9-A2B511D66EC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0291553" name="Slide Image Placeholder 1"/>
          <p:cNvSpPr>
            <a:spLocks noGrp="1" noRot="1" noChangeAspect="1"/>
          </p:cNvSpPr>
          <p:nvPr>
            <p:ph type="sldImg"/>
          </p:nvPr>
        </p:nvSpPr>
        <p:spPr bwMode="auto"/>
      </p:sp>
      <p:sp>
        <p:nvSpPr>
          <p:cNvPr id="98217949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Empieza con </a:t>
            </a:r>
            <a:r>
              <a:rPr lang="es-ES" sz="1200" b="0" i="0" strike="noStrike" cap="none" baseline="0">
                <a:solidFill>
                  <a:srgbClr val="000000"/>
                </a:solidFill>
                <a:effectLst/>
                <a:latin typeface="Consolas"/>
                <a:ea typeface="Consolas"/>
                <a:cs typeface="Consolas"/>
              </a:rPr>
              <a:t>containerapp up</a:t>
            </a:r>
            <a:r>
              <a:rPr lang="es-ES" sz="1200" b="0" i="0" strike="noStrike" cap="none" baseline="0">
                <a:solidFill>
                  <a:srgbClr val="000000"/>
                </a:solidFill>
                <a:effectLst/>
                <a:latin typeface="Aptos"/>
                <a:ea typeface="Aptos"/>
                <a:cs typeface="Aptos"/>
              </a:rPr>
              <a:t> para la creación de prototipos. Pasa a </a:t>
            </a:r>
            <a:r>
              <a:rPr lang="es-ES" sz="1200" b="0" i="0" strike="noStrike" cap="none" baseline="0">
                <a:solidFill>
                  <a:srgbClr val="000000"/>
                </a:solidFill>
                <a:effectLst/>
                <a:latin typeface="Consolas"/>
                <a:ea typeface="Consolas"/>
                <a:cs typeface="Consolas"/>
              </a:rPr>
              <a:t>create</a:t>
            </a:r>
            <a:r>
              <a:rPr lang="es-ES" sz="1200" b="0" i="0" strike="noStrike" cap="none" baseline="0">
                <a:solidFill>
                  <a:srgbClr val="000000"/>
                </a:solidFill>
                <a:effectLst/>
                <a:latin typeface="Aptos"/>
                <a:ea typeface="Aptos"/>
                <a:cs typeface="Aptos"/>
              </a:rPr>
              <a:t> cuando necesites el entorno como destino explícito. Usa YAML cuando se deba revisar la configuración como código.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Al usar –yaml, se omiten otras marcas de CLI. El archivo YAML se convierte en la fuente única de la verdad.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revisiones son fundamentales para el modelo de implementación. Cada cambio de configuración crea una nueva revisión. Esto permite lanzamientos seguros en los que validas antes de cambiar el tráfico.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Registra proveedores antes de la primera implementación: Microsoft.App y Microsoft.OperationalInsights.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referencias de imagen deben estar escritas en minúscula para evitar errores de extracción que parezcan errores de autenticación.</a:t>
            </a:r>
            <a:endParaRPr sz="1200"/>
          </a:p>
          <a:p>
            <a:pPr>
              <a:defRPr/>
            </a:pPr>
            <a:endParaRPr/>
          </a:p>
        </p:txBody>
      </p:sp>
      <p:sp>
        <p:nvSpPr>
          <p:cNvPr id="609336393" name="Slide Number Placeholder 3"/>
          <p:cNvSpPr>
            <a:spLocks noGrp="1"/>
          </p:cNvSpPr>
          <p:nvPr>
            <p:ph type="sldNum" sz="quarter" idx="10"/>
          </p:nvPr>
        </p:nvSpPr>
        <p:spPr bwMode="auto"/>
        <p:txBody>
          <a:bodyPr/>
          <a:lstStyle/>
          <a:p>
            <a:pPr>
              <a:defRPr/>
            </a:pPr>
            <a:fld id="{81C9CAB2-F6D1-5DF8-53D6-33F8B28B7A84}"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973984" name="Slide Image Placeholder 1"/>
          <p:cNvSpPr>
            <a:spLocks noGrp="1" noRot="1" noChangeAspect="1"/>
          </p:cNvSpPr>
          <p:nvPr>
            <p:ph type="sldImg"/>
          </p:nvPr>
        </p:nvSpPr>
        <p:spPr bwMode="auto"/>
      </p:sp>
      <p:sp>
        <p:nvSpPr>
          <p:cNvPr id="46777686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Las variables de entorno mantienen imágenes portátiles entre entornos. Misma imagen, diferente configuración.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secretos se mantienen fuera del control de código fuente y de las imágenes contenedoras. Usa secretref para asignar un secreto a una variable de entorno.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Ejemplos de CLI para referencia: </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Establecer env vars: </a:t>
            </a:r>
            <a:r>
              <a:rPr lang="es-ES" sz="1200" b="0" i="0" strike="noStrike" cap="none" baseline="0">
                <a:solidFill>
                  <a:srgbClr val="000000"/>
                </a:solidFill>
                <a:effectLst/>
                <a:latin typeface="Consolas"/>
                <a:ea typeface="Consolas"/>
                <a:cs typeface="Consolas"/>
              </a:rPr>
              <a:t>az containerapp create --env-vars LOG_LEVEL=info</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Crear secretos: </a:t>
            </a:r>
            <a:r>
              <a:rPr lang="es-ES" sz="1200" b="0" i="0" strike="noStrike" cap="none" baseline="0">
                <a:solidFill>
                  <a:srgbClr val="000000"/>
                </a:solidFill>
                <a:effectLst/>
                <a:latin typeface="Consolas"/>
                <a:ea typeface="Consolas"/>
                <a:cs typeface="Consolas"/>
              </a:rPr>
              <a:t>az containerapp secret set --secrets api-key="VALUE"</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Hacer referencia a secretos de env vars: </a:t>
            </a:r>
            <a:r>
              <a:rPr lang="es-ES" sz="1200" b="0" i="0" strike="noStrike" cap="none" baseline="0">
                <a:solidFill>
                  <a:srgbClr val="000000"/>
                </a:solidFill>
                <a:effectLst/>
                <a:latin typeface="Consolas"/>
                <a:ea typeface="Consolas"/>
                <a:cs typeface="Consolas"/>
              </a:rPr>
              <a:t>az containerapp update --set-env-vars API_KEY=secretref:api-key</a:t>
            </a:r>
            <a:endParaRPr sz="1200"/>
          </a:p>
          <a:p>
            <a:pPr marL="217793" lvl="0" indent="-217793">
              <a:buFont typeface="Arial"/>
              <a:buChar char="•"/>
              <a:defRPr/>
            </a:pPr>
            <a:endParaRPr sz="1200">
              <a:latin typeface="Courier"/>
            </a:endParaRPr>
          </a:p>
          <a:p>
            <a:pPr marL="0" lvl="0" indent="0">
              <a:buNone/>
              <a:defRPr/>
            </a:pPr>
            <a:r>
              <a:rPr lang="es-ES" sz="1200" b="0" i="0" strike="noStrike" cap="none" baseline="0">
                <a:solidFill>
                  <a:srgbClr val="000000"/>
                </a:solidFill>
                <a:effectLst/>
                <a:latin typeface="Aptos"/>
                <a:ea typeface="Aptos"/>
                <a:cs typeface="Aptos"/>
              </a:rPr>
              <a:t>Las definiciones de YAML pueden incluir referencias de secretos, pero nunca deben incluir valores de secretos. Almacena únicamente nombres de secretos en el control de código fuente.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referencias de Key Vault también se admiten para secretos, lo que convierte a Key Vault en el sistema de registro con captura automática en tiempo de ejecución.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Usa </a:t>
            </a:r>
            <a:r>
              <a:rPr lang="es-ES" sz="1200" b="0" i="0" strike="noStrike" cap="none" baseline="0">
                <a:solidFill>
                  <a:srgbClr val="000000"/>
                </a:solidFill>
                <a:effectLst/>
                <a:latin typeface="Consolas"/>
                <a:ea typeface="Consolas"/>
                <a:cs typeface="Consolas"/>
              </a:rPr>
              <a:t>–set-env-vars</a:t>
            </a:r>
            <a:r>
              <a:rPr lang="es-ES" sz="1200" b="0" i="0" strike="noStrike" cap="none" baseline="0">
                <a:solidFill>
                  <a:srgbClr val="000000"/>
                </a:solidFill>
                <a:effectLst/>
                <a:latin typeface="Aptos"/>
                <a:ea typeface="Aptos"/>
                <a:cs typeface="Aptos"/>
              </a:rPr>
              <a:t> para actualizaciones incrementales sin eliminar variables existentes.</a:t>
            </a:r>
            <a:endParaRPr sz="1200"/>
          </a:p>
          <a:p>
            <a:pPr>
              <a:defRPr/>
            </a:pPr>
            <a:endParaRPr/>
          </a:p>
        </p:txBody>
      </p:sp>
      <p:sp>
        <p:nvSpPr>
          <p:cNvPr id="1924269120" name="Slide Number Placeholder 3"/>
          <p:cNvSpPr>
            <a:spLocks noGrp="1"/>
          </p:cNvSpPr>
          <p:nvPr>
            <p:ph type="sldNum" sz="quarter" idx="10"/>
          </p:nvPr>
        </p:nvSpPr>
        <p:spPr bwMode="auto"/>
        <p:txBody>
          <a:bodyPr/>
          <a:lstStyle/>
          <a:p>
            <a:pPr>
              <a:defRPr/>
            </a:pPr>
            <a:fld id="{15725CAB-E4F3-6D0E-0C48-729327C3C83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769420" name="Slide Image Placeholder 1"/>
          <p:cNvSpPr>
            <a:spLocks noGrp="1" noRot="1" noChangeAspect="1"/>
          </p:cNvSpPr>
          <p:nvPr>
            <p:ph type="sldImg"/>
          </p:nvPr>
        </p:nvSpPr>
        <p:spPr bwMode="auto"/>
      </p:sp>
      <p:sp>
        <p:nvSpPr>
          <p:cNvPr id="80282161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nombre de usuario/contraseña funciona ampliamente, pero aumenta la sobrecarga de administración de secretos. La identidad administrada con identidad asignada por el sistema es el enfoque recomendado para ACR.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Ejemplos de CLI para referencia:</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Nombre de usuario/contraseña: </a:t>
            </a:r>
            <a:r>
              <a:rPr lang="es-ES" sz="1200" b="0" i="0" strike="noStrike" cap="none" baseline="0">
                <a:solidFill>
                  <a:srgbClr val="000000"/>
                </a:solidFill>
                <a:effectLst/>
                <a:latin typeface="Consolas"/>
                <a:ea typeface="Consolas"/>
                <a:cs typeface="Consolas"/>
              </a:rPr>
              <a:t>az containerapp registry set --server myacr.azurecr.io --username MyUser --password MyPass</a:t>
            </a:r>
            <a:endParaRPr sz="1200" b="0" i="0" u="none" strike="noStrike" cap="none" spc="0">
              <a:solidFill>
                <a:schemeClr val="tx1"/>
              </a:solidFill>
              <a:latin typeface="Consolas"/>
              <a:cs typeface="Consolas"/>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Identidad administrada: </a:t>
            </a:r>
            <a:r>
              <a:rPr lang="es-ES" sz="1200" b="0" i="0" strike="noStrike" cap="none" baseline="0">
                <a:solidFill>
                  <a:srgbClr val="000000"/>
                </a:solidFill>
                <a:effectLst/>
                <a:latin typeface="Consolas"/>
                <a:ea typeface="Consolas"/>
                <a:cs typeface="Consolas"/>
              </a:rPr>
              <a:t>az containerapp registry set --server myacr.azurecr.io --identity system</a:t>
            </a:r>
            <a:endParaRPr sz="1200"/>
          </a:p>
          <a:p>
            <a:pPr marL="0" lvl="0" indent="0">
              <a:buNone/>
              <a:defRPr/>
            </a:pPr>
            <a:endParaRPr sz="1200">
              <a:latin typeface="Courier"/>
            </a:endParaRPr>
          </a:p>
          <a:p>
            <a:pPr marL="0" lvl="0" indent="0">
              <a:buNone/>
              <a:defRPr/>
            </a:pPr>
            <a:r>
              <a:rPr lang="es-ES" sz="1200" b="0" i="0" strike="noStrike" cap="none" baseline="0">
                <a:solidFill>
                  <a:srgbClr val="000000"/>
                </a:solidFill>
                <a:effectLst/>
                <a:latin typeface="Aptos"/>
                <a:ea typeface="Aptos"/>
                <a:cs typeface="Aptos"/>
              </a:rPr>
              <a:t>Asigna solo AcrPull. El privilegio mínimo reduce el radio de explosión si la identidad está en peligro.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Usa </a:t>
            </a:r>
            <a:r>
              <a:rPr lang="es-ES" sz="1200" b="0" i="0" strike="noStrike" cap="none" baseline="0">
                <a:solidFill>
                  <a:srgbClr val="000000"/>
                </a:solidFill>
                <a:effectLst/>
                <a:latin typeface="Consolas"/>
                <a:ea typeface="Consolas"/>
                <a:cs typeface="Consolas"/>
              </a:rPr>
              <a:t>az containerapp registry list</a:t>
            </a:r>
            <a:r>
              <a:rPr lang="es-ES" sz="1200" b="0" i="0" strike="noStrike" cap="none" baseline="0">
                <a:solidFill>
                  <a:srgbClr val="000000"/>
                </a:solidFill>
                <a:effectLst/>
                <a:latin typeface="Aptos"/>
                <a:ea typeface="Aptos"/>
                <a:cs typeface="Aptos"/>
              </a:rPr>
              <a:t> y </a:t>
            </a:r>
            <a:r>
              <a:rPr lang="es-ES" sz="1200" b="0" i="0" strike="noStrike" cap="none" baseline="0">
                <a:solidFill>
                  <a:srgbClr val="000000"/>
                </a:solidFill>
                <a:effectLst/>
                <a:latin typeface="Consolas"/>
                <a:ea typeface="Consolas"/>
                <a:cs typeface="Consolas"/>
              </a:rPr>
              <a:t>registry show</a:t>
            </a:r>
            <a:r>
              <a:rPr lang="es-ES" sz="1200" b="0" i="0" strike="noStrike" cap="none" baseline="0">
                <a:solidFill>
                  <a:srgbClr val="000000"/>
                </a:solidFill>
                <a:effectLst/>
                <a:latin typeface="Aptos"/>
                <a:ea typeface="Aptos"/>
                <a:cs typeface="Aptos"/>
              </a:rPr>
              <a:t> para comprobar la configuración del registro al depurar errores de extracción de imágenes.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Valida siempre la autenticación mediante la implementación de una nueva revisión después de que cambie el registro.</a:t>
            </a:r>
            <a:endParaRPr sz="1200"/>
          </a:p>
          <a:p>
            <a:pPr>
              <a:defRPr/>
            </a:pPr>
            <a:endParaRPr/>
          </a:p>
        </p:txBody>
      </p:sp>
      <p:sp>
        <p:nvSpPr>
          <p:cNvPr id="557960183" name="Slide Number Placeholder 3"/>
          <p:cNvSpPr>
            <a:spLocks noGrp="1"/>
          </p:cNvSpPr>
          <p:nvPr>
            <p:ph type="sldNum" sz="quarter" idx="10"/>
          </p:nvPr>
        </p:nvSpPr>
        <p:spPr bwMode="auto"/>
        <p:txBody>
          <a:bodyPr/>
          <a:lstStyle/>
          <a:p>
            <a:pPr>
              <a:defRPr/>
            </a:pPr>
            <a:fld id="{AFD3D470-B456-7C01-680E-788832F774F2}"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2825353" name="Slide Image Placeholder 1"/>
          <p:cNvSpPr>
            <a:spLocks noGrp="1" noRot="1" noChangeAspect="1"/>
          </p:cNvSpPr>
          <p:nvPr>
            <p:ph type="sldImg"/>
          </p:nvPr>
        </p:nvSpPr>
        <p:spPr bwMode="auto"/>
      </p:sp>
      <p:sp>
        <p:nvSpPr>
          <p:cNvPr id="85305696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Empieza con registros. Se muestran errores de inicio, env vars que faltan y errores de conexión en primer lugar.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Ejemplos de CLI para referencia:</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Ver registros: </a:t>
            </a:r>
            <a:r>
              <a:rPr lang="es-ES" sz="1200" b="0" i="0" strike="noStrike" cap="none" baseline="0">
                <a:solidFill>
                  <a:srgbClr val="000000"/>
                </a:solidFill>
                <a:effectLst/>
                <a:latin typeface="Consolas"/>
                <a:ea typeface="Consolas"/>
                <a:cs typeface="Consolas"/>
              </a:rPr>
              <a:t>az containerapp logs show -n ai-api -g rg-demo</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Registros de transmisión: agregar </a:t>
            </a:r>
            <a:r>
              <a:rPr lang="es-ES" sz="1200" b="0" i="0" strike="noStrike" cap="none" baseline="0">
                <a:solidFill>
                  <a:srgbClr val="000000"/>
                </a:solidFill>
                <a:effectLst/>
                <a:latin typeface="Consolas"/>
                <a:ea typeface="Consolas"/>
                <a:cs typeface="Consolas"/>
              </a:rPr>
              <a:t>--follow --tail 30</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Registros del sistema: agregar </a:t>
            </a:r>
            <a:r>
              <a:rPr lang="es-ES" sz="1200" b="0" i="0" strike="noStrike" cap="none" baseline="0">
                <a:solidFill>
                  <a:srgbClr val="000000"/>
                </a:solidFill>
                <a:effectLst/>
                <a:latin typeface="Consolas"/>
                <a:ea typeface="Consolas"/>
                <a:cs typeface="Consolas"/>
              </a:rPr>
              <a:t>--type system</a:t>
            </a:r>
            <a:r>
              <a:rPr lang="es-ES" sz="1200" b="0" i="0" strike="noStrike" cap="none" baseline="0">
                <a:solidFill>
                  <a:srgbClr val="000000"/>
                </a:solidFill>
                <a:effectLst/>
                <a:latin typeface="Aptos"/>
                <a:ea typeface="Aptos"/>
                <a:cs typeface="Aptos"/>
              </a:rPr>
              <a:t> </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Enumerar revisiones: </a:t>
            </a:r>
            <a:r>
              <a:rPr lang="es-ES" sz="1200" b="0" i="0" strike="noStrike" cap="none" baseline="0">
                <a:solidFill>
                  <a:srgbClr val="000000"/>
                </a:solidFill>
                <a:effectLst/>
                <a:latin typeface="Consolas"/>
                <a:ea typeface="Consolas"/>
                <a:cs typeface="Consolas"/>
              </a:rPr>
              <a:t>az containerapp revision list</a:t>
            </a:r>
            <a:r>
              <a:rPr lang="es-ES" sz="1200" b="0" i="0" strike="noStrike" cap="none" baseline="0">
                <a:solidFill>
                  <a:srgbClr val="000000"/>
                </a:solidFill>
                <a:effectLst/>
                <a:latin typeface="Aptos"/>
                <a:ea typeface="Aptos"/>
                <a:cs typeface="Aptos"/>
              </a:rPr>
              <a:t> (agregar </a:t>
            </a:r>
            <a:r>
              <a:rPr lang="es-ES" sz="1200" b="0" i="0" strike="noStrike" cap="none" baseline="0">
                <a:solidFill>
                  <a:srgbClr val="000000"/>
                </a:solidFill>
                <a:effectLst/>
                <a:latin typeface="Consolas"/>
                <a:ea typeface="Consolas"/>
                <a:cs typeface="Consolas"/>
              </a:rPr>
              <a:t>--all</a:t>
            </a:r>
            <a:r>
              <a:rPr lang="es-ES" sz="1200" b="0" i="0" strike="noStrike" cap="none" baseline="0">
                <a:solidFill>
                  <a:srgbClr val="000000"/>
                </a:solidFill>
                <a:effectLst/>
                <a:latin typeface="Aptos"/>
                <a:ea typeface="Aptos"/>
                <a:cs typeface="Aptos"/>
              </a:rPr>
              <a:t> para revisiones inactivas)</a:t>
            </a:r>
            <a:endParaRPr lang="en-US" sz="1200" b="0" i="0" u="none" strike="noStrike" cap="none" spc="0">
              <a:solidFill>
                <a:schemeClr val="tx1"/>
              </a:solidFill>
              <a:latin typeface="Times New Roman"/>
              <a:cs typeface="Times New Roman"/>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Enumerar réplicas: </a:t>
            </a:r>
            <a:r>
              <a:rPr lang="es-ES" sz="1200" b="0" i="0" strike="noStrike" cap="none" baseline="0">
                <a:solidFill>
                  <a:srgbClr val="000000"/>
                </a:solidFill>
                <a:effectLst/>
                <a:latin typeface="Consolas"/>
                <a:ea typeface="Consolas"/>
                <a:cs typeface="Consolas"/>
              </a:rPr>
              <a:t>az containerapp replica list</a:t>
            </a:r>
            <a:endParaRPr sz="1200"/>
          </a:p>
          <a:p>
            <a:pPr marL="0" lvl="0" indent="0">
              <a:buNone/>
              <a:defRPr/>
            </a:pPr>
            <a:endParaRPr sz="1200">
              <a:latin typeface="Courier"/>
            </a:endParaRPr>
          </a:p>
          <a:p>
            <a:pPr marL="0" lvl="0" indent="0">
              <a:buNone/>
              <a:defRPr/>
            </a:pPr>
            <a:r>
              <a:rPr lang="es-ES" sz="1200" b="0" i="0" strike="noStrike" cap="none" baseline="0">
                <a:solidFill>
                  <a:srgbClr val="000000"/>
                </a:solidFill>
                <a:effectLst/>
                <a:latin typeface="Aptos"/>
                <a:ea typeface="Aptos"/>
                <a:cs typeface="Aptos"/>
              </a:rPr>
              <a:t>Los registros de la consola son salidas de la consola desde tu aplicación. Los registros del sistema son de nivel de plataforma. Usa –type system para problemas relacionados con la plataforma.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revisiones muestran qué versión está activa. Después de una actualización, enumera las revisiones para confirmar que la nueva revisión se está ejecutando y está en buen estado.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réplicas muestran instancias en ejecución de una revisión. Resultan útiles para detectar problemas de escalado a cero, bucles de bloqueo o arranques en frío.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Usa –query para extraer campos específicos, como FQDN o estado de revisión, para salidas que admiten automatización.</a:t>
            </a:r>
            <a:endParaRPr sz="1200"/>
          </a:p>
          <a:p>
            <a:pPr>
              <a:defRPr/>
            </a:pPr>
            <a:endParaRPr/>
          </a:p>
        </p:txBody>
      </p:sp>
      <p:sp>
        <p:nvSpPr>
          <p:cNvPr id="1293521136" name="Slide Number Placeholder 3"/>
          <p:cNvSpPr>
            <a:spLocks noGrp="1"/>
          </p:cNvSpPr>
          <p:nvPr>
            <p:ph type="sldNum" sz="quarter" idx="10"/>
          </p:nvPr>
        </p:nvSpPr>
        <p:spPr bwMode="auto"/>
        <p:txBody>
          <a:bodyPr/>
          <a:lstStyle/>
          <a:p>
            <a:pPr>
              <a:defRPr/>
            </a:pPr>
            <a:fld id="{FA5175C0-E7B4-78E6-B58C-02BCABFE3134}"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788015" name="Slide Image Placeholder 1"/>
          <p:cNvSpPr>
            <a:spLocks noGrp="1" noRot="1" noChangeAspect="1"/>
          </p:cNvSpPr>
          <p:nvPr>
            <p:ph type="sldImg"/>
          </p:nvPr>
        </p:nvSpPr>
        <p:spPr bwMode="auto"/>
      </p:sp>
      <p:sp>
        <p:nvSpPr>
          <p:cNvPr id="1403447164" name="Notes Placeholder 2"/>
          <p:cNvSpPr>
            <a:spLocks noGrp="1"/>
          </p:cNvSpPr>
          <p:nvPr>
            <p:ph type="body" idx="1"/>
          </p:nvPr>
        </p:nvSpPr>
        <p:spPr bwMode="auto"/>
        <p:txBody>
          <a:bodyPr/>
          <a:lstStyle/>
          <a:p>
            <a:pPr>
              <a:lnSpc>
                <a:spcPct val="90000"/>
              </a:lnSpc>
              <a:spcAft>
                <a:spcPts val="333"/>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3"/>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2002565105" name="Header Placeholder 3"/>
          <p:cNvSpPr>
            <a:spLocks noGrp="1"/>
          </p:cNvSpPr>
          <p:nvPr>
            <p:ph type="hdr" sz="quarter" idx="6"/>
          </p:nvPr>
        </p:nvSpPr>
        <p:spPr bwMode="auto"/>
        <p:txBody>
          <a:bodyPr/>
          <a:lstStyle/>
          <a:p>
            <a:pPr>
              <a:defRPr/>
            </a:pPr>
            <a:endParaRPr lang="en-US"/>
          </a:p>
        </p:txBody>
      </p:sp>
      <p:sp>
        <p:nvSpPr>
          <p:cNvPr id="393827246" name="Footer Placeholder 4"/>
          <p:cNvSpPr>
            <a:spLocks noGrp="1"/>
          </p:cNvSpPr>
          <p:nvPr>
            <p:ph type="ftr" sz="quarter" idx="4"/>
          </p:nvPr>
        </p:nvSpPr>
        <p:spPr bwMode="auto"/>
        <p:txBody>
          <a:bodyPr/>
          <a:lstStyle/>
          <a:p>
            <a:pPr defTabSz="914099">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699684202" name="Date Placeholder 5"/>
          <p:cNvSpPr>
            <a:spLocks noGrp="1"/>
          </p:cNvSpPr>
          <p:nvPr>
            <p:ph type="dt" idx="10"/>
          </p:nvPr>
        </p:nvSpPr>
        <p:spPr bwMode="auto"/>
        <p:txBody>
          <a:bodyPr/>
          <a:lstStyle/>
          <a:p>
            <a:pPr>
              <a:defRPr/>
            </a:pPr>
            <a:fld id="{47A51BF8-686D-4FC0-9A39-E85C36FAB20B}" type="datetime8">
              <a:rPr lang="en-US"/>
              <a:t>10/9/2026 2:33 PM</a:t>
            </a:fld>
            <a:endParaRPr lang="en-US"/>
          </a:p>
        </p:txBody>
      </p:sp>
      <p:sp>
        <p:nvSpPr>
          <p:cNvPr id="1516773305" name="Slide Number Placeholder 6"/>
          <p:cNvSpPr>
            <a:spLocks noGrp="1"/>
          </p:cNvSpPr>
          <p:nvPr>
            <p:ph type="sldNum" sz="quarter" idx="5"/>
          </p:nvPr>
        </p:nvSpPr>
        <p:spPr bwMode="auto"/>
        <p:txBody>
          <a:bodyPr/>
          <a:lstStyle/>
          <a:p>
            <a:pPr>
              <a:defRPr/>
            </a:pPr>
            <a:fld id="{B4008EB6-D09E-4580-8CD6-DDB14511944F}"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774132" name="Slide Image Placeholder 1"/>
          <p:cNvSpPr>
            <a:spLocks noGrp="1" noRot="1" noChangeAspect="1"/>
          </p:cNvSpPr>
          <p:nvPr>
            <p:ph type="sldImg"/>
          </p:nvPr>
        </p:nvSpPr>
        <p:spPr bwMode="auto"/>
      </p:sp>
      <p:sp>
        <p:nvSpPr>
          <p:cNvPr id="160279732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YAML con control de código fuente. Los archivos YAML se convierten en la fuente de información de la configuración, lo que permite la revisión del código y reduce el desfase entre entornos.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Pregunta 2: La respuesta correcta es </a:t>
            </a:r>
            <a:r>
              <a:rPr lang="es-ES" sz="1200" b="0" i="0" strike="noStrike" cap="none" baseline="0">
                <a:solidFill>
                  <a:srgbClr val="000000"/>
                </a:solidFill>
                <a:effectLst/>
                <a:latin typeface="Consolas"/>
                <a:ea typeface="Consolas"/>
                <a:cs typeface="Consolas"/>
              </a:rPr>
              <a:t>az containerapp logs show</a:t>
            </a:r>
            <a:r>
              <a:rPr lang="es-ES" sz="1200" b="0" i="0" strike="noStrike" cap="none" baseline="0">
                <a:solidFill>
                  <a:srgbClr val="000000"/>
                </a:solidFill>
                <a:effectLst/>
                <a:latin typeface="Aptos"/>
                <a:ea typeface="Aptos"/>
                <a:cs typeface="Aptos"/>
              </a:rPr>
              <a:t>. Los registros de contenedor proporcionan los detalles de error más rápidos y accionables cuando una aplicación no se puede iniciar. Los errores de inicio, las variables que faltan y los errores de conexión aparecen aquí primero.</a:t>
            </a:r>
            <a:endParaRPr sz="1200"/>
          </a:p>
          <a:p>
            <a:pPr>
              <a:defRPr/>
            </a:pPr>
            <a:endParaRPr/>
          </a:p>
        </p:txBody>
      </p:sp>
      <p:sp>
        <p:nvSpPr>
          <p:cNvPr id="467654829" name="Slide Number Placeholder 3"/>
          <p:cNvSpPr>
            <a:spLocks noGrp="1"/>
          </p:cNvSpPr>
          <p:nvPr>
            <p:ph type="sldNum" sz="quarter" idx="5"/>
          </p:nvPr>
        </p:nvSpPr>
        <p:spPr bwMode="auto"/>
        <p:txBody>
          <a:bodyPr/>
          <a:lstStyle/>
          <a:p>
            <a:pPr>
              <a:defRPr/>
            </a:pPr>
            <a:fld id="{10B4D7BB-47DA-46D4-B152-A08B9EBCF1F1}"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507724" name="Slide Image Placeholder 1"/>
          <p:cNvSpPr>
            <a:spLocks noGrp="1" noRot="1" noChangeAspect="1"/>
          </p:cNvSpPr>
          <p:nvPr>
            <p:ph type="sldImg"/>
          </p:nvPr>
        </p:nvSpPr>
        <p:spPr bwMode="auto"/>
      </p:sp>
      <p:sp>
        <p:nvSpPr>
          <p:cNvPr id="788860605"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592175548" name="Header Placeholder 3"/>
          <p:cNvSpPr>
            <a:spLocks noGrp="1"/>
          </p:cNvSpPr>
          <p:nvPr>
            <p:ph type="hdr" sz="quarter" idx="10"/>
          </p:nvPr>
        </p:nvSpPr>
        <p:spPr bwMode="auto"/>
        <p:txBody>
          <a:bodyPr/>
          <a:lstStyle/>
          <a:p>
            <a:pPr marL="0" marR="0" lvl="0" indent="0" algn="l" defTabSz="914367"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51896955" name="Footer Placeholder 4"/>
          <p:cNvSpPr>
            <a:spLocks noGrp="1"/>
          </p:cNvSpPr>
          <p:nvPr>
            <p:ph type="ftr" sz="quarter" idx="11"/>
          </p:nvPr>
        </p:nvSpPr>
        <p:spPr bwMode="auto"/>
        <p:txBody>
          <a:bodyPr/>
          <a:lstStyle/>
          <a:p>
            <a:pPr marL="571500" marR="0" lvl="0" indent="0" algn="l" defTabSz="914099"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842841368" name="Date Placeholder 5"/>
          <p:cNvSpPr>
            <a:spLocks noGrp="1"/>
          </p:cNvSpPr>
          <p:nvPr>
            <p:ph type="dt" idx="12"/>
          </p:nvPr>
        </p:nvSpPr>
        <p:spPr bwMode="auto"/>
        <p:txBody>
          <a:bodyPr/>
          <a:lstStyle/>
          <a:p>
            <a:pPr marL="0" marR="0" lvl="0" indent="0" algn="r" defTabSz="914367" rtl="0">
              <a:lnSpc>
                <a:spcPct val="100000"/>
              </a:lnSpc>
              <a:spcBef>
                <a:spcPct val="0"/>
              </a:spcBef>
              <a:spcAft>
                <a:spcPct val="0"/>
              </a:spcAft>
              <a:buClrTx/>
              <a:buSzTx/>
              <a:buFontTx/>
              <a:buNone/>
              <a:defRPr/>
            </a:pPr>
            <a:fld id="{9427A7F7-BB1E-479D-AFAA-B52F4D0C99F2}" type="datetime8">
              <a:rPr lang="en-US" sz="1200" b="0" i="0" u="none" strike="noStrike" cap="none" spc="0">
                <a:ln>
                  <a:noFill/>
                </a:ln>
                <a:solidFill>
                  <a:prstClr val="black"/>
                </a:solidFill>
                <a:latin typeface="Segoe UI"/>
                <a:ea typeface="+mn-ea"/>
                <a:cs typeface="+mn-cs"/>
              </a:rPr>
              <a:t>10/9/2026 2:33 PM</a:t>
            </a:fld>
            <a:endParaRPr lang="en-US" sz="1200" b="0" i="0" u="none" strike="noStrike" cap="none" spc="0">
              <a:ln>
                <a:noFill/>
              </a:ln>
              <a:solidFill>
                <a:prstClr val="black"/>
              </a:solidFill>
              <a:latin typeface="Segoe UI"/>
              <a:ea typeface="+mn-ea"/>
              <a:cs typeface="+mn-cs"/>
            </a:endParaRPr>
          </a:p>
        </p:txBody>
      </p:sp>
      <p:sp>
        <p:nvSpPr>
          <p:cNvPr id="89502173" name="Slide Number Placeholder 6"/>
          <p:cNvSpPr>
            <a:spLocks noGrp="1"/>
          </p:cNvSpPr>
          <p:nvPr>
            <p:ph type="sldNum" sz="quarter" idx="13"/>
          </p:nvPr>
        </p:nvSpPr>
        <p:spPr bwMode="auto"/>
        <p:txBody>
          <a:bodyPr/>
          <a:lstStyle/>
          <a:p>
            <a:pPr marL="0" marR="0" lvl="0" indent="0" algn="r" defTabSz="914367" rtl="0">
              <a:lnSpc>
                <a:spcPct val="100000"/>
              </a:lnSpc>
              <a:spcBef>
                <a:spcPct val="0"/>
              </a:spcBef>
              <a:spcAft>
                <a:spcPct val="0"/>
              </a:spcAft>
              <a:buClrTx/>
              <a:buSzTx/>
              <a:buFontTx/>
              <a:buNone/>
              <a:defRPr/>
            </a:pPr>
            <a:fld id="{B4008EB6-D09E-4580-8CD6-DDB14511944F}" type="slidenum">
              <a:rPr lang="en-US" sz="1200" b="0" i="0" u="none" strike="noStrike" cap="none" spc="0">
                <a:ln>
                  <a:noFill/>
                </a:ln>
                <a:solidFill>
                  <a:prstClr val="black"/>
                </a:solidFill>
                <a:latin typeface="Segoe UI"/>
                <a:ea typeface="+mn-ea"/>
                <a:cs typeface="+mn-cs"/>
              </a:rPr>
              <a:t>13</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5274503" name="Slide Image Placeholder 1"/>
          <p:cNvSpPr>
            <a:spLocks noGrp="1" noRot="1" noChangeAspect="1"/>
          </p:cNvSpPr>
          <p:nvPr>
            <p:ph type="sldImg"/>
          </p:nvPr>
        </p:nvSpPr>
        <p:spPr bwMode="auto"/>
      </p:sp>
      <p:sp>
        <p:nvSpPr>
          <p:cNvPr id="206272328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Puntos de decisión clave: elige YAML para implementaciones de producción, usa secretref para mantener valores confidenciales fuera del control de código fuente y opta por la identidad administrada para la autenticación del registro.</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Recuerda a los alumnos que las implementaciones basadas en revisiones permiten la validación antes de cambiar el tráfico, lo que es fundamental para los servicios de IA.</a:t>
            </a:r>
            <a:endParaRPr/>
          </a:p>
          <a:p>
            <a:pPr>
              <a:defRPr/>
            </a:pPr>
            <a:endParaRPr/>
          </a:p>
        </p:txBody>
      </p:sp>
      <p:sp>
        <p:nvSpPr>
          <p:cNvPr id="953198720" name="Slide Number Placeholder 3"/>
          <p:cNvSpPr>
            <a:spLocks noGrp="1"/>
          </p:cNvSpPr>
          <p:nvPr>
            <p:ph type="sldNum" sz="quarter" idx="10"/>
          </p:nvPr>
        </p:nvSpPr>
        <p:spPr bwMode="auto"/>
        <p:txBody>
          <a:bodyPr/>
          <a:lstStyle/>
          <a:p>
            <a:pPr>
              <a:defRPr/>
            </a:pPr>
            <a:fld id="{F0AE54DF-E863-43DE-7FBA-379428CF5BA1}"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722031" name="Slide Image Placeholder 1"/>
          <p:cNvSpPr>
            <a:spLocks noGrp="1" noRot="1" noChangeAspect="1"/>
          </p:cNvSpPr>
          <p:nvPr>
            <p:ph type="sldImg"/>
          </p:nvPr>
        </p:nvSpPr>
        <p:spPr bwMode="auto"/>
      </p:sp>
      <p:sp>
        <p:nvSpPr>
          <p:cNvPr id="128505877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https://learn.microsoft.com/training/modules/manage-containers-azure-container-apps/</a:t>
            </a:r>
            <a:endParaRPr lang="en-US"/>
          </a:p>
          <a:p>
            <a:pPr>
              <a:defRPr/>
            </a:pPr>
            <a:endParaRPr lang="en-US"/>
          </a:p>
        </p:txBody>
      </p:sp>
      <p:sp>
        <p:nvSpPr>
          <p:cNvPr id="1555402929" name="Slide Number Placeholder 3"/>
          <p:cNvSpPr>
            <a:spLocks noGrp="1"/>
          </p:cNvSpPr>
          <p:nvPr>
            <p:ph type="sldNum" sz="quarter" idx="5"/>
          </p:nvPr>
        </p:nvSpPr>
        <p:spPr bwMode="auto"/>
        <p:txBody>
          <a:bodyPr/>
          <a:lstStyle/>
          <a:p>
            <a:pPr>
              <a:defRPr/>
            </a:pPr>
            <a:fld id="{10B4D7BB-47DA-46D4-B152-A08B9EBCF1F1}"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078957" name="Slide Image Placeholder 1"/>
          <p:cNvSpPr>
            <a:spLocks noGrp="1" noRot="1" noChangeAspect="1"/>
          </p:cNvSpPr>
          <p:nvPr>
            <p:ph type="sldImg"/>
          </p:nvPr>
        </p:nvSpPr>
        <p:spPr bwMode="auto"/>
      </p:sp>
      <p:sp>
        <p:nvSpPr>
          <p:cNvPr id="31160859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Este módulo se centra en lo que sucede después de la implementación inicial: las decisiones operativas que mantienen las aplicaciones contenedoras en buen estado mientras envías con frecuencia.</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Los alumnos deben salir comprendiendo los flujos de trabajo de revisión, las compensaciones del ciclo de vida y un enfoque de solución de problemas repetible.</a:t>
            </a:r>
            <a:endParaRPr/>
          </a:p>
        </p:txBody>
      </p:sp>
      <p:sp>
        <p:nvSpPr>
          <p:cNvPr id="323715521" name="Slide Number Placeholder 3"/>
          <p:cNvSpPr>
            <a:spLocks noGrp="1"/>
          </p:cNvSpPr>
          <p:nvPr>
            <p:ph type="sldNum" sz="quarter" idx="10"/>
          </p:nvPr>
        </p:nvSpPr>
        <p:spPr bwMode="auto"/>
        <p:txBody>
          <a:bodyPr/>
          <a:lstStyle/>
          <a:p>
            <a:pPr>
              <a:defRPr/>
            </a:pPr>
            <a:fld id="{65F34202-29D9-1698-EE84-DF0EFAE0008E}"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455090" name="Slide Image Placeholder 1"/>
          <p:cNvSpPr>
            <a:spLocks noGrp="1" noRot="1" noChangeAspect="1"/>
          </p:cNvSpPr>
          <p:nvPr>
            <p:ph type="sldImg"/>
          </p:nvPr>
        </p:nvSpPr>
        <p:spPr bwMode="auto"/>
      </p:sp>
      <p:sp>
        <p:nvSpPr>
          <p:cNvPr id="1569982806"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Tema clave: envía con frecuencia sin sacrificar la confiabilidad. Las revisiones, los sondeos y los registros son las herramientas que permiten que sea posible.</a:t>
            </a:r>
            <a:endParaRPr/>
          </a:p>
        </p:txBody>
      </p:sp>
      <p:sp>
        <p:nvSpPr>
          <p:cNvPr id="595426966" name="Slide Number Placeholder 3"/>
          <p:cNvSpPr>
            <a:spLocks noGrp="1"/>
          </p:cNvSpPr>
          <p:nvPr>
            <p:ph type="sldNum" sz="quarter" idx="10"/>
          </p:nvPr>
        </p:nvSpPr>
        <p:spPr bwMode="auto"/>
        <p:txBody>
          <a:bodyPr/>
          <a:lstStyle/>
          <a:p>
            <a:pPr>
              <a:defRPr/>
            </a:pPr>
            <a:fld id="{46EF9690-F434-6C3D-1486-B2EDE16BD272}"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60586" name="Slide Image Placeholder 1"/>
          <p:cNvSpPr>
            <a:spLocks noGrp="1" noRot="1" noChangeAspect="1"/>
          </p:cNvSpPr>
          <p:nvPr>
            <p:ph type="sldImg"/>
          </p:nvPr>
        </p:nvSpPr>
        <p:spPr bwMode="auto"/>
      </p:sp>
      <p:sp>
        <p:nvSpPr>
          <p:cNvPr id="1339537326"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Las etiquetas como </a:t>
            </a:r>
            <a:r>
              <a:rPr lang="es-ES" sz="1200" b="0" i="0" strike="noStrike" cap="none" baseline="0">
                <a:solidFill>
                  <a:srgbClr val="000000"/>
                </a:solidFill>
                <a:effectLst/>
                <a:latin typeface="Consolas"/>
                <a:ea typeface="Consolas"/>
                <a:cs typeface="Consolas"/>
              </a:rPr>
              <a:t>latest</a:t>
            </a:r>
            <a:r>
              <a:rPr lang="es-ES" sz="1200" b="0" i="0" strike="noStrike" cap="none" baseline="0">
                <a:solidFill>
                  <a:srgbClr val="000000"/>
                </a:solidFill>
                <a:effectLst/>
                <a:latin typeface="Aptos"/>
                <a:ea typeface="Aptos"/>
                <a:cs typeface="Aptos"/>
              </a:rPr>
              <a:t> o </a:t>
            </a:r>
            <a:r>
              <a:rPr lang="es-ES" sz="1200" b="0" i="0" strike="noStrike" cap="none" baseline="0">
                <a:solidFill>
                  <a:srgbClr val="000000"/>
                </a:solidFill>
                <a:effectLst/>
                <a:latin typeface="Consolas"/>
                <a:ea typeface="Consolas"/>
                <a:cs typeface="Consolas"/>
              </a:rPr>
              <a:t>dev</a:t>
            </a:r>
            <a:r>
              <a:rPr lang="es-ES" sz="1200" b="0" i="0" strike="noStrike" cap="none" baseline="0">
                <a:solidFill>
                  <a:srgbClr val="000000"/>
                </a:solidFill>
                <a:effectLst/>
                <a:latin typeface="Aptos"/>
                <a:ea typeface="Aptos"/>
                <a:cs typeface="Aptos"/>
              </a:rPr>
              <a:t> pueden moverse a diferentes imágenes a lo largo del tiempo. Los resúmenes garantizan que sepas exactamente qué artefacto se está ejecutando.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modos de revisión importan: el modo de revisión única mantiene una revisión activa. El modo de revisión múltiple permite lanzamientos de valor controlado y división del tráfico.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"Activa" significa que una revisión puede recibir tráfico. Una revisión puede existir sin estar activa. Esto resulta útil durante la investigación.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Referencia de la CLI para el ponente:</a:t>
            </a:r>
            <a:endParaRPr sz="1200"/>
          </a:p>
          <a:p>
            <a:pPr marL="217793" lvl="0" indent="-217793">
              <a:buFont typeface="Arial"/>
              <a:buChar char="•"/>
              <a:defRPr/>
            </a:pPr>
            <a:r>
              <a:rPr lang="es-ES" sz="1200" b="0" i="0" strike="noStrike" cap="none" baseline="0">
                <a:solidFill>
                  <a:srgbClr val="000000"/>
                </a:solidFill>
                <a:effectLst/>
                <a:latin typeface="Aptos"/>
                <a:ea typeface="Aptos"/>
                <a:cs typeface="Aptos"/>
              </a:rPr>
              <a:t>Imagen de actualización: </a:t>
            </a:r>
            <a:r>
              <a:rPr lang="es-ES" sz="1200" b="0" i="0" strike="noStrike" cap="none" baseline="0">
                <a:solidFill>
                  <a:srgbClr val="000000"/>
                </a:solidFill>
                <a:effectLst/>
                <a:latin typeface="Consolas"/>
                <a:ea typeface="Consolas"/>
                <a:cs typeface="Consolas"/>
              </a:rPr>
              <a:t>az containerapp update --image &lt;registry&gt;/&lt;repo&gt;@sha256:&lt;digest&gt;</a:t>
            </a:r>
            <a:endParaRPr sz="1200"/>
          </a:p>
          <a:p>
            <a:pPr marL="217793" lvl="0" indent="-217793">
              <a:buFont typeface="Arial"/>
              <a:buChar char="•"/>
              <a:defRPr/>
            </a:pPr>
            <a:r>
              <a:rPr lang="es-ES" sz="1200" b="0" i="0" strike="noStrike" cap="none" baseline="0">
                <a:solidFill>
                  <a:srgbClr val="000000"/>
                </a:solidFill>
                <a:effectLst/>
                <a:latin typeface="Aptos"/>
                <a:ea typeface="Aptos"/>
                <a:cs typeface="Aptos"/>
              </a:rPr>
              <a:t>Enumerar revisiones: </a:t>
            </a:r>
            <a:r>
              <a:rPr lang="es-ES" sz="1200" b="0" i="0" strike="noStrike" cap="none" baseline="0">
                <a:solidFill>
                  <a:srgbClr val="000000"/>
                </a:solidFill>
                <a:effectLst/>
                <a:latin typeface="Consolas"/>
                <a:ea typeface="Consolas"/>
                <a:cs typeface="Consolas"/>
              </a:rPr>
              <a:t>az containerapp revision list -o table</a:t>
            </a:r>
            <a:endParaRPr sz="1200">
              <a:latin typeface="Consolas"/>
              <a:cs typeface="Consolas"/>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Desactivar: </a:t>
            </a:r>
            <a:r>
              <a:rPr lang="es-ES" sz="1200" b="0" i="0" strike="noStrike" cap="none" baseline="0">
                <a:solidFill>
                  <a:srgbClr val="000000"/>
                </a:solidFill>
                <a:effectLst/>
                <a:latin typeface="Consolas"/>
                <a:ea typeface="Consolas"/>
                <a:cs typeface="Consolas"/>
              </a:rPr>
              <a:t>az containerapp revision deactivate --revision &lt;name&gt;</a:t>
            </a:r>
            <a:endParaRPr sz="1200"/>
          </a:p>
          <a:p>
            <a:pPr marL="217793" lvl="0" indent="-217793">
              <a:buFont typeface="Arial"/>
              <a:buChar char="•"/>
              <a:defRPr/>
            </a:pPr>
            <a:endParaRPr sz="1200"/>
          </a:p>
          <a:p>
            <a:pPr marL="0" lvl="0" indent="0">
              <a:buNone/>
              <a:defRPr/>
            </a:pPr>
            <a:r>
              <a:rPr lang="es-ES" sz="1200" b="0" i="0" strike="noStrike" cap="none" baseline="0">
                <a:solidFill>
                  <a:srgbClr val="000000"/>
                </a:solidFill>
                <a:effectLst/>
                <a:latin typeface="Aptos"/>
                <a:ea typeface="Aptos"/>
                <a:cs typeface="Aptos"/>
              </a:rPr>
              <a:t>Container Apps purga automáticamente revisiones inactivas cuando superas 100. Ajusta con </a:t>
            </a:r>
            <a:r>
              <a:rPr lang="es-ES" sz="1200" b="0" i="0" strike="noStrike" cap="none" baseline="0">
                <a:solidFill>
                  <a:srgbClr val="000000"/>
                </a:solidFill>
                <a:effectLst/>
                <a:latin typeface="Consolas"/>
                <a:ea typeface="Consolas"/>
                <a:cs typeface="Consolas"/>
              </a:rPr>
              <a:t>--max-inactive-revisions</a:t>
            </a:r>
            <a:r>
              <a:rPr lang="es-ES" sz="1200" b="0" i="0" strike="noStrike" cap="none" baseline="0">
                <a:solidFill>
                  <a:srgbClr val="000000"/>
                </a:solidFill>
                <a:effectLst/>
                <a:latin typeface="Aptos"/>
                <a:ea typeface="Aptos"/>
                <a:cs typeface="Aptos"/>
              </a:rPr>
              <a:t>.</a:t>
            </a:r>
            <a:endParaRPr lang="en-US" sz="1200" b="0" i="0" u="none" strike="noStrike" cap="none" spc="0">
              <a:solidFill>
                <a:schemeClr val="tx1"/>
              </a:solidFill>
              <a:latin typeface="Times New Roman"/>
              <a:cs typeface="Times New Roman"/>
            </a:endParaRPr>
          </a:p>
          <a:p>
            <a:pPr>
              <a:defRPr/>
            </a:pPr>
            <a:endParaRPr/>
          </a:p>
        </p:txBody>
      </p:sp>
      <p:sp>
        <p:nvSpPr>
          <p:cNvPr id="1745285334" name="Slide Number Placeholder 3"/>
          <p:cNvSpPr>
            <a:spLocks noGrp="1"/>
          </p:cNvSpPr>
          <p:nvPr>
            <p:ph type="sldNum" sz="quarter" idx="5"/>
          </p:nvPr>
        </p:nvSpPr>
        <p:spPr bwMode="auto"/>
        <p:txBody>
          <a:bodyPr/>
          <a:lstStyle/>
          <a:p>
            <a:pPr>
              <a:defRPr/>
            </a:pPr>
            <a:fld id="{10B4D7BB-47DA-46D4-B152-A08B9EBCF1F1}"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8872969" name="Slide Image Placeholder 1"/>
          <p:cNvSpPr>
            <a:spLocks noGrp="1" noRot="1" noChangeAspect="1"/>
          </p:cNvSpPr>
          <p:nvPr>
            <p:ph type="sldImg"/>
          </p:nvPr>
        </p:nvSpPr>
        <p:spPr bwMode="auto"/>
      </p:sp>
      <p:sp>
        <p:nvSpPr>
          <p:cNvPr id="79968156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detención afecta a toda la aplicación. Si el problema está limitado a una revisión, la desactivación suele ser el mejor primer paso.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reinicio obliga a las réplicas a reiniciarse, pero no corrige causas principales. Reinicia siempre con la inspección del registro.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los servicios de IA que cargan modelos grandes al iniciarse, el reinicio aumenta la frecuencia de arranque en frío. Usa el reinicio intencionadamente.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a cero es diferente de la detención. El escalado a cero se basa automáticamente en el tráfico. La detención es una acción operativa explícita.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Referencia de la CLI para el ponente:</a:t>
            </a:r>
            <a:endParaRPr sz="1200"/>
          </a:p>
          <a:p>
            <a:pPr marL="217793" lvl="0" indent="-217793">
              <a:buFont typeface="Arial"/>
              <a:buChar char="•"/>
              <a:defRPr/>
            </a:pPr>
            <a:r>
              <a:rPr lang="es-ES" sz="1200" b="0" i="0" strike="noStrike" cap="none" baseline="0">
                <a:solidFill>
                  <a:srgbClr val="000000"/>
                </a:solidFill>
                <a:effectLst/>
                <a:latin typeface="Consolas"/>
                <a:ea typeface="Consolas"/>
                <a:cs typeface="Consolas"/>
              </a:rPr>
              <a:t>az containerapp up</a:t>
            </a:r>
            <a:endParaRPr sz="1200">
              <a:latin typeface="Consolas"/>
              <a:cs typeface="Consolas"/>
            </a:endParaRPr>
          </a:p>
          <a:p>
            <a:pPr marL="217793" lvl="0" indent="-217793">
              <a:buFont typeface="Arial"/>
              <a:buChar char="•"/>
              <a:defRPr/>
            </a:pPr>
            <a:r>
              <a:rPr lang="es-ES" sz="1200" b="0" i="0" strike="noStrike" cap="none" baseline="0">
                <a:solidFill>
                  <a:srgbClr val="000000"/>
                </a:solidFill>
                <a:effectLst/>
                <a:latin typeface="Consolas"/>
                <a:ea typeface="Consolas"/>
                <a:cs typeface="Consolas"/>
              </a:rPr>
              <a:t>az containerapp start</a:t>
            </a:r>
            <a:endParaRPr sz="1200">
              <a:latin typeface="Consolas"/>
              <a:cs typeface="Consolas"/>
            </a:endParaRPr>
          </a:p>
          <a:p>
            <a:pPr marL="217793" lvl="0" indent="-217793">
              <a:buFont typeface="Arial"/>
              <a:buChar char="•"/>
              <a:defRPr/>
            </a:pPr>
            <a:r>
              <a:rPr lang="es-ES" sz="1200" b="0" i="0" strike="noStrike" cap="none" baseline="0">
                <a:solidFill>
                  <a:srgbClr val="000000"/>
                </a:solidFill>
                <a:effectLst/>
                <a:latin typeface="Consolas"/>
                <a:ea typeface="Consolas"/>
                <a:cs typeface="Consolas"/>
              </a:rPr>
              <a:t>az containerapp restart</a:t>
            </a:r>
            <a:endParaRPr sz="1200">
              <a:latin typeface="Consolas"/>
              <a:cs typeface="Consolas"/>
            </a:endParaRPr>
          </a:p>
          <a:p>
            <a:pPr marL="217793" lvl="0" indent="-217793">
              <a:buFont typeface="Arial"/>
              <a:buChar char="•"/>
              <a:defRPr/>
            </a:pPr>
            <a:r>
              <a:rPr lang="es-ES" sz="1200" b="0" i="0" strike="noStrike" cap="none" baseline="0">
                <a:solidFill>
                  <a:srgbClr val="000000"/>
                </a:solidFill>
                <a:effectLst/>
                <a:latin typeface="Consolas"/>
                <a:ea typeface="Consolas"/>
                <a:cs typeface="Consolas"/>
              </a:rPr>
              <a:t>az containerapp revision deactivate</a:t>
            </a:r>
            <a:endParaRPr sz="1200"/>
          </a:p>
          <a:p>
            <a:pPr>
              <a:defRPr/>
            </a:pPr>
            <a:endParaRPr/>
          </a:p>
        </p:txBody>
      </p:sp>
      <p:sp>
        <p:nvSpPr>
          <p:cNvPr id="749610686" name="Slide Number Placeholder 3"/>
          <p:cNvSpPr>
            <a:spLocks noGrp="1"/>
          </p:cNvSpPr>
          <p:nvPr>
            <p:ph type="sldNum" sz="quarter" idx="5"/>
          </p:nvPr>
        </p:nvSpPr>
        <p:spPr bwMode="auto"/>
        <p:txBody>
          <a:bodyPr/>
          <a:lstStyle/>
          <a:p>
            <a:pPr>
              <a:defRPr/>
            </a:pPr>
            <a:fld id="{10B4D7BB-47DA-46D4-B152-A08B9EBCF1F1}"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604551" name="Slide Image Placeholder 1"/>
          <p:cNvSpPr>
            <a:spLocks noGrp="1" noRot="1" noChangeAspect="1"/>
          </p:cNvSpPr>
          <p:nvPr>
            <p:ph type="sldImg"/>
          </p:nvPr>
        </p:nvSpPr>
        <p:spPr bwMode="auto"/>
      </p:sp>
      <p:sp>
        <p:nvSpPr>
          <p:cNvPr id="27593547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registros son la señal de diagnóstico principal en una plataforma administrada. No hay acceso de shell a los contenedores, por lo que el registro estructurado importa.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registros de la consola muestran errores de inicio, env vars que faltan y errores de conexión. Los registros del sistema muestran errores de extracción de imágenes y eventos de escalado.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los servicios de IA, registra la versión del modelo y el Id. de correlación de solicitudes para que puedas vincular errores a compilaciones y solicitudes específicas.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Referencia de la CLI para el ponente:</a:t>
            </a:r>
            <a:endParaRPr sz="1200"/>
          </a:p>
          <a:p>
            <a:pPr marL="217793" lvl="0" indent="-217793">
              <a:buFont typeface="Arial"/>
              <a:buChar char="•"/>
              <a:defRPr/>
            </a:pPr>
            <a:r>
              <a:rPr lang="es-ES" sz="1200" b="0" i="0" strike="noStrike" cap="none" baseline="0">
                <a:solidFill>
                  <a:srgbClr val="000000"/>
                </a:solidFill>
                <a:effectLst/>
                <a:latin typeface="Aptos"/>
                <a:ea typeface="Aptos"/>
                <a:cs typeface="Aptos"/>
              </a:rPr>
              <a:t>Registros de transmisión: </a:t>
            </a:r>
            <a:r>
              <a:rPr lang="es-ES" sz="1200" b="0" i="0" strike="noStrike" cap="none" baseline="0">
                <a:solidFill>
                  <a:srgbClr val="000000"/>
                </a:solidFill>
                <a:effectLst/>
                <a:latin typeface="Consolas"/>
                <a:ea typeface="Consolas"/>
                <a:cs typeface="Consolas"/>
              </a:rPr>
              <a:t>az containerapp logs show --follow</a:t>
            </a:r>
            <a:endParaRPr sz="1200"/>
          </a:p>
          <a:p>
            <a:pPr marL="217793" lvl="0" indent="-217793">
              <a:buFont typeface="Arial"/>
              <a:buChar char="•"/>
              <a:defRPr/>
            </a:pPr>
            <a:r>
              <a:rPr lang="es-ES" sz="1200" b="0" i="0" strike="noStrike" cap="none" baseline="0">
                <a:solidFill>
                  <a:srgbClr val="000000"/>
                </a:solidFill>
                <a:effectLst/>
                <a:latin typeface="Aptos"/>
                <a:ea typeface="Aptos"/>
                <a:cs typeface="Aptos"/>
              </a:rPr>
              <a:t>Registros del sistema: </a:t>
            </a:r>
            <a:r>
              <a:rPr lang="es-ES" sz="1200" b="0" i="0" strike="noStrike" cap="none" baseline="0">
                <a:solidFill>
                  <a:srgbClr val="000000"/>
                </a:solidFill>
                <a:effectLst/>
                <a:latin typeface="Consolas"/>
                <a:ea typeface="Consolas"/>
                <a:cs typeface="Consolas"/>
              </a:rPr>
              <a:t>az containerapp logs show --type system</a:t>
            </a:r>
            <a:endParaRPr sz="1200">
              <a:latin typeface="Consolas"/>
              <a:cs typeface="Consolas"/>
            </a:endParaRPr>
          </a:p>
          <a:p>
            <a:pPr marL="217793" lvl="0" indent="-217793">
              <a:buFont typeface="Arial"/>
              <a:buChar char="•"/>
              <a:defRPr/>
            </a:pPr>
            <a:r>
              <a:rPr lang="es-ES" sz="1200" b="0" i="0" strike="noStrike" cap="none" baseline="0">
                <a:solidFill>
                  <a:srgbClr val="000000"/>
                </a:solidFill>
                <a:effectLst/>
                <a:latin typeface="Aptos"/>
                <a:ea typeface="Aptos"/>
                <a:cs typeface="Aptos"/>
              </a:rPr>
              <a:t>Comparar revisiones: </a:t>
            </a:r>
            <a:r>
              <a:rPr lang="es-ES" sz="1200" b="0" i="0" strike="noStrike" cap="none" baseline="0">
                <a:solidFill>
                  <a:srgbClr val="000000"/>
                </a:solidFill>
                <a:effectLst/>
                <a:latin typeface="Consolas"/>
                <a:ea typeface="Consolas"/>
                <a:cs typeface="Consolas"/>
              </a:rPr>
              <a:t>az containerapp revision show --revision &lt;name&gt;</a:t>
            </a:r>
            <a:endParaRPr sz="1200">
              <a:latin typeface="Consolas"/>
              <a:cs typeface="Consolas"/>
            </a:endParaRPr>
          </a:p>
          <a:p>
            <a:pPr marL="0" lvl="0" indent="0">
              <a:buNone/>
              <a:defRPr/>
            </a:pPr>
            <a:endParaRPr sz="1200">
              <a:latin typeface="Courier"/>
            </a:endParaRPr>
          </a:p>
          <a:p>
            <a:pPr marL="0" lvl="0" indent="0">
              <a:buNone/>
              <a:defRPr/>
            </a:pPr>
            <a:r>
              <a:rPr lang="es-ES" sz="1200" b="0" i="0" strike="noStrike" cap="none" baseline="0">
                <a:solidFill>
                  <a:srgbClr val="000000"/>
                </a:solidFill>
                <a:effectLst/>
                <a:latin typeface="Aptos"/>
                <a:ea typeface="Aptos"/>
                <a:cs typeface="Aptos"/>
              </a:rPr>
              <a:t>El acceso al registro depende de cómo se configure el entorno. Valida que el entorno se conecte a Log Analytics.</a:t>
            </a:r>
            <a:endParaRPr sz="1200"/>
          </a:p>
          <a:p>
            <a:pPr>
              <a:defRPr/>
            </a:pPr>
            <a:endParaRPr/>
          </a:p>
        </p:txBody>
      </p:sp>
      <p:sp>
        <p:nvSpPr>
          <p:cNvPr id="1281106165" name="Slide Number Placeholder 3"/>
          <p:cNvSpPr>
            <a:spLocks noGrp="1"/>
          </p:cNvSpPr>
          <p:nvPr>
            <p:ph type="sldNum" sz="quarter" idx="5"/>
          </p:nvPr>
        </p:nvSpPr>
        <p:spPr bwMode="auto"/>
        <p:txBody>
          <a:bodyPr/>
          <a:lstStyle/>
          <a:p>
            <a:pPr>
              <a:defRPr/>
            </a:pPr>
            <a:fld id="{EE85B264-E53A-7301-379E-73E6A5CA84A9}"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96903" name="Slide Image Placeholder 1"/>
          <p:cNvSpPr>
            <a:spLocks noGrp="1" noRot="1" noChangeAspect="1"/>
          </p:cNvSpPr>
          <p:nvPr>
            <p:ph type="sldImg"/>
          </p:nvPr>
        </p:nvSpPr>
        <p:spPr bwMode="auto"/>
      </p:sp>
      <p:sp>
        <p:nvSpPr>
          <p:cNvPr id="1581751946"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configuración errónea del sondeo es la causa más común de errores de preparación inmediata después de una implementación.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error de preparación significa que no hay tráfico enrutado a la réplica. El error de ejecución significa que la réplica se reinicia. La configuración de vida excesivamente agresiva provoca reinicios innecesarios y aumenta los arranques en frío.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configuración del sondeo YAML reside en la plantilla de contenedor de </a:t>
            </a:r>
            <a:r>
              <a:rPr lang="es-ES" sz="1200" b="0" i="0" strike="noStrike" cap="none" baseline="0">
                <a:solidFill>
                  <a:srgbClr val="000000"/>
                </a:solidFill>
                <a:effectLst/>
                <a:latin typeface="Courier"/>
                <a:ea typeface="Courier"/>
                <a:cs typeface="Courier"/>
              </a:rPr>
              <a:t>probes:</a:t>
            </a:r>
            <a:r>
              <a:rPr lang="es-ES" sz="1200" b="0" i="0" strike="noStrike" cap="none" baseline="0">
                <a:solidFill>
                  <a:srgbClr val="000000"/>
                </a:solidFill>
                <a:effectLst/>
                <a:latin typeface="Aptos"/>
                <a:ea typeface="Aptos"/>
                <a:cs typeface="Aptos"/>
              </a:rPr>
              <a:t>. Campos clave: type, httpGet (ruta + puerto), initialDelaySeconds, periodSeconds, timeoutSeconds, failureThreshold.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API de IA que cargan modelos grandes, es posible que initialDelaySeconds deba ser de 30 a 60 segundos. Haz la prueba en condiciones realistas.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puntos de conexión de sondeo deben ser ligeros. No llame a dependencias externas desde el punto de conexión de preparación o se producirá un error en los sondeos cuando una dependencia sea lenta.</a:t>
            </a:r>
            <a:endParaRPr sz="1200"/>
          </a:p>
          <a:p>
            <a:pPr>
              <a:defRPr/>
            </a:pPr>
            <a:endParaRPr/>
          </a:p>
        </p:txBody>
      </p:sp>
      <p:sp>
        <p:nvSpPr>
          <p:cNvPr id="529677607" name="Slide Number Placeholder 3"/>
          <p:cNvSpPr>
            <a:spLocks noGrp="1"/>
          </p:cNvSpPr>
          <p:nvPr>
            <p:ph type="sldNum" sz="quarter" idx="5"/>
          </p:nvPr>
        </p:nvSpPr>
        <p:spPr bwMode="auto"/>
        <p:txBody>
          <a:bodyPr/>
          <a:lstStyle/>
          <a:p>
            <a:pPr>
              <a:defRPr/>
            </a:pPr>
            <a:fld id="{B7BC796B-60B1-EC1A-87B6-BA28E3526489}"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95238" name="Slide Image Placeholder 1"/>
          <p:cNvSpPr>
            <a:spLocks noGrp="1" noRot="1" noChangeAspect="1"/>
          </p:cNvSpPr>
          <p:nvPr>
            <p:ph type="sldImg"/>
          </p:nvPr>
        </p:nvSpPr>
        <p:spPr bwMode="auto"/>
      </p:sp>
      <p:sp>
        <p:nvSpPr>
          <p:cNvPr id="119903182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ajuste de tamaño y el escalado de recursos funcionan juntos. Aumentar la CPU por réplica reduce la limitación, pero cuesta más por réplica. Agregar réplicas aumenta el rendimiento, pero suma coste de línea base.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cargas de trabajo de IA, los cambios de modelo pueden cambiar el tiempo de inicio, la superficie de memoria y el uso de CPU por solicitud. Vuelve a evaluar siempre la configuración de recursos después de las actualizaciones del modelo.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réplicas mínimas reducen los arranques en frío, pero se bloquean en el coste de línea base. Adecuado para las API sensibles a la latencia. No es necesario para los trabajadores controlados por eventos que pueden tolerar retrasos de inicio.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Referencia de la CLI para el ponente:</a:t>
            </a:r>
            <a:endParaRPr sz="1200"/>
          </a:p>
          <a:p>
            <a:pPr marL="217793" lvl="0" indent="-217793">
              <a:buFont typeface="Arial"/>
              <a:buChar char="•"/>
              <a:defRPr/>
            </a:pPr>
            <a:r>
              <a:rPr lang="es-ES" sz="1200" b="0" i="0" strike="noStrike" cap="none" baseline="0">
                <a:solidFill>
                  <a:srgbClr val="000000"/>
                </a:solidFill>
                <a:effectLst/>
                <a:latin typeface="Aptos"/>
                <a:ea typeface="Aptos"/>
                <a:cs typeface="Aptos"/>
              </a:rPr>
              <a:t>Recursos de actualización: </a:t>
            </a:r>
            <a:r>
              <a:rPr lang="es-ES" sz="1200" b="0" i="0" strike="noStrike" cap="none" baseline="0">
                <a:solidFill>
                  <a:srgbClr val="000000"/>
                </a:solidFill>
                <a:effectLst/>
                <a:latin typeface="Consolas"/>
                <a:ea typeface="Consolas"/>
                <a:cs typeface="Consolas"/>
              </a:rPr>
              <a:t>az containerapp update --cpu &lt;cores&gt; --memory &lt;size&gt;</a:t>
            </a:r>
            <a:endParaRPr sz="1200">
              <a:latin typeface="Consolas"/>
              <a:cs typeface="Consolas"/>
            </a:endParaRPr>
          </a:p>
          <a:p>
            <a:pPr marL="0" lvl="0" indent="0">
              <a:buNone/>
              <a:defRPr/>
            </a:pPr>
            <a:endParaRPr sz="1200">
              <a:latin typeface="Courier"/>
            </a:endParaRPr>
          </a:p>
          <a:p>
            <a:pPr lvl="0">
              <a:defRPr/>
            </a:pPr>
            <a:r>
              <a:rPr lang="es-ES" sz="1200" b="0" i="0" strike="noStrike" cap="none" baseline="0">
                <a:solidFill>
                  <a:srgbClr val="000000"/>
                </a:solidFill>
                <a:effectLst/>
                <a:latin typeface="Aptos"/>
                <a:ea typeface="Aptos"/>
                <a:cs typeface="Aptos"/>
              </a:rPr>
              <a:t>El escalado se configura mediante reglas de escalado en la plantilla de la aplicación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Alinea la configuración de escalado con la configuración de sondeo. Si el servicio tiene un proceso de preparación lento, es posible que las nuevas réplicas permanezcan sin leer y que los eventos de escalado tengan un aspecto similar a los errores.</a:t>
            </a:r>
            <a:endParaRPr sz="1200"/>
          </a:p>
          <a:p>
            <a:pPr>
              <a:defRPr/>
            </a:pPr>
            <a:endParaRPr/>
          </a:p>
        </p:txBody>
      </p:sp>
      <p:sp>
        <p:nvSpPr>
          <p:cNvPr id="1980037186" name="Slide Number Placeholder 3"/>
          <p:cNvSpPr>
            <a:spLocks noGrp="1"/>
          </p:cNvSpPr>
          <p:nvPr>
            <p:ph type="sldNum" sz="quarter" idx="5"/>
          </p:nvPr>
        </p:nvSpPr>
        <p:spPr bwMode="auto"/>
        <p:txBody>
          <a:bodyPr/>
          <a:lstStyle/>
          <a:p>
            <a:pPr>
              <a:defRPr/>
            </a:pPr>
            <a:fld id="{9A219971-9E4E-CAE5-735A-5075618B92C8}"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763137" name="Slide Image Placeholder 1"/>
          <p:cNvSpPr>
            <a:spLocks noGrp="1" noRot="1" noChangeAspect="1"/>
          </p:cNvSpPr>
          <p:nvPr>
            <p:ph type="sldImg"/>
          </p:nvPr>
        </p:nvSpPr>
        <p:spPr bwMode="auto"/>
      </p:sp>
      <p:sp>
        <p:nvSpPr>
          <p:cNvPr id="87785904"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530695190" name="Header Placeholder 3"/>
          <p:cNvSpPr>
            <a:spLocks noGrp="1"/>
          </p:cNvSpPr>
          <p:nvPr>
            <p:ph type="hdr" sz="quarter" idx="6"/>
          </p:nvPr>
        </p:nvSpPr>
        <p:spPr bwMode="auto"/>
        <p:txBody>
          <a:bodyPr/>
          <a:lstStyle/>
          <a:p>
            <a:pPr>
              <a:defRPr/>
            </a:pPr>
            <a:endParaRPr lang="en-US"/>
          </a:p>
        </p:txBody>
      </p:sp>
      <p:sp>
        <p:nvSpPr>
          <p:cNvPr id="1394833999"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767037677" name="Date Placeholder 5"/>
          <p:cNvSpPr>
            <a:spLocks noGrp="1"/>
          </p:cNvSpPr>
          <p:nvPr>
            <p:ph type="dt" idx="10"/>
          </p:nvPr>
        </p:nvSpPr>
        <p:spPr bwMode="auto"/>
        <p:txBody>
          <a:bodyPr/>
          <a:lstStyle/>
          <a:p>
            <a:pPr>
              <a:defRPr/>
            </a:pPr>
            <a:fld id="{22FD8069-D363-B1FD-C85A-30544EF19ECA}" type="datetime8">
              <a:rPr lang="en-US"/>
              <a:t>10/9/2026 2:33 PM</a:t>
            </a:fld>
            <a:endParaRPr lang="en-US"/>
          </a:p>
        </p:txBody>
      </p:sp>
      <p:sp>
        <p:nvSpPr>
          <p:cNvPr id="510266834" name="Slide Number Placeholder 6"/>
          <p:cNvSpPr>
            <a:spLocks noGrp="1"/>
          </p:cNvSpPr>
          <p:nvPr>
            <p:ph type="sldNum" sz="quarter" idx="5"/>
          </p:nvPr>
        </p:nvSpPr>
        <p:spPr bwMode="auto"/>
        <p:txBody>
          <a:bodyPr/>
          <a:lstStyle/>
          <a:p>
            <a:pPr>
              <a:defRPr/>
            </a:pPr>
            <a:fld id="{1832D111-37E3-EE75-0870-1F0A4C533A8B}"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6582079" name="Slide Image Placeholder 1"/>
          <p:cNvSpPr>
            <a:spLocks noGrp="1" noRot="1" noChangeAspect="1"/>
          </p:cNvSpPr>
          <p:nvPr>
            <p:ph type="sldImg"/>
          </p:nvPr>
        </p:nvSpPr>
        <p:spPr bwMode="auto"/>
      </p:sp>
      <p:sp>
        <p:nvSpPr>
          <p:cNvPr id="1974341064"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Pregunta 1: La respuesta correcta es el resumen de imagen. Los resúmenes son identificadores inmutables que proporcionan una rastreabilidad segura. Las etiquetas se pueden mover a diferentes imágenes a lo largo del tiempo.</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Pregunta 2: La respuesta correcta es aumentar la CPU por réplica. La limitación de CPU significa que la réplica no tiene suficiente CPU para su carga de trabajo. Aumentar la CPU es la corrección directa. A continuación, vuelve a escalar el coste y el rendimiento.</a:t>
            </a:r>
            <a:endParaRPr/>
          </a:p>
        </p:txBody>
      </p:sp>
      <p:sp>
        <p:nvSpPr>
          <p:cNvPr id="1196639460" name="Slide Number Placeholder 3"/>
          <p:cNvSpPr>
            <a:spLocks noGrp="1"/>
          </p:cNvSpPr>
          <p:nvPr>
            <p:ph type="sldNum" sz="quarter" idx="5"/>
          </p:nvPr>
        </p:nvSpPr>
        <p:spPr bwMode="auto"/>
        <p:txBody>
          <a:bodyPr/>
          <a:lstStyle/>
          <a:p>
            <a:pPr>
              <a:defRPr/>
            </a:pPr>
            <a:fld id="{09C70FE0-6A25-4C3D-BAA1-7E809F005FC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3359012" name="Slide Image Placeholder 1"/>
          <p:cNvSpPr>
            <a:spLocks noGrp="1" noRot="1" noChangeAspect="1"/>
          </p:cNvSpPr>
          <p:nvPr>
            <p:ph type="sldImg"/>
          </p:nvPr>
        </p:nvSpPr>
        <p:spPr bwMode="auto"/>
      </p:sp>
      <p:sp>
        <p:nvSpPr>
          <p:cNvPr id="1106345794"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685368991"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638380033"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895540"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133B63CA-903A-25F1-A97B-C393C81862D0}" type="datetime8">
              <a:rPr lang="en-US" sz="1200" b="0" i="0" u="none" strike="noStrike" cap="none" spc="0">
                <a:ln>
                  <a:noFill/>
                </a:ln>
                <a:solidFill>
                  <a:prstClr val="black"/>
                </a:solidFill>
                <a:latin typeface="Segoe UI"/>
                <a:ea typeface="Arial"/>
                <a:cs typeface="Arial"/>
              </a:rPr>
              <a:t>10/9/2026 2:33 PM</a:t>
            </a:fld>
            <a:endParaRPr lang="en-US" sz="1200" b="0" i="0" u="none" strike="noStrike" cap="none" spc="0">
              <a:ln>
                <a:noFill/>
              </a:ln>
              <a:solidFill>
                <a:prstClr val="black"/>
              </a:solidFill>
              <a:latin typeface="Segoe UI"/>
              <a:ea typeface="+mn-ea"/>
              <a:cs typeface="+mn-cs"/>
            </a:endParaRPr>
          </a:p>
        </p:txBody>
      </p:sp>
      <p:sp>
        <p:nvSpPr>
          <p:cNvPr id="72442762"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86D533ED-9CBA-0EF4-B0C5-20195B5C2215}" type="slidenum">
              <a:rPr lang="en-US" sz="1200" b="0" i="0" u="none" strike="noStrike" cap="none" spc="0">
                <a:ln>
                  <a:noFill/>
                </a:ln>
                <a:solidFill>
                  <a:prstClr val="black"/>
                </a:solidFill>
                <a:latin typeface="Segoe UI"/>
                <a:ea typeface="Arial"/>
                <a:cs typeface="Arial"/>
              </a:rPr>
              <a:t>25</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771174" name="Slide Image Placeholder 1"/>
          <p:cNvSpPr>
            <a:spLocks noGrp="1" noRot="1" noChangeAspect="1"/>
          </p:cNvSpPr>
          <p:nvPr>
            <p:ph type="sldImg"/>
          </p:nvPr>
        </p:nvSpPr>
        <p:spPr bwMode="auto"/>
      </p:sp>
      <p:sp>
        <p:nvSpPr>
          <p:cNvPr id="59546533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Puntos de decisión clave para volver a resumir: usa resúmenes en producción, desactiva antes de investigar, comienza con los registros, ajusta los sondeos para el tiempo de inicio del modelo de IA real.</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Recuerda a los alumnos que los cambios en la versión del modelo pueden cambiar los requisitos de los recursos. Vuelve a evaluar siempre después de las actualizaciones del modelo.</a:t>
            </a:r>
            <a:endParaRPr/>
          </a:p>
        </p:txBody>
      </p:sp>
      <p:sp>
        <p:nvSpPr>
          <p:cNvPr id="41390742" name="Slide Number Placeholder 3"/>
          <p:cNvSpPr>
            <a:spLocks noGrp="1"/>
          </p:cNvSpPr>
          <p:nvPr>
            <p:ph type="sldNum" sz="quarter" idx="10"/>
          </p:nvPr>
        </p:nvSpPr>
        <p:spPr bwMode="auto"/>
        <p:txBody>
          <a:bodyPr/>
          <a:lstStyle/>
          <a:p>
            <a:pPr>
              <a:defRPr/>
            </a:pPr>
            <a:fld id="{74A9FDBF-85F5-18F9-2838-12EE9F51AD40}"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002420" name="Slide Image Placeholder 1"/>
          <p:cNvSpPr>
            <a:spLocks noGrp="1" noRot="1" noChangeAspect="1"/>
          </p:cNvSpPr>
          <p:nvPr>
            <p:ph type="sldImg"/>
          </p:nvPr>
        </p:nvSpPr>
        <p:spPr bwMode="auto"/>
      </p:sp>
      <p:sp>
        <p:nvSpPr>
          <p:cNvPr id="1509182792"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https://learn.microsoft.com/training/modules/scale-containers-azure-container-apps/</a:t>
            </a:r>
            <a:endParaRPr lang="en-US"/>
          </a:p>
          <a:p>
            <a:pPr>
              <a:defRPr/>
            </a:pPr>
            <a:endParaRPr lang="en-US"/>
          </a:p>
        </p:txBody>
      </p:sp>
      <p:sp>
        <p:nvSpPr>
          <p:cNvPr id="999089306" name="Slide Number Placeholder 3"/>
          <p:cNvSpPr>
            <a:spLocks noGrp="1"/>
          </p:cNvSpPr>
          <p:nvPr>
            <p:ph type="sldNum" sz="quarter" idx="5"/>
          </p:nvPr>
        </p:nvSpPr>
        <p:spPr bwMode="auto"/>
        <p:txBody>
          <a:bodyPr/>
          <a:lstStyle/>
          <a:p>
            <a:pPr>
              <a:defRPr/>
            </a:pPr>
            <a:fld id="{10B4D7BB-47DA-46D4-B152-A08B9EBCF1F1}"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525091" name="Slide Image Placeholder 1"/>
          <p:cNvSpPr>
            <a:spLocks noGrp="1" noRot="1" noChangeAspect="1"/>
          </p:cNvSpPr>
          <p:nvPr>
            <p:ph type="sldImg"/>
          </p:nvPr>
        </p:nvSpPr>
        <p:spPr bwMode="auto"/>
      </p:sp>
      <p:sp>
        <p:nvSpPr>
          <p:cNvPr id="122644381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Este módulo se centra en el ciclo de vida de escalado completo desde la configuración de desencadenadores a través de estrategias de implementación y optimización de costes</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Los alumnos deben acabar sabiendo cuándo usar el tipo de regla de escalado, cómo se integra KEDA con los servicios de Azure y cómo afectan los modos de revisión al comportamiento de escalado durante las implementaciones.</a:t>
            </a:r>
            <a:endParaRPr/>
          </a:p>
        </p:txBody>
      </p:sp>
      <p:sp>
        <p:nvSpPr>
          <p:cNvPr id="1837133929" name="Slide Number Placeholder 3"/>
          <p:cNvSpPr>
            <a:spLocks noGrp="1"/>
          </p:cNvSpPr>
          <p:nvPr>
            <p:ph type="sldNum" sz="quarter" idx="10"/>
          </p:nvPr>
        </p:nvSpPr>
        <p:spPr bwMode="auto"/>
        <p:txBody>
          <a:bodyPr/>
          <a:lstStyle/>
          <a:p>
            <a:pPr>
              <a:defRPr/>
            </a:pPr>
            <a:fld id="{65F34202-29D9-1698-EE84-DF0EFAE0008E}"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79573" name="Slide Image Placeholder 1"/>
          <p:cNvSpPr>
            <a:spLocks noGrp="1" noRot="1" noChangeAspect="1"/>
          </p:cNvSpPr>
          <p:nvPr>
            <p:ph type="sldImg"/>
          </p:nvPr>
        </p:nvSpPr>
        <p:spPr bwMode="auto"/>
      </p:sp>
      <p:sp>
        <p:nvSpPr>
          <p:cNvPr id="73573192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Azure Container Apps controla el escalado mediante declaración. Defines desencadenadores y límites y la plataforma administra las réplicas automáticamente.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KEDA respalda el motor de escalado, lo que proporciona acceso a decenas de orígenes de eventos, más allá del tráfico HTTP.</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escala a cero elimina los cargos de proceso durante períodos de inactividad, lo que es fundamental para las cargas de trabajo de IA con patrones de inferencia intermitentes.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escenario del módulo implica un servicio de procesamiento de pedidos de comercio electrónico que necesita controlar el tráfico de la API HTTP y el procesamiento de colas de Service Bus con diferentes comportamientos de escalado.</a:t>
            </a:r>
            <a:endParaRPr sz="1200"/>
          </a:p>
          <a:p>
            <a:pPr>
              <a:defRPr/>
            </a:pPr>
            <a:endParaRPr/>
          </a:p>
        </p:txBody>
      </p:sp>
      <p:sp>
        <p:nvSpPr>
          <p:cNvPr id="1053990122" name="Slide Number Placeholder 3"/>
          <p:cNvSpPr>
            <a:spLocks noGrp="1"/>
          </p:cNvSpPr>
          <p:nvPr>
            <p:ph type="sldNum" sz="quarter" idx="10"/>
          </p:nvPr>
        </p:nvSpPr>
        <p:spPr bwMode="auto"/>
        <p:txBody>
          <a:bodyPr/>
          <a:lstStyle/>
          <a:p>
            <a:pPr>
              <a:defRPr/>
            </a:pPr>
            <a:fld id="{46EF9690-F434-6C3D-1486-B2EDE16BD272}"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18649" name="Slide Image Placeholder 1"/>
          <p:cNvSpPr>
            <a:spLocks noGrp="1" noRot="1" noChangeAspect="1"/>
          </p:cNvSpPr>
          <p:nvPr>
            <p:ph type="sldImg"/>
          </p:nvPr>
        </p:nvSpPr>
        <p:spPr bwMode="auto"/>
      </p:sp>
      <p:sp>
        <p:nvSpPr>
          <p:cNvPr id="136247193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Las definiciones de escalado combinan límites, reglas y comportamiento. La plataforma evalúa todas las reglas y usa el número de réplicas más alto.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HTTP calcula la simultaneidad en una ventana de 15 segundos. El umbral predeterminado de 10 solicitudes simultáneas por réplica suele ser demasiado bajo para producción. Ajústalo en función de la capacidad real de la aplicación.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reglas de CPU y memoria requieren al menos una réplica en ejecución para medir el uso, por lo que nunca se pueden escalar a cero. Combínalas con reglas controladas por eventos o HTTP si necesitas escalar a cero.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vertical es inmediato con pasos progresivos (1, 4, 8, 16, 32). La reducción vertical espera 300 segundos (período de enfriamiento) para evitar la limitación.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período de acceso esporádico significa que las réplicas se conservan durante cinco minutos después de la caída del tráfico. Ten esto en cuenta al calcular los costes de las cargas de trabajo intermitentes.</a:t>
            </a:r>
            <a:endParaRPr sz="1200"/>
          </a:p>
          <a:p>
            <a:pPr>
              <a:defRPr/>
            </a:pPr>
            <a:endParaRPr/>
          </a:p>
        </p:txBody>
      </p:sp>
      <p:sp>
        <p:nvSpPr>
          <p:cNvPr id="1149824769" name="Slide Number Placeholder 3"/>
          <p:cNvSpPr>
            <a:spLocks noGrp="1"/>
          </p:cNvSpPr>
          <p:nvPr>
            <p:ph type="sldNum" sz="quarter" idx="5"/>
          </p:nvPr>
        </p:nvSpPr>
        <p:spPr bwMode="auto"/>
        <p:txBody>
          <a:bodyPr/>
          <a:lstStyle/>
          <a:p>
            <a:pPr>
              <a:defRPr/>
            </a:pPr>
            <a:fld id="{B7BC796B-60B1-EC1A-87B6-BA28E3526489}"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575830" name="Slide Image Placeholder 1"/>
          <p:cNvSpPr>
            <a:spLocks noGrp="1" noRot="1" noChangeAspect="1"/>
          </p:cNvSpPr>
          <p:nvPr>
            <p:ph type="sldImg"/>
          </p:nvPr>
        </p:nvSpPr>
        <p:spPr bwMode="auto"/>
      </p:sp>
      <p:sp>
        <p:nvSpPr>
          <p:cNvPr id="207178770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escalado controlado por eventos responde a señales externas como la profundidad de la cola o el retraso de partición, en lugar de tráfico HTTP directo.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de Service Bus divide el recuento de mensajes activos por el umbral messageCount. Si messageCount es 5 y se ponen en cola 50 mensajes, el escalador solicita 10 réplicas.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de Event Hubs supervisa el intervalo del grupo de consumidores por partición. El número máximo de réplicas eficaces es igual al recuento de particiones, ya que cada partición solo puede tener un consumidor por grupo.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la autenticación, la identidad administrada elimina los requisitos de rotación de secretos y reduce el riesgo de exposición de credenciales. Usa –scale-rule-identity instead of –scale-rule-auth cuando el escalador lo admita.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cola de almacenamiento es más sencilla y económica que Service Bus, pero carece de características como sesiones, colas de mensajes fallidos y mensajes programados.</a:t>
            </a:r>
            <a:endParaRPr sz="1200"/>
          </a:p>
          <a:p>
            <a:pPr>
              <a:defRPr/>
            </a:pPr>
            <a:endParaRPr/>
          </a:p>
        </p:txBody>
      </p:sp>
      <p:sp>
        <p:nvSpPr>
          <p:cNvPr id="533664395" name="Slide Number Placeholder 3"/>
          <p:cNvSpPr>
            <a:spLocks noGrp="1"/>
          </p:cNvSpPr>
          <p:nvPr>
            <p:ph type="sldNum" sz="quarter" idx="5"/>
          </p:nvPr>
        </p:nvSpPr>
        <p:spPr bwMode="auto"/>
        <p:txBody>
          <a:bodyPr/>
          <a:lstStyle/>
          <a:p>
            <a:pPr>
              <a:defRPr/>
            </a:pPr>
            <a:fld id="{10B4D7BB-47DA-46D4-B152-A08B9EBCF1F1}"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2976033" name="Slide Image Placeholder 1"/>
          <p:cNvSpPr>
            <a:spLocks noGrp="1" noRot="1" noChangeAspect="1"/>
          </p:cNvSpPr>
          <p:nvPr>
            <p:ph type="sldImg"/>
          </p:nvPr>
        </p:nvSpPr>
        <p:spPr bwMode="auto"/>
      </p:sp>
      <p:sp>
        <p:nvSpPr>
          <p:cNvPr id="87553383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Container Apps admite cualquier escalador KEDA basado en ScaledObject, lo que proporciona acceso a decenas de orígenes de eventos.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Kafka y Event Hubs comparten la restricción de partición. El recuento de réplicas por encima del recuento de particiones no ofrece ninguna ventaja. Planea el recuento de particiones en función de las necesidades de paralelismo máximo.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Cron es eficaz cuando se combina con escaladores reactivos. Establece cinco réplicas durante el horario comercial con una regla Cron y deja que el escalado HTTP controle las variaciones. Fuera de la ventana Cron, la aplicación puede escalar a cero.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de listas de Redis usa LLEN para una profundidad de cola sencilla. El escalado de Secuencias de Redis realiza un seguimiento de las entradas pendientes por grupo de consumidores, lo que tiene en cuenta el trabajo en curso.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Al convertir de KEDA nativo en Kubernetes, las principales diferencias son la ausencia del recurso TriggerAuthentication (usa secretos directamente) y que es posible que algunas funciones avanzadas no estén disponibles en Container Apps.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de Prometheus permite el escalado controlado por métricas empresariales. Escala en función de las sesiones activas, las transacciones pendientes o los indicadores de SLO personalizados.</a:t>
            </a:r>
            <a:endParaRPr sz="1200"/>
          </a:p>
          <a:p>
            <a:pPr>
              <a:defRPr/>
            </a:pPr>
            <a:endParaRPr/>
          </a:p>
        </p:txBody>
      </p:sp>
      <p:sp>
        <p:nvSpPr>
          <p:cNvPr id="662955939" name="Slide Number Placeholder 3"/>
          <p:cNvSpPr>
            <a:spLocks noGrp="1"/>
          </p:cNvSpPr>
          <p:nvPr>
            <p:ph type="sldNum" sz="quarter" idx="5"/>
          </p:nvPr>
        </p:nvSpPr>
        <p:spPr bwMode="auto"/>
        <p:txBody>
          <a:bodyPr/>
          <a:lstStyle/>
          <a:p>
            <a:pPr>
              <a:defRPr/>
            </a:pPr>
            <a:fld id="{1759E423-A47E-586E-FBF1-2B304E084B05}"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3752741" name="Slide Image Placeholder 1"/>
          <p:cNvSpPr>
            <a:spLocks noGrp="1" noRot="1" noChangeAspect="1"/>
          </p:cNvSpPr>
          <p:nvPr>
            <p:ph type="sldImg"/>
          </p:nvPr>
        </p:nvSpPr>
        <p:spPr bwMode="auto"/>
      </p:sp>
      <p:sp>
        <p:nvSpPr>
          <p:cNvPr id="195327351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asignación predeterminada es 0,25 vCPU y 0,5 GiB. Comienza aquí y aumenta en función de las métricas observadas, no de las suposiciones.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plan de consumo máximo es 4 vCPU y 8 GiB por contenedor. ¿Necesita más? Usa perfiles de carga de trabajo dedicados.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Normalmente, el plan de consumo es más rentable para el tráfico variable. Pagas por vCPU-second y GiB-second consumido. Los perfiles dedicados tienen sentido para el uso coherente, necesidades de GPU o requisitos de latencia estrictos.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restricción de proporción de memoria a CPU (memoria &gt;= 2x CPU en GiB) simplifica la planificación de capacidad, pero limita la flexibilidad. Por ejemplo, la CPU 0.5 requiere al menos 1,0 GiB de memoria.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Compensación entre el tamaño de réplica y la granularidad: las réplicas más grandes reducen la frecuencia de escalado, pero proporcionan pasos más generales. Las réplicas más pequeñas proporcionan un escalado preciso, pero más abandono. Planifica en función del perfil de solicitud de tu carga de trabajo.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Supervisa con Azure Monitor Observa un uso elevado sostenido (infraaprovisionado) o un uso constantemente bajo (sobreaprovisionado).</a:t>
            </a:r>
            <a:endParaRPr sz="1200"/>
          </a:p>
          <a:p>
            <a:pPr>
              <a:defRPr/>
            </a:pPr>
            <a:endParaRPr/>
          </a:p>
        </p:txBody>
      </p:sp>
      <p:sp>
        <p:nvSpPr>
          <p:cNvPr id="1804894772" name="Slide Number Placeholder 3"/>
          <p:cNvSpPr>
            <a:spLocks noGrp="1"/>
          </p:cNvSpPr>
          <p:nvPr>
            <p:ph type="sldNum" sz="quarter" idx="5"/>
          </p:nvPr>
        </p:nvSpPr>
        <p:spPr bwMode="auto"/>
        <p:txBody>
          <a:bodyPr/>
          <a:lstStyle/>
          <a:p>
            <a:pPr>
              <a:defRPr/>
            </a:pPr>
            <a:fld id="{AE0C18E9-185C-BEA1-DF50-03654873D321}"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631908" name="Slide Image Placeholder 1"/>
          <p:cNvSpPr>
            <a:spLocks noGrp="1" noRot="1" noChangeAspect="1"/>
          </p:cNvSpPr>
          <p:nvPr>
            <p:ph type="sldImg"/>
          </p:nvPr>
        </p:nvSpPr>
        <p:spPr bwMode="auto"/>
      </p:sp>
      <p:sp>
        <p:nvSpPr>
          <p:cNvPr id="117971629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modo de revisión única controla la mayoría de los escenarios de implementación. La plataforma administra automáticamente las transiciones sin tiempo de inactividad.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modo de revisión múltiple agrega la división del tráfico a costa de la complejidad operativa. Controlas cuándo cambiar el tráfico y cuándo desactivar revisiones antiguas.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Cada revisión activa escala de forma independiente en función de su propio uso compartido de tráfico. Dos revisiones al 50-50 % pueden usar más recursos totales que una revisión al 100 % porque cada una mantiene sus propias réplicas mínimas.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Patrón de implementación de valores controlados: implementa una nueva revisión, empieza en un 5-10% de tráfico, supervisa errores, aumenta gradualmente y, a continuación, cambia al 100 % y desactiva la revisión antigua.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etiquetas de revisión crean direcciones URL únicas por revisión. Usa etiquetas para proporcionar a los evaluadores acceso directo a una revisión de valor controlado sin afectar a la división del tráfico principal.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Implementación azul-verde basada en etiquetas: asigna la etiqueta "azul" a producción y "verde" a ensayo. Mover la etiqueta es una operación atómica que redirige inmediatamente el tráfico.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Desactiva revisiones antiguas inmediatamente después de las transiciones. Las revisiones inactivas no consumen recursos, pero permanecen disponibles para la reactivación (hasta 100 almacenadas).</a:t>
            </a:r>
            <a:endParaRPr sz="1200"/>
          </a:p>
          <a:p>
            <a:pPr>
              <a:defRPr/>
            </a:pPr>
            <a:endParaRPr/>
          </a:p>
        </p:txBody>
      </p:sp>
      <p:sp>
        <p:nvSpPr>
          <p:cNvPr id="1666772148" name="Slide Number Placeholder 3"/>
          <p:cNvSpPr>
            <a:spLocks noGrp="1"/>
          </p:cNvSpPr>
          <p:nvPr>
            <p:ph type="sldNum" sz="quarter" idx="5"/>
          </p:nvPr>
        </p:nvSpPr>
        <p:spPr bwMode="auto"/>
        <p:txBody>
          <a:bodyPr/>
          <a:lstStyle/>
          <a:p>
            <a:pPr>
              <a:defRPr/>
            </a:pPr>
            <a:fld id="{E5EECAD7-9CB4-5246-4D80-18F24A4C8CF4}"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6066254" name="Slide Image Placeholder 1"/>
          <p:cNvSpPr>
            <a:spLocks noGrp="1" noRot="1" noChangeAspect="1"/>
          </p:cNvSpPr>
          <p:nvPr>
            <p:ph type="sldImg"/>
          </p:nvPr>
        </p:nvSpPr>
        <p:spPr bwMode="auto"/>
      </p:sp>
      <p:sp>
        <p:nvSpPr>
          <p:cNvPr id="1203715888"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499843449" name="Header Placeholder 3"/>
          <p:cNvSpPr>
            <a:spLocks noGrp="1"/>
          </p:cNvSpPr>
          <p:nvPr>
            <p:ph type="hdr" sz="quarter" idx="6"/>
          </p:nvPr>
        </p:nvSpPr>
        <p:spPr bwMode="auto"/>
        <p:txBody>
          <a:bodyPr/>
          <a:lstStyle/>
          <a:p>
            <a:pPr>
              <a:defRPr/>
            </a:pPr>
            <a:endParaRPr lang="en-US"/>
          </a:p>
        </p:txBody>
      </p:sp>
      <p:sp>
        <p:nvSpPr>
          <p:cNvPr id="1067262284"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584357935" name="Date Placeholder 5"/>
          <p:cNvSpPr>
            <a:spLocks noGrp="1"/>
          </p:cNvSpPr>
          <p:nvPr>
            <p:ph type="dt" idx="10"/>
          </p:nvPr>
        </p:nvSpPr>
        <p:spPr bwMode="auto"/>
        <p:txBody>
          <a:bodyPr/>
          <a:lstStyle/>
          <a:p>
            <a:pPr>
              <a:defRPr/>
            </a:pPr>
            <a:fld id="{22FD8069-D363-B1FD-C85A-30544EF19ECA}" type="datetime8">
              <a:rPr lang="en-US"/>
              <a:t>10/9/2026 2:33 PM</a:t>
            </a:fld>
            <a:endParaRPr lang="en-US"/>
          </a:p>
        </p:txBody>
      </p:sp>
      <p:sp>
        <p:nvSpPr>
          <p:cNvPr id="455166684" name="Slide Number Placeholder 6"/>
          <p:cNvSpPr>
            <a:spLocks noGrp="1"/>
          </p:cNvSpPr>
          <p:nvPr>
            <p:ph type="sldNum" sz="quarter" idx="5"/>
          </p:nvPr>
        </p:nvSpPr>
        <p:spPr bwMode="auto"/>
        <p:txBody>
          <a:bodyPr/>
          <a:lstStyle/>
          <a:p>
            <a:pPr>
              <a:defRPr/>
            </a:pPr>
            <a:fld id="{1832D111-37E3-EE75-0870-1F0A4C533A8B}"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44613" name="Slide Image Placeholder 1"/>
          <p:cNvSpPr>
            <a:spLocks noGrp="1" noRot="1" noChangeAspect="1"/>
          </p:cNvSpPr>
          <p:nvPr>
            <p:ph type="sldImg"/>
          </p:nvPr>
        </p:nvSpPr>
        <p:spPr bwMode="auto"/>
      </p:sp>
      <p:sp>
        <p:nvSpPr>
          <p:cNvPr id="39181287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Respuesta a la pregunta 1: Establecer –min-replicas 0 con una regla de escalado de azure-servicebus. El escalador de Service Bus supervisa la profundidad de la cola y admite el escalado a cero. Las reglas de CPU no pueden escalar a cero. Las reglas HTTP no supervisan la profundidad de la cola.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Respuesta a la pregunta 2: Configurar una regla de escalado cron combinada con una regla de escalado HTTP. Cron escala previamente a cinco réplicas durante el horario comercial. HTTP controla variaciones en tiempo real. Fuera de la ventana cron, la aplicación escala a cero. Si se establecen réplicas mínimas en cinco, se evita el escalado a cero por completo. Las reglas de CPU tampoco pueden escalar a cero.</a:t>
            </a:r>
            <a:endParaRPr sz="1200"/>
          </a:p>
          <a:p>
            <a:pPr>
              <a:defRPr/>
            </a:pPr>
            <a:endParaRPr/>
          </a:p>
        </p:txBody>
      </p:sp>
      <p:sp>
        <p:nvSpPr>
          <p:cNvPr id="865183001" name="Slide Number Placeholder 3"/>
          <p:cNvSpPr>
            <a:spLocks noGrp="1"/>
          </p:cNvSpPr>
          <p:nvPr>
            <p:ph type="sldNum" sz="quarter" idx="5"/>
          </p:nvPr>
        </p:nvSpPr>
        <p:spPr bwMode="auto"/>
        <p:txBody>
          <a:bodyPr/>
          <a:lstStyle/>
          <a:p>
            <a:pPr>
              <a:defRPr/>
            </a:pPr>
            <a:fld id="{09C70FE0-6A25-4C3D-BAA1-7E809F005FC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0313348" name="Slide Image Placeholder 1"/>
          <p:cNvSpPr>
            <a:spLocks noGrp="1" noRot="1" noChangeAspect="1"/>
          </p:cNvSpPr>
          <p:nvPr>
            <p:ph type="sldImg"/>
          </p:nvPr>
        </p:nvSpPr>
        <p:spPr bwMode="auto"/>
      </p:sp>
      <p:sp>
        <p:nvSpPr>
          <p:cNvPr id="673788682" name="Notes Placeholder 2"/>
          <p:cNvSpPr>
            <a:spLocks noGrp="1"/>
          </p:cNvSpPr>
          <p:nvPr>
            <p:ph type="body" idx="1"/>
          </p:nvPr>
        </p:nvSpPr>
        <p:spPr bwMode="auto"/>
        <p:txBody>
          <a:bodyPr/>
          <a:lstStyle/>
          <a:p>
            <a:pPr>
              <a:defRPr/>
            </a:pPr>
            <a:r>
              <a:rPr lang="en-US"/>
              <a:t> Prompt Microsoft Copilot Chat: </a:t>
            </a:r>
            <a:endParaRPr/>
          </a:p>
          <a:p>
            <a:pPr>
              <a:defRPr/>
            </a:pPr>
            <a:endParaRPr/>
          </a:p>
          <a:p>
            <a:pPr marL="0" marR="0" lvl="0" indent="0" algn="l" defTabSz="914400" rtl="0">
              <a:lnSpc>
                <a:spcPct val="100000"/>
              </a:lnSpc>
              <a:spcBef>
                <a:spcPct val="0"/>
              </a:spcBef>
              <a:spcAft>
                <a:spcPct val="0"/>
              </a:spcAft>
              <a:buClrTx/>
              <a:buSzTx/>
              <a:buFontTx/>
              <a:buNone/>
              <a:defRPr/>
            </a:pPr>
            <a:r>
              <a:rPr lang="en-US"/>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a:p>
          <a:p>
            <a:pPr>
              <a:defRPr/>
            </a:pPr>
            <a:endParaRPr/>
          </a:p>
        </p:txBody>
      </p:sp>
      <p:sp>
        <p:nvSpPr>
          <p:cNvPr id="2098719112"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697773311"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449483477"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FB0AD94D-F257-7AC5-A551-9E77DA5F4511}" type="datetime8">
              <a:rPr lang="en-US" sz="1200" b="0" i="0" u="none" strike="noStrike" cap="none" spc="0">
                <a:ln>
                  <a:noFill/>
                </a:ln>
                <a:solidFill>
                  <a:prstClr val="black"/>
                </a:solidFill>
                <a:latin typeface="Segoe UI"/>
                <a:ea typeface="Arial"/>
                <a:cs typeface="Arial"/>
              </a:rPr>
              <a:t>10/9/2026 2:33 PM</a:t>
            </a:fld>
            <a:endParaRPr lang="en-US" sz="1200" b="0" i="0" u="none" strike="noStrike" cap="none" spc="0">
              <a:ln>
                <a:noFill/>
              </a:ln>
              <a:solidFill>
                <a:prstClr val="black"/>
              </a:solidFill>
              <a:latin typeface="Segoe UI"/>
              <a:ea typeface="+mn-ea"/>
              <a:cs typeface="+mn-cs"/>
            </a:endParaRPr>
          </a:p>
        </p:txBody>
      </p:sp>
      <p:sp>
        <p:nvSpPr>
          <p:cNvPr id="671633278"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1AEBF732-0A4B-E7E0-E845-8DB50BF09617}" type="slidenum">
              <a:rPr lang="en-US" sz="1200" b="0" i="0" u="none" strike="noStrike" cap="none" spc="0">
                <a:ln>
                  <a:noFill/>
                </a:ln>
                <a:solidFill>
                  <a:prstClr val="black"/>
                </a:solidFill>
                <a:latin typeface="Segoe UI"/>
                <a:ea typeface="Arial"/>
                <a:cs typeface="Arial"/>
              </a:rPr>
              <a:t>37</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181559" name="Slide Image Placeholder 1"/>
          <p:cNvSpPr>
            <a:spLocks noGrp="1" noRot="1" noChangeAspect="1"/>
          </p:cNvSpPr>
          <p:nvPr>
            <p:ph type="sldImg"/>
          </p:nvPr>
        </p:nvSpPr>
        <p:spPr bwMode="auto"/>
      </p:sp>
      <p:sp>
        <p:nvSpPr>
          <p:cNvPr id="106573897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Conclusión clave: la directiva de indexación predeterminada funciona para el desarrollo, pero desperdicia almacenamiento y RU a escala de producción. La indexación selectiva con índices de intervalo, compuestos y vectores de destino ofrece el mejor equilibrio de rendimiento de costes.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Optimizaciones más impactantes: excluye inserciones de índices de intervalo, crea índices compuestos para consultas frecuentes de filtro+ordenación y usa la coherencia de sesión en lugar de fuerte.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Pasos siguientes: aplica estas técnicas a sus propias cargas de trabajo de Cosmos DB y mide el ahorro de RU con comparaciones anteriores/posteriores.</a:t>
            </a:r>
            <a:endParaRPr sz="1200"/>
          </a:p>
          <a:p>
            <a:pPr>
              <a:defRPr/>
            </a:pPr>
            <a:endParaRPr/>
          </a:p>
        </p:txBody>
      </p:sp>
      <p:sp>
        <p:nvSpPr>
          <p:cNvPr id="520973001" name="Slide Number Placeholder 3"/>
          <p:cNvSpPr>
            <a:spLocks noGrp="1"/>
          </p:cNvSpPr>
          <p:nvPr>
            <p:ph type="sldNum" sz="quarter" idx="10"/>
          </p:nvPr>
        </p:nvSpPr>
        <p:spPr bwMode="auto"/>
        <p:txBody>
          <a:bodyPr/>
          <a:lstStyle/>
          <a:p>
            <a:pPr>
              <a:defRPr/>
            </a:pPr>
            <a:fld id="{74A9FDBF-85F5-18F9-2838-12EE9F51AD40}"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0633171" name="Slide Image Placeholder 1"/>
          <p:cNvSpPr>
            <a:spLocks noGrp="1" noRot="1" noChangeAspect="1"/>
          </p:cNvSpPr>
          <p:nvPr>
            <p:ph type="sldImg"/>
          </p:nvPr>
        </p:nvSpPr>
        <p:spPr bwMode="auto"/>
      </p:sp>
      <p:sp>
        <p:nvSpPr>
          <p:cNvPr id="1387359055" name="Notes Placeholder 2"/>
          <p:cNvSpPr>
            <a:spLocks noGrp="1"/>
          </p:cNvSpPr>
          <p:nvPr>
            <p:ph type="body" idx="1"/>
          </p:nvPr>
        </p:nvSpPr>
        <p:spPr bwMode="auto"/>
        <p:txBody>
          <a:bodyPr/>
          <a:lstStyle/>
          <a:p>
            <a:pPr>
              <a:defRPr/>
            </a:pPr>
            <a:endParaRPr/>
          </a:p>
        </p:txBody>
      </p:sp>
      <p:sp>
        <p:nvSpPr>
          <p:cNvPr id="2016506544" name="Slide Number Placeholder 3"/>
          <p:cNvSpPr>
            <a:spLocks noGrp="1"/>
          </p:cNvSpPr>
          <p:nvPr>
            <p:ph type="sldNum" sz="quarter" idx="10"/>
          </p:nvPr>
        </p:nvSpPr>
        <p:spPr bwMode="auto"/>
        <p:txBody>
          <a:bodyPr/>
          <a:lstStyle/>
          <a:p>
            <a:pPr>
              <a:defRPr/>
            </a:pPr>
            <a:fld id="{51BF2C84-6280-ECAE-B806-A052F669F56E}" type="slidenum">
              <a:rPr/>
              <a:t>39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a:stretch>
        </a:blipFill>
        <a:effectLst/>
      </p:bgPr>
    </p:bg>
    <p:spTree>
      <p:nvGrpSpPr>
        <p:cNvPr id="1" name=""/>
        <p:cNvGrpSpPr/>
        <p:nvPr/>
      </p:nvGrpSpPr>
      <p:grpSpPr>
        <a:xfrm>
          <a:off x="0" y="0"/>
          <a:ext cx="0" cy="0"/>
          <a:chOff x="0" y="0"/>
          <a:chExt cx="0" cy="0"/>
        </a:xfrm>
      </p:grpSpPr>
      <p:pic>
        <p:nvPicPr>
          <p:cNvPr id="669278160" name="MS logo gray - EMF" descr="Microsoft logo, gray text version"/>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4200" y="585789"/>
            <a:ext cx="1366440" cy="292608"/>
          </a:xfrm>
          <a:prstGeom prst="rect">
            <a:avLst/>
          </a:prstGeom>
        </p:spPr>
      </p:pic>
      <p:sp>
        <p:nvSpPr>
          <p:cNvPr id="1459903545"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fillRect t="-5000" b="-5000"/>
          </a:stretch>
        </a:blipFill>
        <a:effectLst/>
      </p:bgPr>
    </p:bg>
    <p:spTree>
      <p:nvGrpSpPr>
        <p:cNvPr id="1" name=""/>
        <p:cNvGrpSpPr/>
        <p:nvPr/>
      </p:nvGrpSpPr>
      <p:grpSpPr>
        <a:xfrm>
          <a:off x="0" y="0"/>
          <a:ext cx="0" cy="0"/>
          <a:chOff x="0" y="0"/>
          <a:chExt cx="0" cy="0"/>
        </a:xfrm>
      </p:grpSpPr>
      <p:sp>
        <p:nvSpPr>
          <p:cNvPr id="951799413" name="Title 1"/>
          <p:cNvSpPr>
            <a:spLocks noGrp="1"/>
          </p:cNvSpPr>
          <p:nvPr>
            <p:ph type="title" hasCustomPrompt="1"/>
          </p:nvPr>
        </p:nvSpPr>
        <p:spPr bwMode="auto">
          <a:xfrm>
            <a:off x="581340" y="3514705"/>
            <a:ext cx="6472474" cy="565091"/>
          </a:xfrm>
          <a:prstGeom prst="rect">
            <a:avLst/>
          </a:prstGeom>
          <a:noFill/>
        </p:spPr>
        <p:txBody>
          <a:bodyPr wrap="square" lIns="0" tIns="0" rIns="0" bIns="0" anchor="b" anchorCtr="0">
            <a:spAutoFit/>
          </a:bodyPr>
          <a:lstStyle>
            <a:lvl1pPr>
              <a:defRPr sz="4100" b="0" i="0" spc="-51">
                <a:solidFill>
                  <a:schemeClr val="tx1"/>
                </a:solidFill>
                <a:latin typeface="+mn-lt"/>
                <a:cs typeface="Segoe UI"/>
              </a:defRPr>
            </a:lvl1pPr>
          </a:lstStyle>
          <a:p>
            <a:pPr>
              <a:defRPr/>
            </a:pPr>
            <a:r>
              <a:rPr lang="en-US"/>
              <a:t>Section divider title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a:xfrm>
          <a:off x="0" y="0"/>
          <a:ext cx="0" cy="0"/>
          <a:chOff x="0" y="0"/>
          <a:chExt cx="0" cy="0"/>
        </a:xfrm>
      </p:grpSpPr>
      <p:sp>
        <p:nvSpPr>
          <p:cNvPr id="1561193164"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491230991"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1966963307"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solidFill>
          <a:srgbClr val="F4F3F5"/>
        </a:solidFill>
        <a:effectLst/>
      </p:bgPr>
    </p:bg>
    <p:spTree>
      <p:nvGrpSpPr>
        <p:cNvPr id="1" name=""/>
        <p:cNvGrpSpPr/>
        <p:nvPr/>
      </p:nvGrpSpPr>
      <p:grpSpPr>
        <a:xfrm>
          <a:off x="0" y="0"/>
          <a:ext cx="0" cy="0"/>
          <a:chOff x="0" y="0"/>
          <a:chExt cx="0" cy="0"/>
        </a:xfrm>
      </p:grpSpPr>
      <p:sp>
        <p:nvSpPr>
          <p:cNvPr id="1141664210" name="Title 6"/>
          <p:cNvSpPr>
            <a:spLocks noGrp="1"/>
          </p:cNvSpPr>
          <p:nvPr>
            <p:ph type="title"/>
          </p:nvPr>
        </p:nvSpPr>
        <p:spPr bwMode="auto"/>
        <p:txBody>
          <a:bodyPr/>
          <a:lstStyle/>
          <a:p>
            <a:pPr>
              <a:defRPr/>
            </a:pPr>
            <a:r>
              <a:rPr lang="en-US"/>
              <a:t>Click to edit Master title style</a:t>
            </a:r>
            <a:endParaRPr/>
          </a:p>
        </p:txBody>
      </p:sp>
      <p:pic>
        <p:nvPicPr>
          <p:cNvPr id="1403410158" name="Graphic 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1" y="3207262"/>
            <a:ext cx="12192001" cy="3095623"/>
          </a:xfrm>
          <a:prstGeom prst="rect">
            <a:avLst/>
          </a:prstGeom>
        </p:spPr>
      </p:pic>
      <p:sp>
        <p:nvSpPr>
          <p:cNvPr id="127980758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a:xfrm>
          <a:off x="0" y="0"/>
          <a:ext cx="0" cy="0"/>
          <a:chOff x="0" y="0"/>
          <a:chExt cx="0" cy="0"/>
        </a:xfrm>
      </p:grpSpPr>
      <p:sp>
        <p:nvSpPr>
          <p:cNvPr id="1060989353" name="Title 1"/>
          <p:cNvSpPr>
            <a:spLocks noGrp="1"/>
          </p:cNvSpPr>
          <p:nvPr>
            <p:ph type="title"/>
          </p:nvPr>
        </p:nvSpPr>
        <p:spPr bwMode="auto"/>
        <p:txBody>
          <a:bodyPr/>
          <a:lstStyle/>
          <a:p>
            <a:pPr>
              <a:defRPr/>
            </a:pPr>
            <a:r>
              <a:rPr lang="en-US"/>
              <a:t>Click to edit Master title style</a:t>
            </a:r>
            <a:endParaRPr/>
          </a:p>
        </p:txBody>
      </p:sp>
      <p:sp>
        <p:nvSpPr>
          <p:cNvPr id="214070418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a:xfrm>
          <a:off x="0" y="0"/>
          <a:ext cx="0" cy="0"/>
          <a:chOff x="0" y="0"/>
          <a:chExt cx="0" cy="0"/>
        </a:xfrm>
      </p:grpSpPr>
      <p:sp>
        <p:nvSpPr>
          <p:cNvPr id="1483512612" name="Title 1"/>
          <p:cNvSpPr>
            <a:spLocks noGrp="1"/>
          </p:cNvSpPr>
          <p:nvPr>
            <p:ph type="title"/>
          </p:nvPr>
        </p:nvSpPr>
        <p:spPr bwMode="auto"/>
        <p:txBody>
          <a:bodyPr/>
          <a:lstStyle/>
          <a:p>
            <a:pPr>
              <a:defRPr/>
            </a:pPr>
            <a:r>
              <a:rPr lang="en-US"/>
              <a:t>Click to edit Master title style</a:t>
            </a:r>
            <a:endParaRPr/>
          </a:p>
        </p:txBody>
      </p:sp>
      <p:sp>
        <p:nvSpPr>
          <p:cNvPr id="824836748"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63844357"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a:xfrm>
          <a:off x="0" y="0"/>
          <a:ext cx="0" cy="0"/>
          <a:chOff x="0" y="0"/>
          <a:chExt cx="0" cy="0"/>
        </a:xfrm>
      </p:grpSpPr>
      <p:sp>
        <p:nvSpPr>
          <p:cNvPr id="152291261"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48478309"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66365254"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714116"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a:xfrm>
          <a:off x="0" y="0"/>
          <a:ext cx="0" cy="0"/>
          <a:chOff x="0" y="0"/>
          <a:chExt cx="0" cy="0"/>
        </a:xfrm>
      </p:grpSpPr>
      <p:sp>
        <p:nvSpPr>
          <p:cNvPr id="2005456824"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153926226"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42529314"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a:xfrm>
          <a:off x="0" y="0"/>
          <a:ext cx="0" cy="0"/>
          <a:chOff x="0" y="0"/>
          <a:chExt cx="0" cy="0"/>
        </a:xfrm>
      </p:grpSpPr>
      <p:sp>
        <p:nvSpPr>
          <p:cNvPr id="417834261"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434322425" name="Rectangle: Rounded Corners 3"/>
          <p:cNvSpPr/>
          <p:nvPr userDrawn="1"/>
        </p:nvSpPr>
        <p:spPr bwMode="auto">
          <a:xfrm>
            <a:off x="457201" y="1555423"/>
            <a:ext cx="11222610"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a:xfrm>
          <a:off x="0" y="0"/>
          <a:ext cx="0" cy="0"/>
          <a:chOff x="0" y="0"/>
          <a:chExt cx="0" cy="0"/>
        </a:xfrm>
      </p:grpSpPr>
      <p:sp>
        <p:nvSpPr>
          <p:cNvPr id="1165213701"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2078954726"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37652206"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730726999"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6625791"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655463262"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3455939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829589727"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232283465" name="MS logo white - EMF" descr="Microsoft logo white text version"/>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4200" y="585788"/>
            <a:ext cx="1366245" cy="292608"/>
          </a:xfrm>
          <a:prstGeom prst="rect">
            <a:avLst/>
          </a:prstGeom>
        </p:spPr>
      </p:pic>
      <p:pic>
        <p:nvPicPr>
          <p:cNvPr id="1213033632" name="Picture 3" descr="Microsoft Learn&#10;Spark possibility"/>
          <p:cNvPicPr>
            <a:picLocks noGrp="1" noRot="1" noMove="1" noResize="1" noEditPoints="1" noAdjustHandles="1" noChangeArrowheads="1" noChangeShapeType="1" noCrop="1"/>
          </p:cNvPicPr>
          <p:nvPr userDrawn="1"/>
        </p:nvPicPr>
        <p:blipFill>
          <a:blip r:embed="rId3"/>
          <a:stretch>
            <a:fillRect/>
          </a:stretch>
        </p:blipFill>
        <p:spPr bwMode="auto">
          <a:xfrm>
            <a:off x="223228" y="2573202"/>
            <a:ext cx="5344642" cy="1681958"/>
          </a:xfrm>
          <a:prstGeom prst="rect">
            <a:avLst/>
          </a:prstGeom>
        </p:spPr>
      </p:pic>
      <p:sp>
        <p:nvSpPr>
          <p:cNvPr id="20755298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738105011" name="Picture 9"/>
          <p:cNvPicPr>
            <a:picLocks noChangeAspect="1"/>
          </p:cNvPicPr>
          <p:nvPr userDrawn="1"/>
        </p:nvPicPr>
        <p:blipFill>
          <a:blip r:embed="rId2"/>
          <a:stretch>
            <a:fillRect/>
          </a:stretch>
        </p:blipFill>
        <p:spPr bwMode="auto">
          <a:xfrm>
            <a:off x="0" y="0"/>
            <a:ext cx="12192000" cy="6858000"/>
          </a:xfrm>
          <a:prstGeom prst="rect">
            <a:avLst/>
          </a:prstGeom>
        </p:spPr>
      </p:pic>
      <p:pic>
        <p:nvPicPr>
          <p:cNvPr id="1252642832" name="MS logo gray - EMF" descr="Microsoft logo, gray text version"/>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912745108"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472215297"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ct val="0"/>
              </a:spcBef>
              <a:buNone/>
              <a:defRPr sz="1000" spc="0">
                <a:solidFill>
                  <a:schemeClr val="tx1"/>
                </a:solidFill>
                <a:latin typeface="+mn-lt"/>
                <a:cs typeface="Segoe UI"/>
              </a:defRPr>
            </a:lvl1pPr>
          </a:lstStyle>
          <a:p>
            <a:pPr lvl="0">
              <a:defRPr/>
            </a:pPr>
            <a:r>
              <a:rPr lang="en-US"/>
              <a:t>Date</a:t>
            </a:r>
            <a:endParaRPr/>
          </a:p>
        </p:txBody>
      </p:sp>
      <p:sp>
        <p:nvSpPr>
          <p:cNvPr id="12795557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818864906" name="Picture 1"/>
          <p:cNvPicPr>
            <a:picLocks noChangeAspect="1"/>
          </p:cNvPicPr>
          <p:nvPr userDrawn="1"/>
        </p:nvPicPr>
        <p:blipFill>
          <a:blip r:embed="rId2"/>
          <a:srcRect r="19823"/>
          <a:stretch>
            <a:fillRect/>
          </a:stretch>
        </p:blipFill>
        <p:spPr bwMode="auto">
          <a:xfrm>
            <a:off x="2417010" y="0"/>
            <a:ext cx="9774990" cy="6858000"/>
          </a:xfrm>
          <a:prstGeom prst="rect">
            <a:avLst/>
          </a:prstGeom>
        </p:spPr>
      </p:pic>
      <p:sp>
        <p:nvSpPr>
          <p:cNvPr id="1377931786"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4489157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12704482"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35404878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86149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20641799"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74612919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83283725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486766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43001852"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29223232"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170575328"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045158521"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95005770"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949063434"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36177593"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1166394"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4843626"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528990727"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82300461"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205295477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1871680006" name="Picture 2"/>
          <p:cNvPicPr>
            <a:picLocks noChangeAspect="1"/>
          </p:cNvPicPr>
          <p:nvPr userDrawn="1"/>
        </p:nvPicPr>
        <p:blipFill>
          <a:blip r:embed="rId2"/>
          <a:stretch>
            <a:fillRect/>
          </a:stretch>
        </p:blipFill>
        <p:spPr bwMode="auto">
          <a:xfrm>
            <a:off x="0" y="0"/>
            <a:ext cx="12192000" cy="6858000"/>
          </a:xfrm>
          <a:prstGeom prst="rect">
            <a:avLst/>
          </a:prstGeom>
        </p:spPr>
      </p:pic>
      <p:sp>
        <p:nvSpPr>
          <p:cNvPr id="1346681768"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432398166"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68021115"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771021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a:xfrm>
          <a:off x="0" y="0"/>
          <a:ext cx="0" cy="0"/>
          <a:chOff x="0" y="0"/>
          <a:chExt cx="0" cy="0"/>
        </a:xfrm>
      </p:grpSpPr>
      <p:sp>
        <p:nvSpPr>
          <p:cNvPr id="1430058475"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32454362"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400475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a:xfrm>
          <a:off x="0" y="0"/>
          <a:ext cx="0" cy="0"/>
          <a:chOff x="0" y="0"/>
          <a:chExt cx="0" cy="0"/>
        </a:xfrm>
      </p:grpSpPr>
      <p:sp>
        <p:nvSpPr>
          <p:cNvPr id="863358757"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076643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36575612"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a:xfrm>
          <a:off x="0" y="0"/>
          <a:ext cx="0" cy="0"/>
          <a:chOff x="0" y="0"/>
          <a:chExt cx="0" cy="0"/>
        </a:xfrm>
      </p:grpSpPr>
      <p:sp>
        <p:nvSpPr>
          <p:cNvPr id="1234330687"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52502808"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656213778"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5678273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a:xfrm>
          <a:off x="0" y="0"/>
          <a:ext cx="0" cy="0"/>
          <a:chOff x="0" y="0"/>
          <a:chExt cx="0" cy="0"/>
        </a:xfrm>
      </p:grpSpPr>
      <p:sp>
        <p:nvSpPr>
          <p:cNvPr id="16161815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40304561"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85189043"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4719589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a:xfrm>
          <a:off x="0" y="0"/>
          <a:ext cx="0" cy="0"/>
          <a:chOff x="0" y="0"/>
          <a:chExt cx="0" cy="0"/>
        </a:xfrm>
      </p:grpSpPr>
      <p:sp>
        <p:nvSpPr>
          <p:cNvPr id="20995827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0743579"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99909238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98796887"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36194737"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5516351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a:xfrm>
          <a:off x="0" y="0"/>
          <a:ext cx="0" cy="0"/>
          <a:chOff x="0" y="0"/>
          <a:chExt cx="0" cy="0"/>
        </a:xfrm>
      </p:grpSpPr>
      <p:sp>
        <p:nvSpPr>
          <p:cNvPr id="3719303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56857362"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63400901"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07082950"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982146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a:xfrm>
          <a:off x="0" y="0"/>
          <a:ext cx="0" cy="0"/>
          <a:chOff x="0" y="0"/>
          <a:chExt cx="0" cy="0"/>
        </a:xfrm>
      </p:grpSpPr>
      <p:sp>
        <p:nvSpPr>
          <p:cNvPr id="13884082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55376542"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923445309"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80250863"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83910852"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47296230"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672351846"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223960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a:xfrm>
          <a:off x="0" y="0"/>
          <a:ext cx="0" cy="0"/>
          <a:chOff x="0" y="0"/>
          <a:chExt cx="0" cy="0"/>
        </a:xfrm>
      </p:grpSpPr>
      <p:sp>
        <p:nvSpPr>
          <p:cNvPr id="3639726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5231171"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18750137"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68606620"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140763921"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44916154"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39041930"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261664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1547645235"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5356751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03447738"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10767627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46757306"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981252647"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75218202"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83115329"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763173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14544978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63949026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66206912"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589193220"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3374617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376194179"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91108105"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0055"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7253042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26077962"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94476049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54296302"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836331966"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876072470"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5712807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05330107"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1101316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8197702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a:xfrm>
          <a:off x="0" y="0"/>
          <a:ext cx="0" cy="0"/>
          <a:chOff x="0" y="0"/>
          <a:chExt cx="0" cy="0"/>
        </a:xfrm>
      </p:grpSpPr>
      <p:sp>
        <p:nvSpPr>
          <p:cNvPr id="179297400"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2035164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46136145"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687956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327972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a:xfrm>
          <a:off x="0" y="0"/>
          <a:ext cx="0" cy="0"/>
          <a:chOff x="0" y="0"/>
          <a:chExt cx="0" cy="0"/>
        </a:xfrm>
      </p:grpSpPr>
      <p:sp>
        <p:nvSpPr>
          <p:cNvPr id="1289687145"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4409820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49323233"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7010787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a:xfrm>
          <a:off x="0" y="0"/>
          <a:ext cx="0" cy="0"/>
          <a:chOff x="0" y="0"/>
          <a:chExt cx="0" cy="0"/>
        </a:xfrm>
      </p:grpSpPr>
      <p:sp>
        <p:nvSpPr>
          <p:cNvPr id="2094450937"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57548559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36326688"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28329810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8547152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52098707"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8760729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a:xfrm>
          <a:off x="0" y="0"/>
          <a:ext cx="0" cy="0"/>
          <a:chOff x="0" y="0"/>
          <a:chExt cx="0" cy="0"/>
        </a:xfrm>
      </p:grpSpPr>
      <p:sp>
        <p:nvSpPr>
          <p:cNvPr id="906936287"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736725797"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010394578"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60197835"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124970719"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5206963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6625142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a:xfrm>
          <a:off x="0" y="0"/>
          <a:ext cx="0" cy="0"/>
          <a:chOff x="0" y="0"/>
          <a:chExt cx="0" cy="0"/>
        </a:xfrm>
      </p:grpSpPr>
      <p:sp>
        <p:nvSpPr>
          <p:cNvPr id="129399968"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0177663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874220"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37937599"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941125204"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a:xfrm>
          <a:off x="0" y="0"/>
          <a:ext cx="0" cy="0"/>
          <a:chOff x="0" y="0"/>
          <a:chExt cx="0" cy="0"/>
        </a:xfrm>
      </p:grpSpPr>
      <p:sp>
        <p:nvSpPr>
          <p:cNvPr id="1095698143"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98913710"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65752446"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76417968"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8137014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a:xfrm>
          <a:off x="0" y="0"/>
          <a:ext cx="0" cy="0"/>
          <a:chOff x="0" y="0"/>
          <a:chExt cx="0" cy="0"/>
        </a:xfrm>
      </p:grpSpPr>
      <p:sp>
        <p:nvSpPr>
          <p:cNvPr id="692345360"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992860638"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19350800"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069912"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330614714"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35468944"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6959982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a:xfrm>
          <a:off x="0" y="0"/>
          <a:ext cx="0" cy="0"/>
          <a:chOff x="0" y="0"/>
          <a:chExt cx="0" cy="0"/>
        </a:xfrm>
      </p:grpSpPr>
      <p:sp>
        <p:nvSpPr>
          <p:cNvPr id="69465916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0356696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4209528"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35298327"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910722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04859211"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657854786"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9933578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a:xfrm>
          <a:off x="0" y="0"/>
          <a:ext cx="0" cy="0"/>
          <a:chOff x="0" y="0"/>
          <a:chExt cx="0" cy="0"/>
        </a:xfrm>
      </p:grpSpPr>
      <p:sp>
        <p:nvSpPr>
          <p:cNvPr id="8435367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85741049"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30582038"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491725630"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77961868"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83385097"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002555849"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51370478"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53354871"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50945514"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169786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a:xfrm>
          <a:off x="0" y="0"/>
          <a:ext cx="0" cy="0"/>
          <a:chOff x="0" y="0"/>
          <a:chExt cx="0" cy="0"/>
        </a:xfrm>
      </p:grpSpPr>
      <p:sp>
        <p:nvSpPr>
          <p:cNvPr id="168356811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17907757"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776867028"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4398018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79792147"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312020563"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02674300"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16552583"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125316103"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088611109"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6206985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43071171"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02630174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0503994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a:xfrm>
          <a:off x="0" y="0"/>
          <a:ext cx="0" cy="0"/>
          <a:chOff x="0" y="0"/>
          <a:chExt cx="0" cy="0"/>
        </a:xfrm>
      </p:grpSpPr>
      <p:sp>
        <p:nvSpPr>
          <p:cNvPr id="65662885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56552221"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44200786"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761658382"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85673967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26602145"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a:xfrm>
          <a:off x="0" y="0"/>
          <a:ext cx="0" cy="0"/>
          <a:chOff x="0" y="0"/>
          <a:chExt cx="0" cy="0"/>
        </a:xfrm>
      </p:grpSpPr>
      <p:sp>
        <p:nvSpPr>
          <p:cNvPr id="1540651052"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3026969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45017960"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770246413"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94445585"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84476389"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224686925"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583267569"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534524574"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2011548346" name="Picture 2"/>
          <p:cNvPicPr>
            <a:picLocks noChangeAspect="1"/>
          </p:cNvPicPr>
          <p:nvPr userDrawn="1"/>
        </p:nvPicPr>
        <p:blipFill>
          <a:blip r:embed="rId2"/>
          <a:srcRect l="15" r="15210"/>
          <a:stretch>
            <a:fillRect/>
          </a:stretch>
        </p:blipFill>
        <p:spPr bwMode="auto">
          <a:xfrm>
            <a:off x="7458887" y="1759165"/>
            <a:ext cx="4737876" cy="3870680"/>
          </a:xfrm>
          <a:prstGeom prst="rect">
            <a:avLst/>
          </a:prstGeom>
          <a:noFill/>
          <a:ln w="38100">
            <a:noFill/>
          </a:ln>
          <a:effectLst/>
        </p:spPr>
      </p:pic>
      <p:sp>
        <p:nvSpPr>
          <p:cNvPr id="203055188"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2060775958"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42665397"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879982192"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911603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a:xfrm>
          <a:off x="0" y="0"/>
          <a:ext cx="0" cy="0"/>
          <a:chOff x="0" y="0"/>
          <a:chExt cx="0" cy="0"/>
        </a:xfrm>
      </p:grpSpPr>
      <p:sp>
        <p:nvSpPr>
          <p:cNvPr id="148254498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256062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36835836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744405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8033693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1191013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a:xfrm>
          <a:off x="0" y="0"/>
          <a:ext cx="0" cy="0"/>
          <a:chOff x="0" y="0"/>
          <a:chExt cx="0" cy="0"/>
        </a:xfrm>
      </p:grpSpPr>
      <p:sp>
        <p:nvSpPr>
          <p:cNvPr id="773523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3323898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81803847"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499782500"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998580638"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a:xfrm>
          <a:off x="0" y="0"/>
          <a:ext cx="0" cy="0"/>
          <a:chOff x="0" y="0"/>
          <a:chExt cx="0" cy="0"/>
        </a:xfrm>
      </p:grpSpPr>
      <p:sp>
        <p:nvSpPr>
          <p:cNvPr id="5512766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254849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86410674"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36742042"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08154346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312914643"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41748990"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024709980"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4137282"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582539959"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40451269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631070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453806128"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57984366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292843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99344873" name="Graphic 4"/>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1523381062"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1964782390"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34892280"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ct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ct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ct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ct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ct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376449629"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1208864394"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000">
              <a:solidFill>
                <a:srgbClr val="FFFFFF"/>
              </a:solidFill>
              <a:ea typeface="Segoe UI"/>
              <a:cs typeface="Segoe UI"/>
            </a:endParaRPr>
          </a:p>
        </p:txBody>
      </p:sp>
      <p:sp>
        <p:nvSpPr>
          <p:cNvPr id="382488942"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28372"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58851596"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113090724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673086"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788886248"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426728175"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237520928"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37639464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1548091088"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761836397"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39281127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1077001449"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478004790"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486626723"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ct val="0"/>
              </a:spcBef>
              <a:spcAft>
                <a:spcPct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2058336722"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ct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5567808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1839911434" name="Picture 6" descr="Background pattern&#10;&#10;Description automatically generated"/>
          <p:cNvPicPr>
            <a:picLocks noChangeAspect="1"/>
          </p:cNvPicPr>
          <p:nvPr userDrawn="1"/>
        </p:nvPicPr>
        <p:blipFill>
          <a:blip r:embed="rId2"/>
          <a:stretch>
            <a:fillRect/>
          </a:stretch>
        </p:blipFill>
        <p:spPr bwMode="auto">
          <a:xfrm>
            <a:off x="0" y="0"/>
            <a:ext cx="12188952" cy="6856285"/>
          </a:xfrm>
          <a:prstGeom prst="rect">
            <a:avLst/>
          </a:prstGeom>
        </p:spPr>
      </p:pic>
      <p:pic>
        <p:nvPicPr>
          <p:cNvPr id="1007893449" name="MS logo white - EMF"/>
          <p:cNvPicPr>
            <a:picLocks noChangeAspect="1"/>
          </p:cNvPicPr>
          <p:nvPr userDrawn="1"/>
        </p:nvPicPr>
        <p:blipFill>
          <a:blip r:embed="rId3"/>
          <a:stretch>
            <a:fillRect/>
          </a:stretch>
        </p:blipFill>
        <p:spPr bwMode="white">
          <a:xfrm>
            <a:off x="584200" y="585788"/>
            <a:ext cx="1366245" cy="292608"/>
          </a:xfrm>
          <a:prstGeom prst="rect">
            <a:avLst/>
          </a:prstGeom>
        </p:spPr>
      </p:pic>
      <p:sp>
        <p:nvSpPr>
          <p:cNvPr id="1577735095"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646591785"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a:solidFill>
                  <a:schemeClr val="bg1"/>
                </a:solidFill>
                <a:latin typeface="+mn-lt"/>
                <a:cs typeface="Segoe UI"/>
              </a:defRPr>
            </a:lvl1pPr>
          </a:lstStyle>
          <a:p>
            <a:pPr lvl="0">
              <a:defRPr/>
            </a:pPr>
            <a:r>
              <a:rPr lang="en-US"/>
              <a:t>Speaker name or subtitle</a:t>
            </a:r>
            <a:endParaRPr/>
          </a:p>
        </p:txBody>
      </p:sp>
      <p:sp>
        <p:nvSpPr>
          <p:cNvPr id="1349482110"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Date</a:t>
            </a:r>
            <a:endParaRPr/>
          </a:p>
        </p:txBody>
      </p:sp>
      <p:sp>
        <p:nvSpPr>
          <p:cNvPr id="783414661"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Microsoft confidential</a:t>
            </a:r>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a:xfrm>
          <a:off x="0" y="0"/>
          <a:ext cx="0" cy="0"/>
          <a:chOff x="0" y="0"/>
          <a:chExt cx="0" cy="0"/>
        </a:xfrm>
      </p:grpSpPr>
      <p:sp>
        <p:nvSpPr>
          <p:cNvPr id="2036415264"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46377923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a:xfrm>
          <a:off x="0" y="0"/>
          <a:ext cx="0" cy="0"/>
          <a:chOff x="0" y="0"/>
          <a:chExt cx="0" cy="0"/>
        </a:xfrm>
      </p:grpSpPr>
      <p:sp>
        <p:nvSpPr>
          <p:cNvPr id="20219214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139281226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864995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963143949" name="Graphic 3"/>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a:xfrm>
          <a:off x="0" y="0"/>
          <a:ext cx="0" cy="0"/>
          <a:chOff x="0" y="0"/>
          <a:chExt cx="0" cy="0"/>
        </a:xfrm>
      </p:grpSpPr>
      <p:sp>
        <p:nvSpPr>
          <p:cNvPr id="1911222738"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75006396"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20670547"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11587875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2731976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812247079"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758049497"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a:xfrm>
          <a:off x="0" y="0"/>
          <a:ext cx="0" cy="0"/>
          <a:chOff x="0" y="0"/>
          <a:chExt cx="0" cy="0"/>
        </a:xfrm>
      </p:grpSpPr>
      <p:sp>
        <p:nvSpPr>
          <p:cNvPr id="2017511693"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297858075"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15084436"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823233185"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477131693"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31863161"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91468367"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1024459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8180294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a:xfrm>
          <a:off x="0" y="0"/>
          <a:ext cx="0" cy="0"/>
          <a:chOff x="0" y="0"/>
          <a:chExt cx="0" cy="0"/>
        </a:xfrm>
      </p:grpSpPr>
      <p:sp>
        <p:nvSpPr>
          <p:cNvPr id="361484512"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223009739"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73193449"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40619438"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2627334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28792164"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88192631"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303863446"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82198964"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183893254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8840682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a:xfrm>
          <a:off x="0" y="0"/>
          <a:ext cx="0" cy="0"/>
          <a:chOff x="0" y="0"/>
          <a:chExt cx="0" cy="0"/>
        </a:xfrm>
      </p:grpSpPr>
      <p:sp>
        <p:nvSpPr>
          <p:cNvPr id="1321485641"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517545105"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2112457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178556310"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83245452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610165871"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472125513"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536268503"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478429350"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962275342"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64995662"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631525799"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34500203" name="TextBox 6"/>
          <p:cNvSpPr txBox="1"/>
          <p:nvPr userDrawn="1"/>
        </p:nvSpPr>
        <p:spPr bwMode="auto">
          <a:xfrm>
            <a:off x="457200" y="6411853"/>
            <a:ext cx="5905500" cy="169277"/>
          </a:xfrm>
          <a:prstGeom prst="rect">
            <a:avLst/>
          </a:prstGeom>
          <a:noFill/>
        </p:spPr>
        <p:txBody>
          <a:bodyPr wrap="square" lIns="0" tIns="0" rIns="0" bIns="0">
            <a:spAutoFit/>
          </a:bodyPr>
          <a:lstStyle/>
          <a:p>
            <a:pPr defTabSz="932563">
              <a:defRPr/>
            </a:pPr>
            <a:r>
              <a:rPr lang="es-ES" sz="1100" b="0" i="0" strike="noStrike" cap="none" baseline="0" dirty="0">
                <a:solidFill>
                  <a:srgbClr val="000000"/>
                </a:solidFill>
                <a:effectLst/>
                <a:latin typeface="Segoe UI"/>
                <a:ea typeface="Segoe UI"/>
                <a:cs typeface="Segoe UI"/>
              </a:rPr>
              <a:t>© Copyright Microsoft </a:t>
            </a:r>
            <a:r>
              <a:rPr lang="es-ES" sz="1100" b="0" i="0" strike="noStrike" cap="none" baseline="0" dirty="0" err="1">
                <a:solidFill>
                  <a:srgbClr val="000000"/>
                </a:solidFill>
                <a:effectLst/>
                <a:latin typeface="Segoe UI"/>
                <a:ea typeface="Segoe UI"/>
                <a:cs typeface="Segoe UI"/>
              </a:rPr>
              <a:t>Corporation</a:t>
            </a:r>
            <a:r>
              <a:rPr lang="es-ES" sz="1100" b="0" i="0" strike="noStrike" cap="none" baseline="0" dirty="0">
                <a:solidFill>
                  <a:srgbClr val="000000"/>
                </a:solidFill>
                <a:effectLst/>
                <a:latin typeface="Segoe UI"/>
                <a:ea typeface="Segoe UI"/>
                <a:cs typeface="Segoe UI"/>
              </a:rPr>
              <a:t>. Todos los derechos reservados.</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a:lnSpc>
          <a:spcPct val="90000"/>
        </a:lnSpc>
        <a:spcBef>
          <a:spcPct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71620738" name="GRID" hidden="1"/>
          <p:cNvGrpSpPr/>
          <p:nvPr userDrawn="1"/>
        </p:nvGrpSpPr>
        <p:grpSpPr>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873970484"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1336139901"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298991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hf sldNum="0" hdr="0" dt="0"/>
  <p:txStyles>
    <p:titleStyle>
      <a:lvl1pPr algn="l" defTabSz="932742" rtl="0">
        <a:lnSpc>
          <a:spcPct val="100000"/>
        </a:lnSpc>
        <a:spcBef>
          <a:spcPct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ct val="0"/>
        </a:spcBef>
        <a:spcAft>
          <a:spcPct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ct val="0"/>
        </a:spcBef>
        <a:spcAft>
          <a:spcPct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ct val="0"/>
        </a:spcBef>
        <a:spcAft>
          <a:spcPct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ct val="0"/>
        </a:spcBef>
        <a:spcAft>
          <a:spcPct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ct val="0"/>
        </a:spcBef>
        <a:spcAft>
          <a:spcPct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ct val="0"/>
        </a:spcBef>
        <a:buFont typeface="Arial"/>
        <a:buChar char="•"/>
        <a:defRPr sz="2000">
          <a:solidFill>
            <a:schemeClr val="tx1"/>
          </a:solidFill>
          <a:latin typeface="+mn-lt"/>
          <a:ea typeface="+mn-ea"/>
          <a:cs typeface="+mn-cs"/>
        </a:defRPr>
      </a:lvl6pPr>
      <a:lvl7pPr marL="3031412" indent="-233186" algn="l" defTabSz="932742" rtl="0">
        <a:spcBef>
          <a:spcPct val="0"/>
        </a:spcBef>
        <a:buFont typeface="Arial"/>
        <a:buChar char="•"/>
        <a:defRPr sz="2000">
          <a:solidFill>
            <a:schemeClr val="tx1"/>
          </a:solidFill>
          <a:latin typeface="+mn-lt"/>
          <a:ea typeface="+mn-ea"/>
          <a:cs typeface="+mn-cs"/>
        </a:defRPr>
      </a:lvl7pPr>
      <a:lvl8pPr marL="3497783" indent="-233186" algn="l" defTabSz="932742" rtl="0">
        <a:spcBef>
          <a:spcPct val="0"/>
        </a:spcBef>
        <a:buFont typeface="Arial"/>
        <a:buChar char="•"/>
        <a:defRPr sz="2000">
          <a:solidFill>
            <a:schemeClr val="tx1"/>
          </a:solidFill>
          <a:latin typeface="+mn-lt"/>
          <a:ea typeface="+mn-ea"/>
          <a:cs typeface="+mn-cs"/>
        </a:defRPr>
      </a:lvl8pPr>
      <a:lvl9pPr marL="3964155" indent="-233186" algn="l" defTabSz="932742" rtl="0">
        <a:spcBef>
          <a:spcPct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2.xml"/><Relationship Id="rId4" Type="http://schemas.openxmlformats.org/officeDocument/2006/relationships/hyperlink" Target="https://go.microsoft.com/fwlink/?linkid=2348000"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42.xml"/><Relationship Id="rId4" Type="http://schemas.openxmlformats.org/officeDocument/2006/relationships/hyperlink" Target="https://go.microsoft.com/fwlink/?linkid=2348400"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5.xml"/><Relationship Id="rId1" Type="http://schemas.openxmlformats.org/officeDocument/2006/relationships/slideLayout" Target="../slideLayouts/slideLayout42.xml"/><Relationship Id="rId4" Type="http://schemas.openxmlformats.org/officeDocument/2006/relationships/hyperlink" Target="https://go.microsoft.com/fwlink/?linkid=2348401"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4456792" name="Title 6"/>
          <p:cNvSpPr>
            <a:spLocks noGrp="1"/>
          </p:cNvSpPr>
          <p:nvPr>
            <p:ph type="title"/>
          </p:nvPr>
        </p:nvSpPr>
        <p:spPr bwMode="auto">
          <a:xfrm>
            <a:off x="569910" y="2070582"/>
            <a:ext cx="5688392" cy="2590959"/>
          </a:xfrm>
        </p:spPr>
        <p:txBody>
          <a:bodyPr/>
          <a:lstStyle/>
          <a:p>
            <a:pPr>
              <a:defRPr/>
            </a:pPr>
            <a:r>
              <a:rPr lang="es-ES" sz="2800" b="0" i="0" strike="noStrike" cap="none" baseline="0" dirty="0">
                <a:solidFill>
                  <a:srgbClr val="000000"/>
                </a:solidFill>
                <a:effectLst/>
                <a:latin typeface="Segoe UI"/>
                <a:ea typeface="Segoe UI"/>
                <a:cs typeface="Segoe UI"/>
              </a:rPr>
              <a:t>AI-200T00A</a:t>
            </a:r>
            <a:br>
              <a:rPr sz="4000" dirty="0"/>
            </a:br>
            <a:r>
              <a:rPr lang="es-ES" sz="4000" b="0" i="0" strike="noStrike" cap="none" baseline="0" dirty="0">
                <a:solidFill>
                  <a:srgbClr val="000000"/>
                </a:solidFill>
                <a:effectLst/>
                <a:latin typeface="Segoe UI"/>
                <a:ea typeface="Segoe UI"/>
                <a:cs typeface="Segoe UI"/>
              </a:rPr>
              <a:t>Implementación y administración de aplicaciones en Azure Container Apps</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7453337"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Agenda</a:t>
            </a:r>
            <a:endParaRPr/>
          </a:p>
        </p:txBody>
      </p:sp>
      <p:sp>
        <p:nvSpPr>
          <p:cNvPr id="1104395639" name="Content Placeholder 4"/>
          <p:cNvSpPr>
            <a:spLocks noGrp="1"/>
          </p:cNvSpPr>
          <p:nvPr>
            <p:ph sz="quarter" idx="10"/>
          </p:nvPr>
        </p:nvSpPr>
        <p:spPr bwMode="auto">
          <a:xfrm>
            <a:off x="457200" y="1235075"/>
            <a:ext cx="11010900" cy="4816475"/>
          </a:xfrm>
        </p:spPr>
        <p:txBody>
          <a:bodyPr/>
          <a:lstStyle/>
          <a:p>
            <a:pPr>
              <a:spcAft>
                <a:spcPts val="600"/>
              </a:spcAft>
              <a:defRPr/>
            </a:pPr>
            <a:r>
              <a:rPr lang="es-ES" sz="2800" b="0" i="0" strike="noStrike" cap="none" baseline="0" dirty="0">
                <a:solidFill>
                  <a:srgbClr val="000000"/>
                </a:solidFill>
                <a:effectLst/>
                <a:latin typeface="Segoe UI"/>
                <a:ea typeface="Segoe UI"/>
                <a:cs typeface="Segoe UI"/>
              </a:rPr>
              <a:t>Creación de consultas para Azure Cosmos DB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NoSQL</a:t>
            </a:r>
            <a:endParaRPr dirty="0"/>
          </a:p>
          <a:p>
            <a:pPr>
              <a:spcAft>
                <a:spcPts val="600"/>
              </a:spcAft>
              <a:defRPr/>
            </a:pPr>
            <a:r>
              <a:rPr lang="es-ES" sz="2800" b="0" i="0" strike="noStrike" cap="none" baseline="0" dirty="0">
                <a:solidFill>
                  <a:srgbClr val="000000"/>
                </a:solidFill>
                <a:effectLst/>
                <a:latin typeface="Segoe UI"/>
                <a:ea typeface="Segoe UI"/>
                <a:cs typeface="Segoe UI"/>
              </a:rPr>
              <a:t>Implementación del vector de búsqueda con Azure Cosmos DB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NoSQL</a:t>
            </a:r>
            <a:endParaRPr dirty="0"/>
          </a:p>
          <a:p>
            <a:pPr>
              <a:spcAft>
                <a:spcPts val="600"/>
              </a:spcAft>
              <a:defRPr/>
            </a:pPr>
            <a:r>
              <a:rPr lang="es-ES" sz="2800" b="0" i="0" strike="noStrike" cap="none" baseline="0" dirty="0">
                <a:solidFill>
                  <a:srgbClr val="000000"/>
                </a:solidFill>
                <a:effectLst/>
                <a:latin typeface="Segoe UI"/>
                <a:ea typeface="Segoe UI"/>
                <a:cs typeface="Segoe UI"/>
              </a:rPr>
              <a:t>Optimización del rendimiento de las consultas para Azure Cosmos DB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NoSQL</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8806969" name="Title 3"/>
          <p:cNvSpPr>
            <a:spLocks noGrp="1"/>
          </p:cNvSpPr>
          <p:nvPr>
            <p:ph type="title"/>
          </p:nvPr>
        </p:nvSpPr>
        <p:spPr bwMode="auto">
          <a:xfrm>
            <a:off x="581338" y="1819148"/>
            <a:ext cx="6473912" cy="2262083"/>
          </a:xfrm>
        </p:spPr>
        <p:txBody>
          <a:bodyPr/>
          <a:lstStyle/>
          <a:p>
            <a:pPr marL="0" lvl="0" indent="0">
              <a:buNone/>
              <a:defRPr/>
            </a:pPr>
            <a:r>
              <a:rPr lang="es-ES" sz="4100" b="0" i="0" strike="noStrike" cap="none" baseline="0">
                <a:solidFill>
                  <a:srgbClr val="000000"/>
                </a:solidFill>
                <a:effectLst/>
                <a:latin typeface="Segoe UI"/>
                <a:ea typeface="Segoe UI"/>
                <a:cs typeface="Segoe UI"/>
              </a:rPr>
              <a:t>Módulo 1: Implementación de contenedores en Azure Container Apps</a:t>
            </a:r>
            <a:endParaRPr sz="4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2890322"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223007894" name="Content Placeholder 3"/>
          <p:cNvSpPr>
            <a:spLocks noGrp="1"/>
          </p:cNvSpPr>
          <p:nvPr>
            <p:ph sz="quarter" idx="10"/>
          </p:nvPr>
        </p:nvSpPr>
        <p:spPr bwMode="auto">
          <a:xfrm>
            <a:off x="457200" y="1235075"/>
            <a:ext cx="10226040" cy="4816475"/>
          </a:xfrm>
        </p:spPr>
        <p:txBody>
          <a:bodyPr vert="horz" lIns="0" tIns="0" rIns="0" bIns="0" rtlCol="0" anchor="t">
            <a:normAutofit/>
          </a:bodyPr>
          <a:lstStyle/>
          <a:p>
            <a:pPr>
              <a:spcAft>
                <a:spcPts val="575"/>
              </a:spcAft>
              <a:defRPr/>
            </a:pPr>
            <a:r>
              <a:rPr lang="es-ES" sz="2400" b="0" i="0" strike="noStrike" cap="none" baseline="0" dirty="0">
                <a:solidFill>
                  <a:srgbClr val="000000"/>
                </a:solidFill>
                <a:effectLst/>
                <a:latin typeface="Segoe UI"/>
                <a:ea typeface="Segoe UI"/>
                <a:cs typeface="Segoe UI"/>
              </a:rPr>
              <a:t>Explicar cómo los entornos de Azure Container Apps afectan a las redes, al registro y al aislamiento.</a:t>
            </a:r>
            <a:endParaRPr lang="en-US" sz="2400" b="0" i="0" u="none" strike="noStrike" cap="none" spc="0" dirty="0">
              <a:solidFill>
                <a:schemeClr val="tx1"/>
              </a:solidFill>
              <a:latin typeface="Segoe UI"/>
              <a:cs typeface="Segoe UI"/>
            </a:endParaRPr>
          </a:p>
          <a:p>
            <a:pPr>
              <a:spcAft>
                <a:spcPts val="575"/>
              </a:spcAft>
              <a:defRPr/>
            </a:pPr>
            <a:r>
              <a:rPr lang="es-ES" sz="2400" b="0" i="0" strike="noStrike" cap="none" baseline="0" dirty="0">
                <a:solidFill>
                  <a:srgbClr val="000000"/>
                </a:solidFill>
                <a:effectLst/>
                <a:latin typeface="Segoe UI"/>
                <a:ea typeface="Segoe UI"/>
                <a:cs typeface="Segoe UI"/>
              </a:rPr>
              <a:t>Implementar una aplicación contenedora mediante la CLI de Azure y el uso de la CLI de Azure con una definición de YAML.</a:t>
            </a:r>
            <a:endParaRPr lang="en-US" sz="2400" b="0" i="0" u="none" strike="noStrike" cap="none" spc="0" dirty="0">
              <a:solidFill>
                <a:schemeClr val="tx1"/>
              </a:solidFill>
              <a:latin typeface="Segoe UI"/>
              <a:cs typeface="Segoe UI"/>
            </a:endParaRPr>
          </a:p>
          <a:p>
            <a:pPr>
              <a:spcAft>
                <a:spcPts val="575"/>
              </a:spcAft>
              <a:defRPr/>
            </a:pPr>
            <a:r>
              <a:rPr lang="es-ES" sz="2400" b="0" i="0" strike="noStrike" cap="none" baseline="0" dirty="0">
                <a:solidFill>
                  <a:srgbClr val="000000"/>
                </a:solidFill>
                <a:effectLst/>
                <a:latin typeface="Segoe UI"/>
                <a:ea typeface="Segoe UI"/>
                <a:cs typeface="Segoe UI"/>
              </a:rPr>
              <a:t>Establecer la configuración en tiempo de ejecución mediante variables de entorno y secretos.</a:t>
            </a:r>
            <a:endParaRPr lang="en-US" sz="2400" b="0" i="0" u="none" strike="noStrike" cap="none" spc="0" dirty="0">
              <a:solidFill>
                <a:schemeClr val="tx1"/>
              </a:solidFill>
              <a:latin typeface="Segoe UI"/>
              <a:cs typeface="Segoe UI"/>
            </a:endParaRPr>
          </a:p>
          <a:p>
            <a:pPr>
              <a:spcAft>
                <a:spcPts val="575"/>
              </a:spcAft>
              <a:defRPr/>
            </a:pPr>
            <a:r>
              <a:rPr lang="es-ES" sz="2400" b="0" i="0" strike="noStrike" cap="none" baseline="0" dirty="0">
                <a:solidFill>
                  <a:srgbClr val="000000"/>
                </a:solidFill>
                <a:effectLst/>
                <a:latin typeface="Segoe UI"/>
                <a:ea typeface="Segoe UI"/>
                <a:cs typeface="Segoe UI"/>
              </a:rPr>
              <a:t>Configurar la autenticación de extracción de imágenes para registros privados.</a:t>
            </a:r>
            <a:endParaRPr lang="en-US" sz="2400" b="0" i="0" u="none" strike="noStrike" cap="none" spc="0" dirty="0">
              <a:solidFill>
                <a:schemeClr val="tx1"/>
              </a:solidFill>
              <a:latin typeface="Segoe UI"/>
              <a:cs typeface="Segoe UI"/>
            </a:endParaRPr>
          </a:p>
          <a:p>
            <a:pPr defTabSz="932742">
              <a:spcAft>
                <a:spcPts val="575"/>
              </a:spcAft>
              <a:defRPr/>
            </a:pPr>
            <a:r>
              <a:rPr lang="es-ES" sz="2400" b="0" i="0" strike="noStrike" cap="none" baseline="0" dirty="0">
                <a:solidFill>
                  <a:srgbClr val="000000"/>
                </a:solidFill>
                <a:effectLst/>
                <a:latin typeface="Segoe UI"/>
                <a:ea typeface="Segoe UI"/>
                <a:cs typeface="Segoe UI"/>
              </a:rPr>
              <a:t>Comprobar el estado de la aplicación contenedora mediante registros, revisiones y estado de réplica.</a:t>
            </a:r>
            <a:endParaRPr sz="2400" dirty="0">
              <a:latin typeface="+mn-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23533"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567131187" name="Content Placeholder 3"/>
          <p:cNvSpPr>
            <a:spLocks noGrp="1"/>
          </p:cNvSpPr>
          <p:nvPr>
            <p:ph sz="quarter" idx="10"/>
          </p:nvPr>
        </p:nvSpPr>
        <p:spPr bwMode="auto"/>
        <p:txBody>
          <a:bodyPr vert="horz" lIns="0" tIns="0" rIns="0" bIns="0" rtlCol="0" anchor="t">
            <a:normAutofit/>
          </a:bodyPr>
          <a:lstStyle/>
          <a:p>
            <a:pPr marL="228600" marR="0" indent="-228600" algn="l">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Plataforma de contenedor sin servidor en Azure</a:t>
            </a:r>
            <a:endParaRPr lang="en-US" sz="2400" b="0" i="0" u="none" strike="noStrike" cap="none" spc="0">
              <a:solidFill>
                <a:schemeClr val="tx1"/>
              </a:solidFill>
              <a:latin typeface="Segoe UI"/>
              <a:cs typeface="Segoe UI"/>
            </a:endParaRPr>
          </a:p>
          <a:p>
            <a:pPr marL="228600" marR="0" indent="-228600" algn="l">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No hay plano de control de Kubernetes para administrar</a:t>
            </a:r>
            <a:endParaRPr lang="en-US" sz="2400" b="0" i="0" u="none" strike="noStrike" cap="none" spc="0">
              <a:solidFill>
                <a:schemeClr val="tx1"/>
              </a:solidFill>
              <a:latin typeface="Segoe UI"/>
              <a:cs typeface="Segoe UI"/>
            </a:endParaRPr>
          </a:p>
          <a:p>
            <a:pPr marL="228600" marR="0" indent="-228600" algn="l">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Modelo de implementación basado en revisiones para lanzamientos seguros</a:t>
            </a:r>
            <a:endParaRPr lang="en-US" sz="2400" b="0" i="0" u="none" strike="noStrike" cap="none" spc="0">
              <a:solidFill>
                <a:schemeClr val="tx1"/>
              </a:solidFill>
              <a:latin typeface="Segoe UI"/>
              <a:cs typeface="Segoe UI"/>
            </a:endParaRPr>
          </a:p>
          <a:p>
            <a:pPr marL="228600" marR="0" indent="-228600" algn="l">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Entrada integrada con opciones externas e internas</a:t>
            </a:r>
            <a:endParaRPr lang="en-US" sz="2400" b="0" i="0" u="none" strike="noStrike" cap="none" spc="0">
              <a:solidFill>
                <a:schemeClr val="tx1"/>
              </a:solidFill>
              <a:latin typeface="Segoe UI"/>
              <a:cs typeface="Segoe UI"/>
            </a:endParaRPr>
          </a:p>
          <a:p>
            <a:pPr marL="228600" marR="0" indent="-228600" algn="l">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Admisión de variables de entorno y secretos nativos</a:t>
            </a:r>
            <a:endParaRPr lang="en-US" sz="2400" b="0" i="0" u="none" strike="noStrike" cap="none" spc="0">
              <a:solidFill>
                <a:schemeClr val="tx1"/>
              </a:solidFill>
              <a:latin typeface="Segoe UI"/>
              <a:cs typeface="Segoe UI"/>
            </a:endParaRPr>
          </a:p>
          <a:p>
            <a:pPr marL="228600" marR="0" indent="-228600" algn="l" defTabSz="932742">
              <a:lnSpc>
                <a:spcPct val="100000"/>
              </a:lnSpc>
              <a:spcBef>
                <a:spcPct val="0"/>
              </a:spcBef>
              <a:spcAft>
                <a:spcPts val="398"/>
              </a:spcAft>
              <a:buFont typeface="Arial"/>
              <a:buChar char="•"/>
              <a:defRPr/>
            </a:pPr>
            <a:r>
              <a:rPr lang="es-ES" sz="2400" b="0" i="0" strike="noStrike" cap="none" baseline="0">
                <a:solidFill>
                  <a:srgbClr val="000000"/>
                </a:solidFill>
                <a:effectLst/>
                <a:latin typeface="Segoe UI"/>
                <a:ea typeface="Segoe UI"/>
                <a:cs typeface="Segoe UI"/>
              </a:rPr>
              <a:t>Se integra con ACR, Azure Monitor, VNET e identidades administradas</a:t>
            </a:r>
            <a:endParaRPr lang="en-US" sz="2400" b="0" i="0" u="none" strike="noStrike" cap="none" spc="0">
              <a:solidFill>
                <a:schemeClr val="tx1"/>
              </a:solidFill>
              <a:latin typeface="Segoe UI"/>
              <a:cs typeface="Segoe UI"/>
            </a:endParaRPr>
          </a:p>
          <a:p>
            <a:pPr>
              <a:spcAft>
                <a:spcPts val="200"/>
              </a:spcAft>
              <a:defRPr/>
            </a:pPr>
            <a:endParaRPr lang="en-US" sz="24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320090"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Exploración de entornos de Container Apps</a:t>
            </a:r>
            <a:endParaRPr/>
          </a:p>
        </p:txBody>
      </p:sp>
      <p:pic>
        <p:nvPicPr>
          <p:cNvPr id="482691569" name="Picture 1" descr="Diagram of a Container Apps environment boundary containing two apps with shared networking flowing to Azure Monitor&#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457200" y="1197864"/>
            <a:ext cx="4416551" cy="3694176"/>
          </a:xfrm>
          <a:prstGeom prst="rect">
            <a:avLst/>
          </a:prstGeom>
          <a:noFill/>
          <a:ln w="9525">
            <a:noFill/>
          </a:ln>
        </p:spPr>
      </p:pic>
      <p:sp>
        <p:nvSpPr>
          <p:cNvPr id="1678672240" name="Content Placeholder 3"/>
          <p:cNvSpPr>
            <a:spLocks noGrp="1"/>
          </p:cNvSpPr>
          <p:nvPr>
            <p:ph sz="quarter" idx="10"/>
          </p:nvPr>
        </p:nvSpPr>
        <p:spPr bwMode="auto">
          <a:xfrm>
            <a:off x="5281550" y="1299654"/>
            <a:ext cx="6398259" cy="4765866"/>
          </a:xfrm>
        </p:spPr>
        <p:txBody>
          <a:bodyPr vertOverflow="overflow" horzOverflow="overflow" vert="horz" wrap="square" lIns="0" tIns="0" rIns="0" bIns="0" numCol="1" spcCol="0" rtlCol="0" fromWordArt="0" anchor="t" anchorCtr="0" forceAA="0" compatLnSpc="0">
            <a:normAutofit fontScale="95000"/>
          </a:bodyPr>
          <a:lstStyle/>
          <a:p>
            <a:pPr marL="0" indent="0">
              <a:spcAft>
                <a:spcPts val="359"/>
              </a:spcAft>
              <a:buFont typeface="Arial"/>
              <a:buNone/>
              <a:defRPr/>
            </a:pPr>
            <a:r>
              <a:rPr lang="es-ES" sz="2200" b="0" i="0" strike="noStrike" cap="none" baseline="0" dirty="0">
                <a:solidFill>
                  <a:srgbClr val="000000"/>
                </a:solidFill>
                <a:effectLst/>
                <a:latin typeface="Segoe UI Semibold"/>
                <a:ea typeface="Segoe UI Semibold"/>
                <a:cs typeface="Segoe UI Semibold"/>
              </a:rPr>
              <a:t>Qué proporciona un entorno</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Límite de red compartido para aplicaciones agrupadas</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DNS interno para la comunicación entre aplicaciones</a:t>
            </a:r>
            <a:endParaRPr lang="en-US" sz="2000" b="0" i="0" u="none" strike="noStrike" cap="none" spc="0" dirty="0">
              <a:solidFill>
                <a:schemeClr val="tx1"/>
              </a:solidFill>
              <a:latin typeface="Segoe UI"/>
              <a:cs typeface="Segoe UI"/>
            </a:endParaRPr>
          </a:p>
          <a:p>
            <a:pPr>
              <a:spcAft>
                <a:spcPts val="719"/>
              </a:spcAft>
              <a:defRPr/>
            </a:pPr>
            <a:r>
              <a:rPr lang="es-ES" sz="2000" b="0" i="0" strike="noStrike" cap="none" baseline="0" dirty="0">
                <a:solidFill>
                  <a:srgbClr val="000000"/>
                </a:solidFill>
                <a:effectLst/>
                <a:latin typeface="Segoe UI"/>
                <a:ea typeface="Segoe UI"/>
                <a:cs typeface="Segoe UI"/>
              </a:rPr>
              <a:t>Integración de registro común (Azure Monitor)</a:t>
            </a:r>
            <a:endParaRPr lang="en-US" sz="2000" b="0" i="0" u="none" strike="noStrike" cap="none" spc="0" dirty="0">
              <a:solidFill>
                <a:schemeClr val="tx1"/>
              </a:solidFill>
              <a:latin typeface="Segoe UI"/>
              <a:cs typeface="Segoe UI"/>
            </a:endParaRPr>
          </a:p>
          <a:p>
            <a:pPr marL="0" indent="0">
              <a:spcBef>
                <a:spcPts val="359"/>
              </a:spcBef>
              <a:spcAft>
                <a:spcPts val="359"/>
              </a:spcAft>
              <a:buFont typeface="Arial"/>
              <a:buNone/>
              <a:defRPr/>
            </a:pPr>
            <a:endParaRPr lang="en-US" sz="2000" b="0" i="0" u="none" strike="noStrike" cap="none" spc="0" dirty="0">
              <a:solidFill>
                <a:schemeClr val="tx1"/>
              </a:solidFill>
              <a:latin typeface="Segoe UI"/>
              <a:cs typeface="Segoe UI"/>
            </a:endParaRPr>
          </a:p>
          <a:p>
            <a:pPr marL="0" indent="0">
              <a:spcBef>
                <a:spcPts val="35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Decisiones de diseño</a:t>
            </a:r>
          </a:p>
          <a:p>
            <a:pPr marL="228600" marR="0" indent="-228600" algn="l">
              <a:lnSpc>
                <a:spcPct val="100000"/>
              </a:lnSpc>
              <a:spcBef>
                <a:spcPct val="0"/>
              </a:spcBef>
              <a:spcAft>
                <a:spcPts val="719"/>
              </a:spcAft>
              <a:buChar char="•"/>
              <a:defRPr/>
            </a:pPr>
            <a:r>
              <a:rPr lang="es-ES" sz="2000" b="0" i="0" strike="noStrike" cap="none" baseline="0" dirty="0">
                <a:solidFill>
                  <a:srgbClr val="000000"/>
                </a:solidFill>
                <a:effectLst/>
                <a:latin typeface="Segoe UI Semibold"/>
                <a:ea typeface="Segoe UI Semibold"/>
                <a:cs typeface="Segoe UI Semibold"/>
              </a:rPr>
              <a:t>Independiente por ciclo de vida:</a:t>
            </a:r>
            <a:r>
              <a:rPr lang="es-ES" sz="2000" b="0" i="0" strike="noStrike" cap="none" baseline="0" dirty="0">
                <a:solidFill>
                  <a:srgbClr val="000000"/>
                </a:solidFill>
                <a:effectLst/>
                <a:latin typeface="Segoe UI"/>
                <a:ea typeface="Segoe UI"/>
                <a:cs typeface="Segoe UI"/>
              </a:rPr>
              <a:t> entornos de desarrollo, prueba y producción</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Alineación con las redes:</a:t>
            </a:r>
            <a:r>
              <a:rPr lang="es-ES" sz="2000" b="0" i="0" strike="noStrike" cap="none" baseline="0" dirty="0">
                <a:solidFill>
                  <a:srgbClr val="000000"/>
                </a:solidFill>
                <a:effectLst/>
                <a:latin typeface="Segoe UI"/>
                <a:ea typeface="Segoe UI"/>
                <a:cs typeface="Segoe UI"/>
              </a:rPr>
              <a:t> agrupación de aplicaciones que se comunican de forma privada</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Planificación de la </a:t>
            </a:r>
            <a:r>
              <a:rPr lang="es-ES" sz="2000" b="0" i="0" strike="noStrike" cap="none" baseline="0" dirty="0" err="1">
                <a:solidFill>
                  <a:srgbClr val="000000"/>
                </a:solidFill>
                <a:effectLst/>
                <a:latin typeface="Segoe UI Semibold"/>
                <a:ea typeface="Segoe UI Semibold"/>
                <a:cs typeface="Segoe UI Semibold"/>
              </a:rPr>
              <a:t>observabilidad</a:t>
            </a:r>
            <a:r>
              <a:rPr lang="es-ES" sz="2000" b="0" i="0" strike="noStrike" cap="none" baseline="0" dirty="0">
                <a:solidFill>
                  <a:srgbClr val="000000"/>
                </a:solidFill>
                <a:effectLst/>
                <a:latin typeface="Segoe UI Semibold"/>
                <a:ea typeface="Segoe UI Semibold"/>
                <a:cs typeface="Segoe UI Semibold"/>
              </a:rPr>
              <a:t> al principio:</a:t>
            </a:r>
            <a:r>
              <a:rPr lang="es-ES" sz="2000" b="0" i="0" strike="noStrike" cap="none" baseline="0" dirty="0">
                <a:solidFill>
                  <a:srgbClr val="000000"/>
                </a:solidFill>
                <a:effectLst/>
                <a:latin typeface="Segoe UI"/>
                <a:ea typeface="Segoe UI"/>
                <a:cs typeface="Segoe UI"/>
              </a:rPr>
              <a:t> elección del destino del registro antes de la producción</a:t>
            </a:r>
            <a:endParaRPr sz="26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2300427" name="Title 1"/>
          <p:cNvSpPr>
            <a:spLocks noGrp="1"/>
          </p:cNvSpPr>
          <p:nvPr>
            <p:ph type="title"/>
          </p:nvPr>
        </p:nvSpPr>
        <p:spPr bwMode="auto">
          <a:xfrm>
            <a:off x="457200" y="411480"/>
            <a:ext cx="10591800" cy="515442"/>
          </a:xfrm>
        </p:spPr>
        <p:txBody>
          <a:bodyPr/>
          <a:lstStyle/>
          <a:p>
            <a:pPr>
              <a:defRPr/>
            </a:pPr>
            <a:r>
              <a:rPr lang="es-ES" sz="3200" b="0" i="0" strike="noStrike" cap="none" baseline="0" dirty="0">
                <a:solidFill>
                  <a:srgbClr val="000000"/>
                </a:solidFill>
                <a:effectLst/>
                <a:latin typeface="Segoe UI Semibold"/>
                <a:ea typeface="Segoe UI Semibold"/>
                <a:cs typeface="Segoe UI Semibold"/>
              </a:rPr>
              <a:t>Implementación de una aplicación contenedora con el uso de al CLI de Azure y YAML</a:t>
            </a:r>
            <a:endParaRPr dirty="0"/>
          </a:p>
        </p:txBody>
      </p:sp>
      <p:sp>
        <p:nvSpPr>
          <p:cNvPr id="2125105114" name="Content Placeholder 3"/>
          <p:cNvSpPr>
            <a:spLocks noGrp="1"/>
          </p:cNvSpPr>
          <p:nvPr>
            <p:ph sz="quarter" idx="10"/>
          </p:nvPr>
        </p:nvSpPr>
        <p:spPr bwMode="auto">
          <a:xfrm>
            <a:off x="457196" y="1358775"/>
            <a:ext cx="10896603" cy="4816472"/>
          </a:xfrm>
        </p:spPr>
        <p:txBody>
          <a:bodyPr vertOverflow="overflow" horzOverflow="overflow" vert="horz" wrap="square" lIns="0" tIns="0" rIns="0" bIns="0" numCol="1" spcCol="0" rtlCol="0" fromWordArt="0" anchor="t" anchorCtr="0" forceAA="0" compatLnSpc="0">
            <a:noAutofit/>
          </a:bodyPr>
          <a:lstStyle/>
          <a:p>
            <a:pPr marL="0" marR="0" lvl="0" indent="0" algn="l">
              <a:lnSpc>
                <a:spcPct val="100000"/>
              </a:lnSpc>
              <a:spcBef>
                <a:spcPct val="0"/>
              </a:spcBef>
              <a:spcAft>
                <a:spcPts val="574"/>
              </a:spcAft>
              <a:buFont typeface="Arial"/>
              <a:buNone/>
              <a:defRPr/>
            </a:pPr>
            <a:r>
              <a:rPr lang="es-ES" sz="2200" b="0" i="0" strike="noStrike" cap="none" baseline="0" dirty="0">
                <a:solidFill>
                  <a:srgbClr val="000000"/>
                </a:solidFill>
                <a:effectLst/>
                <a:latin typeface="Segoe UI Semibold"/>
                <a:ea typeface="Segoe UI Semibold"/>
                <a:cs typeface="Segoe UI Semibold"/>
              </a:rPr>
              <a:t>Tres rutas de implementación</a:t>
            </a:r>
            <a:endParaRPr sz="2200" dirty="0"/>
          </a:p>
          <a:p>
            <a:pPr marL="228600" marR="0" lvl="0" indent="-228600" algn="l">
              <a:lnSpc>
                <a:spcPct val="100000"/>
              </a:lnSpc>
              <a:spcBef>
                <a:spcPct val="0"/>
              </a:spcBef>
              <a:spcAft>
                <a:spcPts val="359"/>
              </a:spcAft>
              <a:buFont typeface="Arial"/>
              <a:buChar char="•"/>
              <a:defRPr/>
            </a:pPr>
            <a:r>
              <a:rPr lang="es-ES" sz="1800" b="1" i="0" strike="noStrike" cap="none" baseline="0" dirty="0" err="1">
                <a:solidFill>
                  <a:srgbClr val="000000"/>
                </a:solidFill>
                <a:effectLst/>
                <a:latin typeface="Consolas"/>
                <a:ea typeface="Consolas"/>
                <a:cs typeface="Consolas"/>
              </a:rPr>
              <a:t>containerapp</a:t>
            </a:r>
            <a:r>
              <a:rPr lang="es-ES" sz="1800" b="1" i="0" strike="noStrike" cap="none" baseline="0" dirty="0">
                <a:solidFill>
                  <a:srgbClr val="000000"/>
                </a:solidFill>
                <a:effectLst/>
                <a:latin typeface="Consolas"/>
                <a:ea typeface="Consolas"/>
                <a:cs typeface="Consolas"/>
              </a:rPr>
              <a:t> up:</a:t>
            </a:r>
            <a:r>
              <a:rPr lang="es-ES" sz="1800" b="0" i="0" strike="noStrike" cap="none" baseline="0" dirty="0">
                <a:solidFill>
                  <a:srgbClr val="000000"/>
                </a:solidFill>
                <a:effectLst/>
                <a:latin typeface="Segoe UI"/>
                <a:ea typeface="Segoe UI"/>
                <a:cs typeface="Segoe UI"/>
              </a:rPr>
              <a:t> ruta de acceso más rápida, crea el entorno automáticamente</a:t>
            </a:r>
            <a:endParaRPr sz="1800" dirty="0"/>
          </a:p>
          <a:p>
            <a:pPr marL="228600" marR="0" lvl="0" indent="-228600" algn="l">
              <a:lnSpc>
                <a:spcPct val="100000"/>
              </a:lnSpc>
              <a:spcBef>
                <a:spcPct val="0"/>
              </a:spcBef>
              <a:spcAft>
                <a:spcPts val="359"/>
              </a:spcAft>
              <a:buFont typeface="Arial"/>
              <a:buChar char="•"/>
              <a:defRPr/>
            </a:pPr>
            <a:r>
              <a:rPr lang="es-ES" sz="1800" b="1" i="0" strike="noStrike" cap="none" baseline="0" dirty="0" err="1">
                <a:solidFill>
                  <a:srgbClr val="000000"/>
                </a:solidFill>
                <a:effectLst/>
                <a:latin typeface="Consolas"/>
                <a:ea typeface="Consolas"/>
                <a:cs typeface="Consolas"/>
              </a:rPr>
              <a:t>containerapp</a:t>
            </a:r>
            <a:r>
              <a:rPr lang="es-ES" sz="1800" b="1" i="0" strike="noStrike" cap="none" baseline="0" dirty="0">
                <a:solidFill>
                  <a:srgbClr val="000000"/>
                </a:solidFill>
                <a:effectLst/>
                <a:latin typeface="Consolas"/>
                <a:ea typeface="Consolas"/>
                <a:cs typeface="Consolas"/>
              </a:rPr>
              <a:t> </a:t>
            </a:r>
            <a:r>
              <a:rPr lang="es-ES" sz="1800" b="1" i="0" strike="noStrike" cap="none" baseline="0" dirty="0" err="1">
                <a:solidFill>
                  <a:srgbClr val="000000"/>
                </a:solidFill>
                <a:effectLst/>
                <a:latin typeface="Consolas"/>
                <a:ea typeface="Consolas"/>
                <a:cs typeface="Consolas"/>
              </a:rPr>
              <a:t>create</a:t>
            </a:r>
            <a:r>
              <a:rPr lang="es-ES" sz="1800" b="1" i="0" strike="noStrike" cap="none" baseline="0" dirty="0">
                <a:solidFill>
                  <a:srgbClr val="000000"/>
                </a:solidFill>
                <a:effectLst/>
                <a:latin typeface="Consolas"/>
                <a:ea typeface="Consolas"/>
                <a:cs typeface="Consolas"/>
              </a:rPr>
              <a:t>:</a:t>
            </a:r>
            <a:r>
              <a:rPr lang="es-ES" sz="1800" b="0" i="0" strike="noStrike" cap="none" baseline="0" dirty="0">
                <a:solidFill>
                  <a:srgbClr val="000000"/>
                </a:solidFill>
                <a:effectLst/>
                <a:latin typeface="Segoe UI"/>
                <a:ea typeface="Segoe UI"/>
                <a:cs typeface="Segoe UI"/>
              </a:rPr>
              <a:t> control explícito, entorno existente</a:t>
            </a:r>
            <a:endParaRPr sz="1800" dirty="0"/>
          </a:p>
          <a:p>
            <a:pPr lvl="0">
              <a:spcAft>
                <a:spcPts val="359"/>
              </a:spcAft>
              <a:defRPr/>
            </a:pPr>
            <a:r>
              <a:rPr lang="es-ES" sz="1800" b="1" i="0" strike="noStrike" cap="none" baseline="0" dirty="0">
                <a:solidFill>
                  <a:srgbClr val="000000"/>
                </a:solidFill>
                <a:effectLst/>
                <a:latin typeface="Consolas"/>
                <a:ea typeface="Consolas"/>
                <a:cs typeface="Consolas"/>
              </a:rPr>
              <a:t>--</a:t>
            </a:r>
            <a:r>
              <a:rPr lang="es-ES" sz="1800" b="1" i="0" strike="noStrike" cap="none" baseline="0" dirty="0" err="1">
                <a:solidFill>
                  <a:srgbClr val="000000"/>
                </a:solidFill>
                <a:effectLst/>
                <a:latin typeface="Consolas"/>
                <a:ea typeface="Consolas"/>
                <a:cs typeface="Consolas"/>
              </a:rPr>
              <a:t>yaml</a:t>
            </a:r>
            <a:r>
              <a:rPr lang="es-ES" sz="1800" b="1" i="0" strike="noStrike" cap="none" baseline="0" dirty="0">
                <a:solidFill>
                  <a:srgbClr val="000000"/>
                </a:solidFill>
                <a:effectLst/>
                <a:latin typeface="Consolas"/>
                <a:ea typeface="Consolas"/>
                <a:cs typeface="Consolas"/>
              </a:rPr>
              <a:t>:</a:t>
            </a:r>
            <a:r>
              <a:rPr lang="es-ES" sz="1800" b="0" i="0" strike="noStrike" cap="none" baseline="0" dirty="0">
                <a:solidFill>
                  <a:srgbClr val="000000"/>
                </a:solidFill>
                <a:effectLst/>
                <a:latin typeface="Segoe UI"/>
                <a:ea typeface="Segoe UI"/>
                <a:cs typeface="Segoe UI"/>
              </a:rPr>
              <a:t> configuración controlada por código fuente, revisable a través de la revisión de código</a:t>
            </a:r>
            <a:endParaRPr sz="2200" dirty="0"/>
          </a:p>
          <a:p>
            <a:pPr marL="0" marR="0" lvl="0" indent="0" algn="l">
              <a:lnSpc>
                <a:spcPct val="100000"/>
              </a:lnSpc>
              <a:spcBef>
                <a:spcPts val="2807"/>
              </a:spcBef>
              <a:spcAft>
                <a:spcPts val="574"/>
              </a:spcAft>
              <a:buFont typeface="Arial"/>
              <a:buNone/>
              <a:defRPr/>
            </a:pPr>
            <a:r>
              <a:rPr lang="es-ES" sz="2200" b="0" i="0" strike="noStrike" cap="none" baseline="0" dirty="0">
                <a:solidFill>
                  <a:srgbClr val="000000"/>
                </a:solidFill>
                <a:effectLst/>
                <a:latin typeface="Segoe UI Semibold"/>
                <a:ea typeface="Segoe UI Semibold"/>
                <a:cs typeface="Segoe UI Semibold"/>
              </a:rPr>
              <a:t>Revisiones</a:t>
            </a:r>
            <a:endParaRPr sz="2200" dirty="0"/>
          </a:p>
          <a:p>
            <a:pPr lvl="0">
              <a:spcAft>
                <a:spcPts val="287"/>
              </a:spcAft>
              <a:defRPr/>
            </a:pPr>
            <a:r>
              <a:rPr lang="es-ES" sz="1800" b="0" i="0" strike="noStrike" cap="none" baseline="0" dirty="0">
                <a:solidFill>
                  <a:srgbClr val="000000"/>
                </a:solidFill>
                <a:effectLst/>
                <a:latin typeface="Segoe UI"/>
                <a:ea typeface="Segoe UI"/>
                <a:cs typeface="Segoe UI"/>
              </a:rPr>
              <a:t>Cada actualización crea una nueva revisión (instantánea con versiones)</a:t>
            </a:r>
            <a:endParaRPr sz="1800" dirty="0"/>
          </a:p>
          <a:p>
            <a:pPr lvl="0">
              <a:spcAft>
                <a:spcPts val="287"/>
              </a:spcAft>
              <a:defRPr/>
            </a:pPr>
            <a:r>
              <a:rPr lang="es-ES" sz="1800" b="0" i="0" strike="noStrike" cap="none" baseline="0" dirty="0">
                <a:solidFill>
                  <a:srgbClr val="000000"/>
                </a:solidFill>
                <a:effectLst/>
                <a:latin typeface="Segoe UI"/>
                <a:ea typeface="Segoe UI"/>
                <a:cs typeface="Segoe UI"/>
              </a:rPr>
              <a:t>Validación de una nueva revisión antes de cambiar el tráfico</a:t>
            </a:r>
            <a:endParaRPr sz="1800" dirty="0"/>
          </a:p>
          <a:p>
            <a:pPr marL="228600" marR="0" lvl="0" indent="-228600" algn="l">
              <a:lnSpc>
                <a:spcPct val="100000"/>
              </a:lnSpc>
              <a:spcBef>
                <a:spcPct val="0"/>
              </a:spcBef>
              <a:spcAft>
                <a:spcPts val="287"/>
              </a:spcAft>
              <a:buFont typeface="Arial"/>
              <a:buChar char="•"/>
              <a:defRPr/>
            </a:pPr>
            <a:r>
              <a:rPr lang="es-ES" sz="1800" b="0" i="0" strike="noStrike" cap="none" baseline="0" dirty="0">
                <a:solidFill>
                  <a:srgbClr val="000000"/>
                </a:solidFill>
                <a:effectLst/>
                <a:latin typeface="Segoe UI"/>
                <a:ea typeface="Segoe UI"/>
                <a:cs typeface="Segoe UI"/>
              </a:rPr>
              <a:t>Uso de </a:t>
            </a:r>
            <a:r>
              <a:rPr lang="es-ES" sz="1800" b="0" i="0" strike="noStrike" cap="none" baseline="0" dirty="0" err="1">
                <a:solidFill>
                  <a:srgbClr val="000000"/>
                </a:solidFill>
                <a:effectLst/>
                <a:latin typeface="Consolas"/>
                <a:ea typeface="Consolas"/>
                <a:cs typeface="Consolas"/>
              </a:rPr>
              <a:t>containerapp</a:t>
            </a:r>
            <a:r>
              <a:rPr lang="es-ES" sz="1800" b="0" i="0" strike="noStrike" cap="none" baseline="0" dirty="0">
                <a:solidFill>
                  <a:srgbClr val="000000"/>
                </a:solidFill>
                <a:effectLst/>
                <a:latin typeface="Consolas"/>
                <a:ea typeface="Consolas"/>
                <a:cs typeface="Consolas"/>
              </a:rPr>
              <a:t> UPDATE</a:t>
            </a:r>
            <a:r>
              <a:rPr lang="es-ES" sz="1800" b="0" i="0" strike="noStrike" cap="none" baseline="0" dirty="0">
                <a:solidFill>
                  <a:srgbClr val="000000"/>
                </a:solidFill>
                <a:effectLst/>
                <a:latin typeface="Segoe UI"/>
                <a:ea typeface="Segoe UI"/>
                <a:cs typeface="Segoe UI"/>
              </a:rPr>
              <a:t> para cambios de imagen y configuración</a:t>
            </a:r>
            <a:endParaRPr sz="22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9308200" name="Title 1"/>
          <p:cNvSpPr>
            <a:spLocks noGrp="1"/>
          </p:cNvSpPr>
          <p:nvPr>
            <p:ph type="title"/>
          </p:nvPr>
        </p:nvSpPr>
        <p:spPr bwMode="auto"/>
        <p:txBody>
          <a:bodyPr/>
          <a:lstStyle/>
          <a:p>
            <a:pPr>
              <a:defRPr/>
            </a:pPr>
            <a:r>
              <a:rPr lang="es-ES" sz="2800" b="0" i="0" strike="noStrike" cap="none" baseline="0">
                <a:solidFill>
                  <a:srgbClr val="000000"/>
                </a:solidFill>
                <a:effectLst/>
                <a:latin typeface="Segoe UI Semibold"/>
                <a:ea typeface="Segoe UI Semibold"/>
                <a:cs typeface="Segoe UI Semibold"/>
              </a:rPr>
              <a:t>Establecimiento de la configuración en tiempo de ejecución con variables de entorno y secretos</a:t>
            </a:r>
            <a:endParaRPr sz="2800"/>
          </a:p>
        </p:txBody>
      </p:sp>
      <p:pic>
        <p:nvPicPr>
          <p:cNvPr id="1278943829" name="Graphic 1278943828" descr="Diagram showing environment variables and secrets flowing into a running container, with secrets using secretRef to avoid exposing values&#10;"/>
          <p:cNvPicPr>
            <a:picLocks noChangeAspect="1"/>
          </p:cNvPicPr>
          <p:nvPr/>
        </p:nvPicPr>
        <p:blipFill>
          <a:blip>
            <a:extLst>
              <a:ext uri="{96DAC541-7B7A-43D3-8B79-37D633B846F1}">
                <asvg:svgBlip xmlns:asvg="http://schemas.microsoft.com/office/drawing/2016/SVG/main" r:embed="rId3"/>
              </a:ext>
            </a:extLst>
          </a:blip>
          <a:stretch>
            <a:fillRect/>
          </a:stretch>
        </p:blipFill>
        <p:spPr bwMode="auto">
          <a:xfrm>
            <a:off x="457200" y="1234440"/>
            <a:ext cx="4443984" cy="4974336"/>
          </a:xfrm>
          <a:prstGeom prst="rect">
            <a:avLst/>
          </a:prstGeom>
        </p:spPr>
      </p:pic>
      <p:sp>
        <p:nvSpPr>
          <p:cNvPr id="1520483683" name="Content Placeholder 3"/>
          <p:cNvSpPr>
            <a:spLocks noGrp="1"/>
          </p:cNvSpPr>
          <p:nvPr/>
        </p:nvSpPr>
        <p:spPr bwMode="auto">
          <a:xfrm>
            <a:off x="5780898" y="1173478"/>
            <a:ext cx="6052962" cy="554736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lang="es-ES" sz="1800" b="0" i="0" strike="noStrike" cap="none" baseline="0" dirty="0">
                <a:solidFill>
                  <a:srgbClr val="000000"/>
                </a:solidFill>
                <a:effectLst/>
                <a:latin typeface="Segoe UI Semibold"/>
                <a:ea typeface="Segoe UI Semibold"/>
                <a:cs typeface="Segoe UI Semibold"/>
              </a:rPr>
              <a:t>Variables de entorno (no confidenciales)</a:t>
            </a:r>
            <a:endParaRPr sz="1600" b="0" i="0" u="none" strike="noStrike" cap="none" spc="0" dirty="0">
              <a:solidFill>
                <a:srgbClr val="000000"/>
              </a:solidFill>
              <a:latin typeface="Segoe UI"/>
              <a:cs typeface="Segoe UI"/>
            </a:endParaRPr>
          </a:p>
          <a:p>
            <a:pPr marL="228600" marR="0" indent="-228600" algn="l">
              <a:lnSpc>
                <a:spcPct val="100000"/>
              </a:lnSpc>
              <a:spcBef>
                <a:spcPct val="0"/>
              </a:spcBef>
              <a:buChar char="•"/>
              <a:defRPr/>
            </a:pPr>
            <a:r>
              <a:rPr lang="es-ES" sz="1600" b="0" i="0" strike="noStrike" cap="none" baseline="0" dirty="0">
                <a:solidFill>
                  <a:srgbClr val="000000"/>
                </a:solidFill>
                <a:effectLst/>
                <a:latin typeface="Segoe UI"/>
                <a:ea typeface="Segoe UI"/>
                <a:cs typeface="Segoe UI"/>
              </a:rPr>
              <a:t>Niveles de registro, marcas de características y direcciones URL de dependencia</a:t>
            </a:r>
            <a:endParaRPr lang="en-US" sz="1600" b="0" i="0" u="none" strike="noStrike" cap="none" spc="0" dirty="0">
              <a:solidFill>
                <a:srgbClr val="000000"/>
              </a:solidFill>
              <a:latin typeface="Segoe UI"/>
              <a:cs typeface="Segoe UI"/>
            </a:endParaRPr>
          </a:p>
          <a:p>
            <a:pPr marL="228600" marR="0" indent="-228600" algn="l">
              <a:lnSpc>
                <a:spcPct val="100000"/>
              </a:lnSpc>
              <a:spcBef>
                <a:spcPct val="0"/>
              </a:spcBef>
              <a:buChar char="•"/>
              <a:defRPr/>
            </a:pPr>
            <a:r>
              <a:rPr lang="es-ES" sz="1600" b="0" i="0" strike="noStrike" cap="none" baseline="0" dirty="0">
                <a:solidFill>
                  <a:srgbClr val="000000"/>
                </a:solidFill>
                <a:effectLst/>
                <a:latin typeface="Segoe UI"/>
                <a:ea typeface="Segoe UI"/>
                <a:cs typeface="Segoe UI"/>
              </a:rPr>
              <a:t>La misma imagen se ejecuta en desarrollo, ensayo y producción con valores diferentes</a:t>
            </a:r>
            <a:endParaRPr lang="en-US" sz="1600" b="0" i="0" u="none" strike="noStrike" cap="none" spc="0" dirty="0">
              <a:solidFill>
                <a:srgbClr val="000000"/>
              </a:solidFill>
              <a:latin typeface="Segoe UI"/>
              <a:cs typeface="Segoe UI"/>
            </a:endParaRPr>
          </a:p>
          <a:p>
            <a:pPr marL="228600" marR="0" indent="-228600" algn="l">
              <a:lnSpc>
                <a:spcPct val="100000"/>
              </a:lnSpc>
              <a:spcBef>
                <a:spcPct val="0"/>
              </a:spcBef>
              <a:buChar char="•"/>
              <a:defRPr/>
            </a:pPr>
            <a:r>
              <a:rPr lang="es-ES" sz="1600" b="0" i="0" strike="noStrike" cap="none" baseline="0" dirty="0">
                <a:solidFill>
                  <a:srgbClr val="000000"/>
                </a:solidFill>
                <a:effectLst/>
                <a:latin typeface="Segoe UI"/>
                <a:ea typeface="Segoe UI"/>
                <a:cs typeface="Segoe UI"/>
              </a:rPr>
              <a:t>Establecimiento en tiempo de creación o adición incremental más adelante</a:t>
            </a:r>
            <a:endParaRPr sz="1600" b="0" i="0" u="none" strike="noStrike" cap="none" spc="0" dirty="0">
              <a:solidFill>
                <a:srgbClr val="000000"/>
              </a:solidFill>
              <a:latin typeface="Segoe UI"/>
              <a:cs typeface="Segoe UI"/>
            </a:endParaRPr>
          </a:p>
          <a:p>
            <a:pPr marL="0" marR="0" indent="0" algn="l">
              <a:lnSpc>
                <a:spcPct val="100000"/>
              </a:lnSpc>
              <a:spcBef>
                <a:spcPts val="719"/>
              </a:spcBef>
              <a:buFont typeface="Arial"/>
              <a:buNone/>
              <a:defRPr/>
            </a:pPr>
            <a:r>
              <a:rPr lang="es-ES" sz="1800" b="0" i="0" strike="noStrike" cap="none" baseline="0" dirty="0">
                <a:solidFill>
                  <a:srgbClr val="000000"/>
                </a:solidFill>
                <a:effectLst/>
                <a:latin typeface="Segoe UI Semibold"/>
                <a:ea typeface="Segoe UI Semibold"/>
                <a:cs typeface="Segoe UI Semibold"/>
              </a:rPr>
              <a:t>Secretos (valores confidenciales)</a:t>
            </a:r>
            <a:endParaRPr sz="1600" b="0" i="0" u="none" strike="noStrike" cap="none" spc="0" dirty="0">
              <a:solidFill>
                <a:srgbClr val="000000"/>
              </a:solidFill>
              <a:latin typeface="Segoe UI"/>
              <a:cs typeface="Segoe UI"/>
            </a:endParaRPr>
          </a:p>
          <a:p>
            <a:pPr>
              <a:defRPr/>
            </a:pPr>
            <a:r>
              <a:rPr lang="es-ES" sz="1600" b="0" i="0" strike="noStrike" cap="none" baseline="0" dirty="0">
                <a:solidFill>
                  <a:srgbClr val="000000"/>
                </a:solidFill>
                <a:effectLst/>
                <a:latin typeface="Segoe UI"/>
                <a:ea typeface="Segoe UI"/>
                <a:cs typeface="Segoe UI"/>
              </a:rPr>
              <a:t>Claves de API, credenciales y claves de firma almacenadas por separado</a:t>
            </a:r>
          </a:p>
          <a:p>
            <a:pPr>
              <a:defRPr/>
            </a:pPr>
            <a:r>
              <a:rPr lang="es-ES" sz="1600" b="0" i="0" strike="noStrike" cap="none" baseline="0" dirty="0">
                <a:solidFill>
                  <a:srgbClr val="000000"/>
                </a:solidFill>
                <a:effectLst/>
                <a:latin typeface="Segoe UI"/>
                <a:ea typeface="Segoe UI"/>
                <a:cs typeface="Segoe UI"/>
              </a:rPr>
              <a:t>Rotación de secretos sin recompilar ni volver a implementar imágenes</a:t>
            </a:r>
          </a:p>
          <a:p>
            <a:pPr>
              <a:defRPr/>
            </a:pPr>
            <a:r>
              <a:rPr lang="es-ES" sz="1600" b="0" i="0" strike="noStrike" cap="none" baseline="0" dirty="0">
                <a:solidFill>
                  <a:srgbClr val="000000"/>
                </a:solidFill>
                <a:effectLst/>
                <a:latin typeface="Segoe UI"/>
                <a:ea typeface="Segoe UI"/>
                <a:cs typeface="Segoe UI"/>
              </a:rPr>
              <a:t>Referencias de Key </a:t>
            </a:r>
            <a:r>
              <a:rPr lang="es-ES" sz="1600" b="0" i="0" strike="noStrike" cap="none" baseline="0" dirty="0" err="1">
                <a:solidFill>
                  <a:srgbClr val="000000"/>
                </a:solidFill>
                <a:effectLst/>
                <a:latin typeface="Segoe UI"/>
                <a:ea typeface="Segoe UI"/>
                <a:cs typeface="Segoe UI"/>
              </a:rPr>
              <a:t>Vault</a:t>
            </a:r>
            <a:r>
              <a:rPr lang="es-ES" sz="1600" b="0" i="0" strike="noStrike" cap="none" baseline="0" dirty="0">
                <a:solidFill>
                  <a:srgbClr val="000000"/>
                </a:solidFill>
                <a:effectLst/>
                <a:latin typeface="Segoe UI"/>
                <a:ea typeface="Segoe UI"/>
                <a:cs typeface="Segoe UI"/>
              </a:rPr>
              <a:t> admitidas para la administración centralizada</a:t>
            </a:r>
            <a:endParaRPr sz="1600" dirty="0">
              <a:solidFill>
                <a:srgbClr val="000000"/>
              </a:solidFill>
            </a:endParaRPr>
          </a:p>
          <a:p>
            <a:pPr marL="0" marR="0" indent="0" algn="l">
              <a:lnSpc>
                <a:spcPct val="100000"/>
              </a:lnSpc>
              <a:spcBef>
                <a:spcPts val="719"/>
              </a:spcBef>
              <a:buFont typeface="Arial"/>
              <a:buNone/>
              <a:defRPr/>
            </a:pPr>
            <a:r>
              <a:rPr lang="es-ES" sz="1800" b="0" i="0" strike="noStrike" cap="none" baseline="0" dirty="0">
                <a:solidFill>
                  <a:srgbClr val="000000"/>
                </a:solidFill>
                <a:effectLst/>
                <a:latin typeface="Segoe UI Semibold"/>
                <a:ea typeface="Segoe UI Semibold"/>
                <a:cs typeface="Segoe UI Semibold"/>
              </a:rPr>
              <a:t>Referencias de secretos</a:t>
            </a:r>
            <a:endParaRPr sz="1600" b="0" i="0" u="none" strike="noStrike" cap="none" spc="0" dirty="0">
              <a:solidFill>
                <a:srgbClr val="000000"/>
              </a:solidFill>
              <a:latin typeface="Segoe UI"/>
              <a:cs typeface="Segoe UI"/>
            </a:endParaRPr>
          </a:p>
          <a:p>
            <a:pPr marL="228600" marR="0" indent="-228600" algn="l">
              <a:lnSpc>
                <a:spcPct val="100000"/>
              </a:lnSpc>
              <a:spcBef>
                <a:spcPct val="0"/>
              </a:spcBef>
              <a:buChar char="•"/>
              <a:defRPr/>
            </a:pPr>
            <a:r>
              <a:rPr lang="es-ES" sz="1600" b="0" i="0" strike="noStrike" cap="none" baseline="0" dirty="0">
                <a:solidFill>
                  <a:srgbClr val="000000"/>
                </a:solidFill>
                <a:effectLst/>
                <a:latin typeface="Segoe UI"/>
                <a:ea typeface="Segoe UI"/>
                <a:cs typeface="Segoe UI"/>
              </a:rPr>
              <a:t>Asignación de secretos a </a:t>
            </a:r>
            <a:r>
              <a:rPr lang="es-ES" sz="1600" b="0" i="0" strike="noStrike" cap="none" baseline="0" dirty="0" err="1">
                <a:solidFill>
                  <a:srgbClr val="000000"/>
                </a:solidFill>
                <a:effectLst/>
                <a:latin typeface="Segoe UI"/>
                <a:ea typeface="Segoe UI"/>
                <a:cs typeface="Segoe UI"/>
              </a:rPr>
              <a:t>env</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vars</a:t>
            </a:r>
            <a:r>
              <a:rPr lang="es-ES" sz="1600" b="0" i="0" strike="noStrike" cap="none" baseline="0" dirty="0">
                <a:solidFill>
                  <a:srgbClr val="000000"/>
                </a:solidFill>
                <a:effectLst/>
                <a:latin typeface="Segoe UI"/>
                <a:ea typeface="Segoe UI"/>
                <a:cs typeface="Segoe UI"/>
              </a:rPr>
              <a:t> para que el código de la aplicación los lea de forma transparente</a:t>
            </a:r>
            <a:endParaRPr lang="en-US" sz="1600" b="0" i="0" u="none" strike="noStrike" cap="none" spc="0" dirty="0">
              <a:solidFill>
                <a:srgbClr val="000000"/>
              </a:solidFill>
              <a:latin typeface="Segoe UI"/>
              <a:cs typeface="Segoe UI"/>
            </a:endParaRPr>
          </a:p>
          <a:p>
            <a:pPr marL="228600" marR="0" lvl="0" indent="-228600" algn="l">
              <a:lnSpc>
                <a:spcPct val="100000"/>
              </a:lnSpc>
              <a:spcBef>
                <a:spcPct val="0"/>
              </a:spcBef>
              <a:buChar char="•"/>
              <a:defRPr/>
            </a:pPr>
            <a:r>
              <a:rPr lang="es-ES" sz="1600" b="0" i="0" strike="noStrike" cap="none" baseline="0" dirty="0">
                <a:solidFill>
                  <a:srgbClr val="000000"/>
                </a:solidFill>
                <a:effectLst/>
                <a:latin typeface="Segoe UI"/>
                <a:ea typeface="Segoe UI"/>
                <a:cs typeface="Segoe UI"/>
              </a:rPr>
              <a:t>Mantenimiento de valores de secretos fuera de los archivos YAML y del historial del </a:t>
            </a:r>
            <a:r>
              <a:rPr lang="es-ES" sz="1600" b="0" i="0" strike="noStrike" cap="none" baseline="0" dirty="0" err="1">
                <a:solidFill>
                  <a:srgbClr val="000000"/>
                </a:solidFill>
                <a:effectLst/>
                <a:latin typeface="Segoe UI"/>
                <a:ea typeface="Segoe UI"/>
                <a:cs typeface="Segoe UI"/>
              </a:rPr>
              <a:t>shell</a:t>
            </a:r>
            <a:endParaRPr sz="2400" b="0" i="0" u="none" strike="noStrike" cap="none" spc="0" dirty="0">
              <a:latin typeface="Segoe UI"/>
              <a:cs typeface="Segoe UI"/>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582979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Configurar la autenticación de extracción de imágenes para registros privados.</a:t>
            </a:r>
            <a:endParaRPr/>
          </a:p>
        </p:txBody>
      </p:sp>
      <p:sp>
        <p:nvSpPr>
          <p:cNvPr id="1608543301" name="Content Placeholder 3"/>
          <p:cNvSpPr>
            <a:spLocks noGrp="1"/>
          </p:cNvSpPr>
          <p:nvPr/>
        </p:nvSpPr>
        <p:spPr bwMode="auto">
          <a:xfrm>
            <a:off x="457199" y="1234437"/>
            <a:ext cx="9579693" cy="481647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Nombre de usuario/contraseña</a:t>
            </a:r>
            <a:endParaRPr lang="en-US" sz="2000" b="0" i="0" u="none" strike="noStrike" cap="none" spc="0" dirty="0">
              <a:solidFill>
                <a:schemeClr val="tx1"/>
              </a:solidFill>
              <a:latin typeface="Segoe UI"/>
              <a:cs typeface="Segoe UI"/>
            </a:endParaRPr>
          </a:p>
          <a:p>
            <a:pPr>
              <a:spcAft>
                <a:spcPts val="359"/>
              </a:spcAft>
              <a:defRPr/>
            </a:pPr>
            <a:r>
              <a:rPr lang="es-ES" sz="1800" b="0" i="0" strike="noStrike" cap="none" baseline="0" dirty="0">
                <a:solidFill>
                  <a:srgbClr val="000000"/>
                </a:solidFill>
                <a:effectLst/>
                <a:latin typeface="Segoe UI"/>
                <a:ea typeface="Segoe UI"/>
                <a:cs typeface="Segoe UI"/>
              </a:rPr>
              <a:t>Funciona con cualquier registro (ACR, Docker Hub y GHCR)</a:t>
            </a:r>
            <a:endParaRPr lang="en-US" sz="1800" b="0" i="0" u="none" strike="noStrike" cap="none" spc="0" dirty="0">
              <a:solidFill>
                <a:schemeClr val="tx1"/>
              </a:solidFill>
              <a:latin typeface="Segoe UI"/>
              <a:cs typeface="Segoe UI"/>
            </a:endParaRPr>
          </a:p>
          <a:p>
            <a:pPr>
              <a:spcAft>
                <a:spcPts val="359"/>
              </a:spcAft>
              <a:defRPr/>
            </a:pPr>
            <a:r>
              <a:rPr lang="es-ES" sz="1800" b="0" i="0" strike="noStrike" cap="none" baseline="0" dirty="0">
                <a:solidFill>
                  <a:srgbClr val="000000"/>
                </a:solidFill>
                <a:effectLst/>
                <a:latin typeface="Segoe UI"/>
                <a:ea typeface="Segoe UI"/>
                <a:cs typeface="Segoe UI"/>
              </a:rPr>
              <a:t>Configuración rápida para la validación y la creación de prototipos</a:t>
            </a:r>
            <a:endParaRPr lang="en-US" sz="1800" b="0" i="0" u="none" strike="noStrike" cap="none" spc="0" dirty="0">
              <a:solidFill>
                <a:schemeClr val="tx1"/>
              </a:solidFill>
              <a:latin typeface="Segoe UI"/>
              <a:cs typeface="Segoe UI"/>
            </a:endParaRPr>
          </a:p>
          <a:p>
            <a:pPr>
              <a:spcAft>
                <a:spcPts val="359"/>
              </a:spcAft>
              <a:defRPr/>
            </a:pPr>
            <a:r>
              <a:rPr lang="es-ES" sz="1800" b="0" i="0" strike="noStrike" cap="none" baseline="0" dirty="0">
                <a:solidFill>
                  <a:srgbClr val="000000"/>
                </a:solidFill>
                <a:effectLst/>
                <a:latin typeface="Segoe UI"/>
                <a:ea typeface="Segoe UI"/>
                <a:cs typeface="Segoe UI"/>
              </a:rPr>
              <a:t>Más secretos para administrar y rotar con el tiempo</a:t>
            </a:r>
            <a:endParaRPr lang="en-US" sz="2000" b="0" i="0" u="none" strike="noStrike" cap="none" spc="0" dirty="0">
              <a:solidFill>
                <a:schemeClr val="tx1"/>
              </a:solidFill>
              <a:latin typeface="Segoe UI"/>
              <a:cs typeface="Segoe UI"/>
            </a:endParaRPr>
          </a:p>
          <a:p>
            <a:pPr marL="0" marR="0" indent="0" algn="l">
              <a:lnSpc>
                <a:spcPct val="100000"/>
              </a:lnSpc>
              <a:spcBef>
                <a:spcPts val="179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a:rPr>
              <a:t>Identidad administrada (recomendada para ACR)</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No hay credenciales para almacenar ni rotar</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Concesión solo de </a:t>
            </a:r>
            <a:r>
              <a:rPr lang="es-ES" sz="1800" b="0" i="0" strike="noStrike" cap="none" baseline="0" dirty="0" err="1">
                <a:solidFill>
                  <a:srgbClr val="000000"/>
                </a:solidFill>
                <a:effectLst/>
                <a:latin typeface="Segoe UI"/>
                <a:ea typeface="Segoe UI"/>
                <a:cs typeface="Segoe UI"/>
              </a:rPr>
              <a:t>AcrPull</a:t>
            </a:r>
            <a:r>
              <a:rPr lang="es-ES" sz="1800" b="0" i="0" strike="noStrike" cap="none" baseline="0" dirty="0">
                <a:solidFill>
                  <a:srgbClr val="000000"/>
                </a:solidFill>
                <a:effectLst/>
                <a:latin typeface="Segoe UI"/>
                <a:ea typeface="Segoe UI"/>
                <a:cs typeface="Segoe UI"/>
              </a:rPr>
              <a:t> para privilegios mínimos</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Opción más indicada para servicios de IA de producción que extraen muchas imágenes</a:t>
            </a: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Uso de </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0000"/>
                </a:solidFill>
                <a:effectLst/>
                <a:latin typeface="Consolas"/>
                <a:ea typeface="Consolas"/>
                <a:cs typeface="Consolas"/>
              </a:rPr>
              <a:t>identity</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system</a:t>
            </a:r>
            <a:r>
              <a:rPr lang="es-ES" sz="1800" b="0" i="0" strike="noStrike" cap="none" baseline="0" dirty="0">
                <a:solidFill>
                  <a:srgbClr val="000000"/>
                </a:solidFill>
                <a:effectLst/>
                <a:latin typeface="Segoe UI"/>
                <a:ea typeface="Segoe UI"/>
                <a:cs typeface="Segoe UI"/>
              </a:rPr>
              <a:t> para ACR</a:t>
            </a:r>
            <a:endParaRPr lang="en-US" sz="2000" b="0" i="0" u="none" strike="noStrike" cap="none" spc="0" dirty="0">
              <a:solidFill>
                <a:schemeClr val="tx1"/>
              </a:solidFill>
              <a:latin typeface="Segoe UI"/>
              <a:cs typeface="Segoe UI"/>
            </a:endParaRPr>
          </a:p>
          <a:p>
            <a:pPr marL="0" marR="0" lvl="0" indent="0" algn="l">
              <a:lnSpc>
                <a:spcPct val="100000"/>
              </a:lnSpc>
              <a:spcBef>
                <a:spcPts val="1799"/>
              </a:spcBef>
              <a:spcAft>
                <a:spcPct val="0"/>
              </a:spcAft>
              <a:buFont typeface="Arial"/>
              <a:buNone/>
              <a:defRPr/>
            </a:pPr>
            <a:r>
              <a:rPr lang="es-ES" sz="2000" b="0" i="0" strike="noStrike" cap="none" baseline="0" dirty="0">
                <a:solidFill>
                  <a:srgbClr val="000000"/>
                </a:solidFill>
                <a:effectLst/>
                <a:latin typeface="Segoe UI Semibold"/>
                <a:ea typeface="Segoe UI Semibold"/>
                <a:cs typeface="Segoe UI Semibold"/>
              </a:rPr>
              <a:t>Consideración clave:</a:t>
            </a:r>
            <a:r>
              <a:rPr lang="es-ES" sz="2000" b="0" i="0" strike="noStrike" cap="none" baseline="0" dirty="0">
                <a:solidFill>
                  <a:srgbClr val="000000"/>
                </a:solidFill>
                <a:effectLst/>
                <a:latin typeface="Segoe UI"/>
                <a:ea typeface="Segoe UI"/>
                <a:cs typeface="Segoe UI"/>
              </a:rPr>
              <a:t> la configuración del registro es independiente de la configuración de la aplicación. Los errores de extracción de imágenes suelen parecerse a errores de autenticación.</a:t>
            </a:r>
            <a:endParaRPr lang="en-US" sz="2000" b="0" i="0" u="none" strike="noStrike" cap="none" spc="0" dirty="0">
              <a:latin typeface="Segoe UI"/>
              <a:cs typeface="Segoe UI"/>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9067688" name="Title 1"/>
          <p:cNvSpPr>
            <a:spLocks noGrp="1"/>
          </p:cNvSpPr>
          <p:nvPr>
            <p:ph type="title"/>
          </p:nvPr>
        </p:nvSpPr>
        <p:spPr bwMode="auto">
          <a:xfrm>
            <a:off x="457200" y="411480"/>
            <a:ext cx="9944100" cy="515442"/>
          </a:xfrm>
        </p:spPr>
        <p:txBody>
          <a:bodyPr/>
          <a:lstStyle/>
          <a:p>
            <a:pPr>
              <a:defRPr/>
            </a:pPr>
            <a:r>
              <a:rPr lang="es-ES" sz="3200" b="0" i="0" strike="noStrike" cap="none" baseline="0" dirty="0">
                <a:solidFill>
                  <a:srgbClr val="000000"/>
                </a:solidFill>
                <a:effectLst/>
                <a:latin typeface="Segoe UI Semibold"/>
                <a:ea typeface="Segoe UI Semibold"/>
                <a:cs typeface="Segoe UI Semibold"/>
              </a:rPr>
              <a:t>Comprobación de las implementaciones con registros y estado</a:t>
            </a:r>
            <a:endParaRPr dirty="0"/>
          </a:p>
        </p:txBody>
      </p:sp>
      <p:sp>
        <p:nvSpPr>
          <p:cNvPr id="1262403226" name="Content Placeholder 3"/>
          <p:cNvSpPr>
            <a:spLocks noGrp="1"/>
          </p:cNvSpPr>
          <p:nvPr/>
        </p:nvSpPr>
        <p:spPr bwMode="auto">
          <a:xfrm>
            <a:off x="457198" y="1470657"/>
            <a:ext cx="5737862" cy="4472943"/>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3" indent="-234948"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0" algn="l" defTabSz="914400" rtl="0">
              <a:lnSpc>
                <a:spcPct val="100000"/>
              </a:lnSpc>
              <a:spcBef>
                <a:spcPct val="0"/>
              </a:spcBef>
              <a:buFont typeface="Arial"/>
              <a:buChar char="•"/>
              <a:defRPr sz="2000">
                <a:solidFill>
                  <a:schemeClr val="tx1"/>
                </a:solidFill>
                <a:latin typeface="Segoe UI"/>
                <a:ea typeface="+mn-ea"/>
                <a:cs typeface="Segoe UI"/>
              </a:defRPr>
            </a:lvl3pPr>
            <a:lvl4pPr marL="1141411" indent="-169860"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6" algn="l" defTabSz="914400" rtl="0">
              <a:lnSpc>
                <a:spcPct val="100000"/>
              </a:lnSpc>
              <a:spcBef>
                <a:spcPct val="0"/>
              </a:spcBef>
              <a:buFont typeface="Arial"/>
              <a:buChar char="•"/>
              <a:defRPr sz="1800">
                <a:solidFill>
                  <a:schemeClr val="tx1"/>
                </a:solidFill>
                <a:latin typeface="Segoe UI"/>
                <a:ea typeface="+mn-ea"/>
                <a:cs typeface="Segoe UI"/>
              </a:defRPr>
            </a:lvl5pPr>
            <a:lvl6pPr marL="2514598" indent="-228600" algn="l" defTabSz="914400" rtl="0">
              <a:lnSpc>
                <a:spcPct val="90000"/>
              </a:lnSpc>
              <a:spcBef>
                <a:spcPts val="498"/>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8"/>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8"/>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8"/>
              </a:spcBef>
              <a:buFont typeface="Arial"/>
              <a:buChar char="•"/>
              <a:defRPr sz="1800">
                <a:solidFill>
                  <a:schemeClr val="tx1"/>
                </a:solidFill>
                <a:latin typeface="+mn-lt"/>
                <a:ea typeface="+mn-ea"/>
                <a:cs typeface="+mn-cs"/>
              </a:defRPr>
            </a:lvl9pPr>
          </a:lstStyle>
          <a:p>
            <a:pPr marL="0" indent="0">
              <a:spcBef>
                <a:spcPct val="0"/>
              </a:spcBef>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Registros (señal más rápida)</a:t>
            </a:r>
            <a:endParaRPr sz="14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400" b="0" i="0" strike="noStrike" cap="none" baseline="0" dirty="0">
                <a:solidFill>
                  <a:srgbClr val="000000"/>
                </a:solidFill>
                <a:effectLst/>
                <a:latin typeface="Segoe UI"/>
                <a:ea typeface="Segoe UI"/>
                <a:cs typeface="Segoe UI"/>
              </a:rPr>
              <a:t>Registros de consola de errores de inicio de superficie, </a:t>
            </a:r>
            <a:r>
              <a:rPr lang="es-ES" sz="1400" b="0" i="0" strike="noStrike" cap="none" baseline="0" dirty="0" err="1">
                <a:solidFill>
                  <a:srgbClr val="000000"/>
                </a:solidFill>
                <a:effectLst/>
                <a:latin typeface="Segoe UI"/>
                <a:ea typeface="Segoe UI"/>
                <a:cs typeface="Segoe UI"/>
              </a:rPr>
              <a:t>env</a:t>
            </a:r>
            <a:r>
              <a:rPr lang="es-ES" sz="1400" b="0" i="0" strike="noStrike" cap="none" baseline="0" dirty="0">
                <a:solidFill>
                  <a:srgbClr val="000000"/>
                </a:solidFill>
                <a:effectLst/>
                <a:latin typeface="Segoe UI"/>
                <a:ea typeface="Segoe UI"/>
                <a:cs typeface="Segoe UI"/>
              </a:rPr>
              <a:t> </a:t>
            </a:r>
            <a:r>
              <a:rPr lang="es-ES" sz="1400" b="0" i="0" strike="noStrike" cap="none" baseline="0" dirty="0" err="1">
                <a:solidFill>
                  <a:srgbClr val="000000"/>
                </a:solidFill>
                <a:effectLst/>
                <a:latin typeface="Segoe UI"/>
                <a:ea typeface="Segoe UI"/>
                <a:cs typeface="Segoe UI"/>
              </a:rPr>
              <a:t>vars</a:t>
            </a:r>
            <a:r>
              <a:rPr lang="es-ES" sz="1400" b="0" i="0" strike="noStrike" cap="none" baseline="0" dirty="0">
                <a:solidFill>
                  <a:srgbClr val="000000"/>
                </a:solidFill>
                <a:effectLst/>
                <a:latin typeface="Segoe UI"/>
                <a:ea typeface="Segoe UI"/>
                <a:cs typeface="Segoe UI"/>
              </a:rPr>
              <a:t> faltantes y errores de conexión</a:t>
            </a:r>
            <a:endParaRPr lang="en-US" sz="14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400" b="0" i="0" strike="noStrike" cap="none" baseline="0" dirty="0">
                <a:solidFill>
                  <a:srgbClr val="000000"/>
                </a:solidFill>
                <a:effectLst/>
                <a:latin typeface="Segoe UI"/>
                <a:ea typeface="Segoe UI"/>
                <a:cs typeface="Segoe UI"/>
              </a:rPr>
              <a:t>Los registros del sistema revelan problemas de nivel de plataforma (extracción de imágenes y escalado)</a:t>
            </a:r>
            <a:endParaRPr lang="en-US" sz="1400" b="0" i="0" u="none" strike="noStrike" cap="none" spc="0" dirty="0">
              <a:solidFill>
                <a:schemeClr val="tx1"/>
              </a:solidFill>
              <a:latin typeface="Segoe UI"/>
              <a:cs typeface="Segoe UI"/>
            </a:endParaRPr>
          </a:p>
          <a:p>
            <a:pPr marL="228600" marR="0" indent="-228600" algn="l">
              <a:lnSpc>
                <a:spcPct val="100000"/>
              </a:lnSpc>
              <a:spcBef>
                <a:spcPct val="0"/>
              </a:spcBef>
              <a:buChar char="•"/>
              <a:defRPr/>
            </a:pPr>
            <a:r>
              <a:rPr lang="es-ES" sz="1400" b="0" i="0" strike="noStrike" cap="none" baseline="0" dirty="0">
                <a:solidFill>
                  <a:srgbClr val="000000"/>
                </a:solidFill>
                <a:effectLst/>
                <a:latin typeface="Segoe UI"/>
                <a:ea typeface="Segoe UI"/>
                <a:cs typeface="Segoe UI"/>
              </a:rPr>
              <a:t>Transmisión de registros en tiempo real durante la depuración activa</a:t>
            </a:r>
            <a:endParaRPr sz="14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Revisiones (comprobación de versiones)</a:t>
            </a:r>
            <a:endParaRPr sz="1400" b="0" i="0" u="none" strike="noStrike" cap="none" spc="0" dirty="0">
              <a:solidFill>
                <a:schemeClr val="tx1"/>
              </a:solidFill>
              <a:latin typeface="Segoe UI"/>
              <a:cs typeface="Segoe UI"/>
            </a:endParaRPr>
          </a:p>
          <a:p>
            <a:pPr>
              <a:defRPr/>
            </a:pPr>
            <a:r>
              <a:rPr lang="es-ES" sz="1400" b="0" i="0" strike="noStrike" cap="none" baseline="0" dirty="0">
                <a:solidFill>
                  <a:srgbClr val="000000"/>
                </a:solidFill>
                <a:effectLst/>
                <a:latin typeface="Segoe UI"/>
                <a:ea typeface="Segoe UI"/>
                <a:cs typeface="Segoe UI"/>
              </a:rPr>
              <a:t>Confirmación de que existe una nueva revisión después de cada actualización</a:t>
            </a:r>
          </a:p>
          <a:p>
            <a:pPr>
              <a:defRPr/>
            </a:pPr>
            <a:r>
              <a:rPr lang="es-ES" sz="1400" b="0" i="0" strike="noStrike" cap="none" baseline="0" dirty="0">
                <a:solidFill>
                  <a:srgbClr val="000000"/>
                </a:solidFill>
                <a:effectLst/>
                <a:latin typeface="Segoe UI"/>
                <a:ea typeface="Segoe UI"/>
                <a:cs typeface="Segoe UI"/>
              </a:rPr>
              <a:t>Comprobación de que la revisión alcanzó un estado correcto y activo</a:t>
            </a:r>
          </a:p>
          <a:p>
            <a:pPr>
              <a:defRPr/>
            </a:pPr>
            <a:r>
              <a:rPr lang="es-ES" sz="1400" b="0" i="0" strike="noStrike" cap="none" baseline="0" dirty="0">
                <a:solidFill>
                  <a:srgbClr val="000000"/>
                </a:solidFill>
                <a:effectLst/>
                <a:latin typeface="Segoe UI"/>
                <a:ea typeface="Segoe UI"/>
                <a:cs typeface="Segoe UI"/>
              </a:rPr>
              <a:t>Inclusión de revisiones inactivas para una investigación más profunda</a:t>
            </a:r>
            <a:endParaRPr sz="1400" dirty="0"/>
          </a:p>
          <a:p>
            <a:pPr marL="0" marR="0" indent="0" algn="l">
              <a:lnSpc>
                <a:spcPct val="100000"/>
              </a:lnSpc>
              <a:spcBef>
                <a:spcPts val="719"/>
              </a:spcBef>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Réplicas (comprobación de escalado)</a:t>
            </a:r>
            <a:endParaRPr sz="1400" b="0" i="0" u="none" strike="noStrike" cap="none" spc="0" dirty="0">
              <a:solidFill>
                <a:schemeClr val="tx1"/>
              </a:solidFill>
              <a:latin typeface="Segoe UI"/>
              <a:cs typeface="Segoe UI"/>
            </a:endParaRPr>
          </a:p>
          <a:p>
            <a:pPr>
              <a:spcBef>
                <a:spcPct val="0"/>
              </a:spcBef>
              <a:defRPr/>
            </a:pPr>
            <a:r>
              <a:rPr lang="es-ES" sz="1400" b="0" i="0" strike="noStrike" cap="none" baseline="0" dirty="0">
                <a:solidFill>
                  <a:srgbClr val="000000"/>
                </a:solidFill>
                <a:effectLst/>
                <a:latin typeface="Segoe UI"/>
                <a:ea typeface="Segoe UI"/>
                <a:cs typeface="Segoe UI"/>
              </a:rPr>
              <a:t>Detección de problemas de escalado a cero, bucles de bloqueo y arranque en frío</a:t>
            </a:r>
            <a:endParaRPr sz="1400" b="0" i="0" u="none" strike="noStrike" cap="none" spc="0" dirty="0">
              <a:solidFill>
                <a:schemeClr val="tx1"/>
              </a:solidFill>
              <a:latin typeface="Segoe UI"/>
              <a:cs typeface="Segoe UI"/>
            </a:endParaRPr>
          </a:p>
          <a:p>
            <a:pPr lvl="0" algn="l">
              <a:lnSpc>
                <a:spcPct val="100000"/>
              </a:lnSpc>
              <a:spcBef>
                <a:spcPct val="0"/>
              </a:spcBef>
              <a:defRPr/>
            </a:pPr>
            <a:r>
              <a:rPr lang="es-ES" sz="1400" b="0" i="0" strike="noStrike" cap="none" baseline="0" dirty="0">
                <a:solidFill>
                  <a:srgbClr val="000000"/>
                </a:solidFill>
                <a:effectLst/>
                <a:latin typeface="Segoe UI"/>
                <a:ea typeface="Segoe UI"/>
                <a:cs typeface="Segoe UI"/>
              </a:rPr>
              <a:t>Comprobación del recuento de instancias esperado en carga</a:t>
            </a:r>
            <a:endParaRPr lang="en-US" sz="1400" b="0" i="0" u="none" strike="noStrike" cap="none" spc="0" dirty="0">
              <a:latin typeface="Segoe UI"/>
              <a:cs typeface="Segoe UI"/>
            </a:endParaRPr>
          </a:p>
        </p:txBody>
      </p:sp>
      <p:pic>
        <p:nvPicPr>
          <p:cNvPr id="1803909908" name="Picture 1" descr="Flow chart showing the three-step verification sequence: logs, revisions, replicas, then deployment verified&#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601967" y="1234440"/>
            <a:ext cx="4700015" cy="4306823"/>
          </a:xfrm>
          <a:prstGeom prst="rect">
            <a:avLst/>
          </a:prstGeom>
          <a:noFill/>
          <a:ln w="9525">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7547288"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321433916"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4" y="2043464"/>
            <a:ext cx="4467225" cy="3307646"/>
          </a:xfrm>
          <a:prstGeom prst="rect">
            <a:avLst/>
          </a:prstGeom>
          <a:solidFill>
            <a:srgbClr val="F4F4F7"/>
          </a:solidFill>
          <a:ln>
            <a:noFill/>
          </a:ln>
        </p:spPr>
      </p:pic>
      <p:sp>
        <p:nvSpPr>
          <p:cNvPr id="1920452175" name="Text Placeholder 4"/>
          <p:cNvSpPr>
            <a:spLocks noGrp="1"/>
          </p:cNvSpPr>
          <p:nvPr>
            <p:ph type="body" sz="quarter" idx="16"/>
          </p:nvPr>
        </p:nvSpPr>
        <p:spPr bwMode="auto">
          <a:xfrm>
            <a:off x="584199" y="1517954"/>
            <a:ext cx="4955541" cy="540340"/>
          </a:xfrm>
        </p:spPr>
        <p:txBody>
          <a:bodyPr/>
          <a:lstStyle/>
          <a:p>
            <a:pPr>
              <a:defRPr/>
            </a:pPr>
            <a:r>
              <a:rPr lang="es-ES" sz="1600" b="0" i="0" strike="noStrike" cap="none" baseline="0" dirty="0">
                <a:solidFill>
                  <a:srgbClr val="000000"/>
                </a:solidFill>
                <a:effectLst/>
                <a:latin typeface="Segoe UI Semibold"/>
                <a:ea typeface="Segoe UI Semibold"/>
                <a:cs typeface="Segoe UI Semibold"/>
              </a:rPr>
              <a:t>Implementar una API de back-</a:t>
            </a:r>
            <a:r>
              <a:rPr lang="es-ES" sz="1600" b="0" i="0" strike="noStrike" cap="none" baseline="0" dirty="0" err="1">
                <a:solidFill>
                  <a:srgbClr val="000000"/>
                </a:solidFill>
                <a:effectLst/>
                <a:latin typeface="Segoe UI Semibold"/>
                <a:ea typeface="Segoe UI Semibold"/>
                <a:cs typeface="Segoe UI Semibold"/>
              </a:rPr>
              <a:t>end</a:t>
            </a:r>
            <a:r>
              <a:rPr lang="es-ES" sz="1600" b="0" i="0" strike="noStrike" cap="none" baseline="0" dirty="0">
                <a:solidFill>
                  <a:srgbClr val="000000"/>
                </a:solidFill>
                <a:effectLst/>
                <a:latin typeface="Segoe UI Semibold"/>
                <a:ea typeface="Segoe UI Semibold"/>
                <a:cs typeface="Segoe UI Semibold"/>
              </a:rPr>
              <a:t> </a:t>
            </a:r>
            <a:r>
              <a:rPr lang="es-ES" sz="1600" b="0" i="0" strike="noStrike" cap="none" baseline="0" dirty="0" err="1">
                <a:solidFill>
                  <a:srgbClr val="000000"/>
                </a:solidFill>
                <a:effectLst/>
                <a:latin typeface="Segoe UI Semibold"/>
                <a:ea typeface="Segoe UI Semibold"/>
                <a:cs typeface="Segoe UI Semibold"/>
              </a:rPr>
              <a:t>contenedorizada</a:t>
            </a:r>
            <a:r>
              <a:rPr lang="es-ES" sz="1600" b="0" i="0" strike="noStrike" cap="none" baseline="0" dirty="0">
                <a:solidFill>
                  <a:srgbClr val="000000"/>
                </a:solidFill>
                <a:effectLst/>
                <a:latin typeface="Segoe UI Semibold"/>
                <a:ea typeface="Segoe UI Semibold"/>
                <a:cs typeface="Segoe UI Semibold"/>
              </a:rPr>
              <a:t> en Azure Container Apps</a:t>
            </a:r>
            <a:endParaRPr lang="en-US" dirty="0"/>
          </a:p>
          <a:p>
            <a:pPr>
              <a:defRPr/>
            </a:pPr>
            <a:endParaRPr lang="en-US" dirty="0"/>
          </a:p>
        </p:txBody>
      </p:sp>
      <p:sp>
        <p:nvSpPr>
          <p:cNvPr id="2063080647" name="Text Placeholder 61"/>
          <p:cNvSpPr>
            <a:spLocks noGrp="1"/>
          </p:cNvSpPr>
          <p:nvPr>
            <p:ph type="body" sz="quarter" idx="15"/>
          </p:nvPr>
        </p:nvSpPr>
        <p:spPr bwMode="auto">
          <a:xfrm>
            <a:off x="585787" y="2101215"/>
            <a:ext cx="5350193" cy="2682241"/>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implementarás una API de back-</a:t>
            </a:r>
            <a:r>
              <a:rPr lang="es-ES" sz="1600" b="0" i="0" strike="noStrike" cap="none" baseline="0" dirty="0" err="1">
                <a:solidFill>
                  <a:srgbClr val="000000"/>
                </a:solidFill>
                <a:effectLst/>
                <a:latin typeface="Segoe UI"/>
                <a:ea typeface="Segoe UI"/>
                <a:cs typeface="Segoe UI"/>
              </a:rPr>
              <a:t>end</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contenedorizada</a:t>
            </a:r>
            <a:r>
              <a:rPr lang="es-ES" sz="1600" b="0" i="0" strike="noStrike" cap="none" baseline="0" dirty="0">
                <a:solidFill>
                  <a:srgbClr val="000000"/>
                </a:solidFill>
                <a:effectLst/>
                <a:latin typeface="Segoe UI"/>
                <a:ea typeface="Segoe UI"/>
                <a:cs typeface="Segoe UI"/>
              </a:rPr>
              <a:t> en Azure Container Apps. Usa una identidad administrada para extraer imágenes de Azure Container </a:t>
            </a:r>
            <a:r>
              <a:rPr lang="es-ES" sz="1600" b="0" i="0" strike="noStrike" cap="none" baseline="0" dirty="0" err="1">
                <a:solidFill>
                  <a:srgbClr val="000000"/>
                </a:solidFill>
                <a:effectLst/>
                <a:latin typeface="Segoe UI"/>
                <a:ea typeface="Segoe UI"/>
                <a:cs typeface="Segoe UI"/>
              </a:rPr>
              <a:t>Registry</a:t>
            </a:r>
            <a:r>
              <a:rPr lang="es-ES" sz="1600" b="0" i="0" strike="noStrike" cap="none" baseline="0" dirty="0">
                <a:solidFill>
                  <a:srgbClr val="000000"/>
                </a:solidFill>
                <a:effectLst/>
                <a:latin typeface="Segoe UI"/>
                <a:ea typeface="Segoe UI"/>
                <a:cs typeface="Segoe UI"/>
              </a:rPr>
              <a:t> de forma segura y configurar secretos como variables de entorno.</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4" history="0"/>
              </a:rPr>
              <a:t>https://go.microsoft.com/fwlink/?linkid=2348000</a:t>
            </a:r>
            <a:endParaRPr dirty="0"/>
          </a:p>
          <a:p>
            <a:pPr marL="0" indent="0">
              <a:buNone/>
              <a:defRPr/>
            </a:pPr>
            <a:endParaRPr lang="en-US" dirty="0"/>
          </a:p>
        </p:txBody>
      </p:sp>
      <p:sp>
        <p:nvSpPr>
          <p:cNvPr id="166222244" name="Flowchart: Off-page Connector 7"/>
          <p:cNvSpPr/>
          <p:nvPr/>
        </p:nvSpPr>
        <p:spPr bwMode="auto">
          <a:xfrm rot="5400000">
            <a:off x="6119824" y="229718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7" rtl="0">
              <a:defRPr sz="1750">
                <a:solidFill>
                  <a:schemeClr val="lt1"/>
                </a:solidFill>
                <a:latin typeface="+mn-lt"/>
                <a:ea typeface="+mn-ea"/>
                <a:cs typeface="+mn-cs"/>
              </a:defRPr>
            </a:lvl1pPr>
            <a:lvl2pPr marL="457183" algn="l" defTabSz="914367" rtl="0">
              <a:defRPr sz="1750">
                <a:solidFill>
                  <a:schemeClr val="lt1"/>
                </a:solidFill>
                <a:latin typeface="+mn-lt"/>
                <a:ea typeface="+mn-ea"/>
                <a:cs typeface="+mn-cs"/>
              </a:defRPr>
            </a:lvl2pPr>
            <a:lvl3pPr marL="914367" algn="l" defTabSz="914367" rtl="0">
              <a:defRPr sz="1750">
                <a:solidFill>
                  <a:schemeClr val="lt1"/>
                </a:solidFill>
                <a:latin typeface="+mn-lt"/>
                <a:ea typeface="+mn-ea"/>
                <a:cs typeface="+mn-cs"/>
              </a:defRPr>
            </a:lvl3pPr>
            <a:lvl4pPr marL="1371550" algn="l" defTabSz="914367" rtl="0">
              <a:defRPr sz="1750">
                <a:solidFill>
                  <a:schemeClr val="lt1"/>
                </a:solidFill>
                <a:latin typeface="+mn-lt"/>
                <a:ea typeface="+mn-ea"/>
                <a:cs typeface="+mn-cs"/>
              </a:defRPr>
            </a:lvl4pPr>
            <a:lvl5pPr marL="1828734" algn="l" defTabSz="914367" rtl="0">
              <a:defRPr sz="1750">
                <a:solidFill>
                  <a:schemeClr val="lt1"/>
                </a:solidFill>
                <a:latin typeface="+mn-lt"/>
                <a:ea typeface="+mn-ea"/>
                <a:cs typeface="+mn-cs"/>
              </a:defRPr>
            </a:lvl5pPr>
            <a:lvl6pPr marL="2285918" algn="l" defTabSz="914367" rtl="0">
              <a:defRPr sz="1750">
                <a:solidFill>
                  <a:schemeClr val="lt1"/>
                </a:solidFill>
                <a:latin typeface="+mn-lt"/>
                <a:ea typeface="+mn-ea"/>
                <a:cs typeface="+mn-cs"/>
              </a:defRPr>
            </a:lvl6pPr>
            <a:lvl7pPr marL="2743101" algn="l" defTabSz="914367" rtl="0">
              <a:defRPr sz="1750">
                <a:solidFill>
                  <a:schemeClr val="lt1"/>
                </a:solidFill>
                <a:latin typeface="+mn-lt"/>
                <a:ea typeface="+mn-ea"/>
                <a:cs typeface="+mn-cs"/>
              </a:defRPr>
            </a:lvl7pPr>
            <a:lvl8pPr marL="3200283" algn="l" defTabSz="914367" rtl="0">
              <a:defRPr sz="1750">
                <a:solidFill>
                  <a:schemeClr val="lt1"/>
                </a:solidFill>
                <a:latin typeface="+mn-lt"/>
                <a:ea typeface="+mn-ea"/>
                <a:cs typeface="+mn-cs"/>
              </a:defRPr>
            </a:lvl8pPr>
            <a:lvl9pPr marL="3657469" algn="l" defTabSz="914367"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600"/>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633890949" name="Footer Placeholder 4"/>
          <p:cNvSpPr>
            <a:spLocks noGrp="1"/>
          </p:cNvSpPr>
          <p:nvPr>
            <p:ph type="ftr" sz="quarter" idx="3"/>
          </p:nvPr>
        </p:nvSpPr>
        <p:spPr bwMode="auto">
          <a:xfrm>
            <a:off x="579438" y="6421083"/>
            <a:ext cx="4151312" cy="197976"/>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8531340"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1</a:t>
            </a:r>
            <a:endParaRPr/>
          </a:p>
        </p:txBody>
      </p:sp>
      <p:sp>
        <p:nvSpPr>
          <p:cNvPr id="1360650677" name="Oval 8"/>
          <p:cNvSpPr/>
          <p:nvPr/>
        </p:nvSpPr>
        <p:spPr bwMode="auto">
          <a:xfrm>
            <a:off x="697223" y="1783918"/>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721539146" name="Text Placeholder 43"/>
          <p:cNvSpPr txBox="1"/>
          <p:nvPr/>
        </p:nvSpPr>
        <p:spPr bwMode="auto">
          <a:xfrm>
            <a:off x="1641207" y="1783917"/>
            <a:ext cx="9087754" cy="1932419"/>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dirty="0">
                <a:solidFill>
                  <a:srgbClr val="000000"/>
                </a:solidFill>
                <a:effectLst/>
                <a:latin typeface="Segoe UI"/>
                <a:ea typeface="Segoe UI"/>
                <a:cs typeface="Segoe UI"/>
              </a:rPr>
              <a:t>Quieres una implementación coherente y controlada por código fuente para una aplicación contenedora, por lo que la configuración se revisa como código. ¿Qué enfoque admite mejor ese objetivo?</a:t>
            </a:r>
            <a:endParaRPr dirty="0"/>
          </a:p>
          <a:p>
            <a:pPr marL="261850" indent="-261850">
              <a:buFont typeface="Arial"/>
              <a:buAutoNum type="alphaUcPeriod"/>
              <a:defRPr/>
            </a:pPr>
            <a:r>
              <a:rPr lang="es-ES" sz="1600" b="0" i="0" strike="noStrike" cap="none" baseline="0" dirty="0">
                <a:solidFill>
                  <a:srgbClr val="000000"/>
                </a:solidFill>
                <a:effectLst/>
                <a:latin typeface="Segoe UI"/>
                <a:ea typeface="Segoe UI"/>
                <a:cs typeface="Segoe UI"/>
              </a:rPr>
              <a:t>Usar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create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yaml</a:t>
            </a:r>
            <a:r>
              <a:rPr lang="es-ES" sz="1600" b="0" i="0" strike="noStrike" cap="none" baseline="0" dirty="0">
                <a:solidFill>
                  <a:srgbClr val="000000"/>
                </a:solidFill>
                <a:effectLst/>
                <a:latin typeface="Segoe UI"/>
                <a:ea typeface="Segoe UI"/>
                <a:cs typeface="Segoe UI"/>
              </a:rPr>
              <a:t> con un archivo YAML en el control de código fuente</a:t>
            </a:r>
            <a:endParaRPr lang="en-US" sz="1600" b="0" i="0" u="none" strike="noStrike" cap="none" spc="0" dirty="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dirty="0">
                <a:solidFill>
                  <a:srgbClr val="000000"/>
                </a:solidFill>
                <a:effectLst/>
                <a:latin typeface="Segoe UI"/>
                <a:ea typeface="Segoe UI"/>
                <a:cs typeface="Segoe UI"/>
              </a:rPr>
              <a:t>Usar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update</a:t>
            </a:r>
            <a:r>
              <a:rPr lang="es-ES" sz="1600" b="0" i="0" strike="noStrike" cap="none" baseline="0" dirty="0">
                <a:solidFill>
                  <a:srgbClr val="000000"/>
                </a:solidFill>
                <a:effectLst/>
                <a:latin typeface="Consolas"/>
                <a:ea typeface="Consolas"/>
                <a:cs typeface="Consolas"/>
              </a:rPr>
              <a:t> --set-</a:t>
            </a:r>
            <a:r>
              <a:rPr lang="es-ES" sz="1600" b="0" i="0" strike="noStrike" cap="none" baseline="0" dirty="0" err="1">
                <a:solidFill>
                  <a:srgbClr val="000000"/>
                </a:solidFill>
                <a:effectLst/>
                <a:latin typeface="Consolas"/>
                <a:ea typeface="Consolas"/>
                <a:cs typeface="Consolas"/>
              </a:rPr>
              <a:t>env</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vars</a:t>
            </a:r>
            <a:r>
              <a:rPr lang="es-ES" sz="1600" b="0" i="0" strike="noStrike" cap="none" baseline="0" dirty="0">
                <a:solidFill>
                  <a:srgbClr val="000000"/>
                </a:solidFill>
                <a:effectLst/>
                <a:latin typeface="Segoe UI"/>
                <a:ea typeface="Segoe UI"/>
                <a:cs typeface="Segoe UI"/>
              </a:rPr>
              <a:t> para todos los cambios</a:t>
            </a:r>
          </a:p>
          <a:p>
            <a:pPr marL="261849" marR="0" indent="-261849" algn="l">
              <a:lnSpc>
                <a:spcPct val="100000"/>
              </a:lnSpc>
              <a:spcBef>
                <a:spcPct val="0"/>
              </a:spcBef>
              <a:spcAft>
                <a:spcPct val="0"/>
              </a:spcAft>
              <a:buFont typeface="Arial"/>
              <a:buAutoNum type="alphaUcPeriod"/>
              <a:defRPr/>
            </a:pPr>
            <a:r>
              <a:rPr lang="es-ES" sz="1600" b="0" i="0" strike="noStrike" cap="none" baseline="0" dirty="0">
                <a:solidFill>
                  <a:srgbClr val="000000"/>
                </a:solidFill>
                <a:effectLst/>
                <a:latin typeface="Segoe UI"/>
                <a:ea typeface="Segoe UI"/>
                <a:cs typeface="Segoe UI"/>
              </a:rPr>
              <a:t>Basarse en etiquetas de imagen y volver a implementar con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update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image</a:t>
            </a:r>
            <a:endParaRPr lang="en-US" sz="1600" b="0" i="0" u="none" strike="noStrike" cap="none" spc="0" dirty="0">
              <a:solidFill>
                <a:schemeClr val="tx1"/>
              </a:solidFill>
              <a:latin typeface="Segoe UI"/>
              <a:cs typeface="Segoe UI"/>
            </a:endParaRPr>
          </a:p>
        </p:txBody>
      </p:sp>
      <p:sp>
        <p:nvSpPr>
          <p:cNvPr id="309061893" name="Oval 10"/>
          <p:cNvSpPr/>
          <p:nvPr/>
        </p:nvSpPr>
        <p:spPr bwMode="auto">
          <a:xfrm>
            <a:off x="697223" y="3862417"/>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Aptos"/>
                <a:cs typeface="Segoe UI"/>
              </a:rPr>
              <a:t>2</a:t>
            </a:r>
            <a:endParaRPr lang="en-IN" sz="2400" b="1">
              <a:solidFill>
                <a:schemeClr val="bg1"/>
              </a:solidFill>
            </a:endParaRPr>
          </a:p>
        </p:txBody>
      </p:sp>
      <p:sp>
        <p:nvSpPr>
          <p:cNvPr id="1240045374" name="Text Placeholder 43"/>
          <p:cNvSpPr txBox="1"/>
          <p:nvPr/>
        </p:nvSpPr>
        <p:spPr bwMode="auto">
          <a:xfrm>
            <a:off x="1641206" y="3860982"/>
            <a:ext cx="8935354" cy="1556838"/>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dirty="0">
                <a:solidFill>
                  <a:srgbClr val="000000"/>
                </a:solidFill>
                <a:effectLst/>
                <a:latin typeface="Segoe UI"/>
                <a:ea typeface="Segoe UI"/>
                <a:cs typeface="Segoe UI"/>
              </a:rPr>
              <a:t>Una aplicación contenedora no se puede iniciar después de actualizar la imagen. Necesitas comentarios rápidos para diagnosticar el problema. ¿Qué comando es el mejor primer paso?</a:t>
            </a:r>
            <a:endParaRPr lang="en-US" dirty="0"/>
          </a:p>
          <a:p>
            <a:pPr marL="261850" indent="-261850">
              <a:buFont typeface="Arial"/>
              <a:buAutoNum type="alphaUcPeriod"/>
              <a:defRPr/>
            </a:pPr>
            <a:r>
              <a:rPr lang="es-ES" sz="1600" b="0" i="0" strike="noStrike" cap="none" baseline="0" dirty="0">
                <a:solidFill>
                  <a:srgbClr val="000000"/>
                </a:solidFill>
                <a:effectLst/>
                <a:latin typeface="Segoe UI"/>
                <a:ea typeface="Consolas"/>
                <a:cs typeface="Segoe UI"/>
              </a:rPr>
              <a:t>Ejecutar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logs show</a:t>
            </a:r>
            <a:endParaRPr sz="1600" b="0" i="0" u="none" strike="noStrike" cap="none" spc="0" dirty="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dirty="0">
                <a:solidFill>
                  <a:srgbClr val="000000"/>
                </a:solidFill>
                <a:effectLst/>
                <a:latin typeface="Segoe UI"/>
                <a:ea typeface="Segoe UI"/>
                <a:cs typeface="Segoe UI"/>
              </a:rPr>
              <a:t>Ejecutar</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revision</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list</a:t>
            </a:r>
            <a:endParaRPr lang="en-US" sz="1600" b="0" i="0" u="none" strike="noStrike" cap="none" spc="0" dirty="0">
              <a:solidFill>
                <a:schemeClr val="tx1"/>
              </a:solidFill>
              <a:latin typeface="Consolas"/>
              <a:cs typeface="Consolas"/>
            </a:endParaRPr>
          </a:p>
          <a:p>
            <a:pPr marL="261850" marR="0" indent="-261850" algn="l">
              <a:lnSpc>
                <a:spcPct val="100000"/>
              </a:lnSpc>
              <a:spcBef>
                <a:spcPct val="0"/>
              </a:spcBef>
              <a:spcAft>
                <a:spcPct val="0"/>
              </a:spcAft>
              <a:buFont typeface="Arial"/>
              <a:buAutoNum type="alphaUcPeriod"/>
              <a:defRPr/>
            </a:pPr>
            <a:r>
              <a:rPr lang="es-ES" sz="1600" b="0" i="0" strike="noStrike" cap="none" baseline="0" dirty="0">
                <a:solidFill>
                  <a:srgbClr val="000000"/>
                </a:solidFill>
                <a:effectLst/>
                <a:latin typeface="Segoe UI"/>
                <a:ea typeface="Segoe UI"/>
                <a:cs typeface="Segoe UI"/>
              </a:rPr>
              <a:t>Ejecutar </a:t>
            </a:r>
            <a:r>
              <a:rPr lang="es-ES" sz="1600" b="0" i="0" strike="noStrike" cap="none" baseline="0" dirty="0" err="1">
                <a:solidFill>
                  <a:srgbClr val="000000"/>
                </a:solidFill>
                <a:effectLst/>
                <a:latin typeface="Consolas"/>
                <a:ea typeface="Consolas"/>
                <a:cs typeface="Consolas"/>
              </a:rPr>
              <a:t>az</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containerapp</a:t>
            </a:r>
            <a:r>
              <a:rPr lang="es-ES" sz="1600" b="0" i="0" strike="noStrike" cap="none" baseline="0" dirty="0">
                <a:solidFill>
                  <a:srgbClr val="000000"/>
                </a:solidFill>
                <a:effectLst/>
                <a:latin typeface="Consolas"/>
                <a:ea typeface="Consolas"/>
                <a:cs typeface="Consolas"/>
              </a:rPr>
              <a:t> replica </a:t>
            </a:r>
            <a:r>
              <a:rPr lang="es-ES" sz="1600" b="0" i="0" strike="noStrike" cap="none" baseline="0" dirty="0" err="1">
                <a:solidFill>
                  <a:srgbClr val="000000"/>
                </a:solidFill>
                <a:effectLst/>
                <a:latin typeface="Consolas"/>
                <a:ea typeface="Consolas"/>
                <a:cs typeface="Consolas"/>
              </a:rPr>
              <a:t>list</a:t>
            </a:r>
            <a:endParaRPr lang="en-US" sz="1600" b="0" i="0" u="none" strike="noStrike" cap="none" spc="0" dirty="0">
              <a:solidFill>
                <a:schemeClr val="tx1"/>
              </a:solidFill>
              <a:latin typeface="Consolas"/>
              <a:cs typeface="Consola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758833452" name="Title 16"/>
          <p:cNvSpPr txBox="1">
            <a:spLocks noGrp="1"/>
          </p:cNvSpPr>
          <p:nvPr>
            <p:ph type="title"/>
          </p:nvPr>
        </p:nvSpPr>
        <p:spPr bwMode="auto">
          <a:xfrm>
            <a:off x="457200" y="411480"/>
            <a:ext cx="11222610" cy="553998"/>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mj-lt"/>
                <a:ea typeface="+mn-ea"/>
                <a:cs typeface="Segoe UI Semibold"/>
              </a:rPr>
              <a:t> check </a:t>
            </a:r>
            <a:endParaRPr/>
          </a:p>
        </p:txBody>
      </p:sp>
      <p:sp>
        <p:nvSpPr>
          <p:cNvPr id="119913512" name="Text Placeholder 1"/>
          <p:cNvSpPr>
            <a:spLocks noGrp="1"/>
          </p:cNvSpPr>
          <p:nvPr>
            <p:ph type="body" sz="quarter" idx="4294967295"/>
          </p:nvPr>
        </p:nvSpPr>
        <p:spPr bwMode="auto">
          <a:xfrm>
            <a:off x="4798235" y="2051472"/>
            <a:ext cx="6721649" cy="2926440"/>
          </a:xfrm>
        </p:spPr>
        <p:txBody>
          <a:bodyPr vert="horz" wrap="square" lIns="0" tIns="0" rIns="0" bIns="0" rtlCol="0" anchor="t">
            <a:spAutoFit/>
          </a:bodyPr>
          <a:lstStyle/>
          <a:p>
            <a:pPr marL="0" indent="0">
              <a:buNone/>
              <a:defRPr/>
            </a:pPr>
            <a:r>
              <a:rPr lang="en-US" sz="2400" b="0" dirty="0">
                <a:latin typeface="Segoe UI Semibold"/>
                <a:ea typeface="Segoe UI Semibold"/>
                <a:cs typeface="Segoe UI Semibold"/>
              </a:rPr>
              <a:t>Test your knowledge with this real time quiz. </a:t>
            </a:r>
            <a:endParaRPr b="0" dirty="0">
              <a:latin typeface="Segoe UI Semibold"/>
              <a:cs typeface="Segoe UI Semibold"/>
            </a:endParaRPr>
          </a:p>
          <a:p>
            <a:pPr marL="0" indent="0">
              <a:buNone/>
              <a:defRPr/>
            </a:pPr>
            <a:r>
              <a:rPr lang="en-US" sz="2400" b="0" dirty="0">
                <a:latin typeface="Segoe UI Semibold"/>
                <a:ea typeface="Segoe UI Semibold"/>
                <a:cs typeface="Segoe UI Semibold"/>
              </a:rPr>
              <a:t>Prompt Microsoft Copilot Chat: </a:t>
            </a:r>
            <a:endParaRPr lang="en-US" dirty="0"/>
          </a:p>
          <a:p>
            <a:pPr marL="0" indent="0">
              <a:buNone/>
              <a:defRPr/>
            </a:pPr>
            <a:endParaRPr lang="en-US" sz="2400" b="1" dirty="0"/>
          </a:p>
          <a:p>
            <a:pPr marL="0" indent="0">
              <a:buNone/>
              <a:defRPr/>
            </a:pPr>
            <a:r>
              <a:rPr lang="en-US" sz="2000" dirty="0">
                <a:latin typeface="Segoe UI"/>
                <a:ea typeface="Segoe UI"/>
                <a:cs typeface="Segoe UI"/>
              </a:rPr>
              <a:t>As an Azure Container Apps (ACA) expert, please create three multiple-choice questions that assess knowledge of deploying containers to ACA. Present one question at a time and wait for my response before continuing. After each answer, provide a brief explanation of the correct choice before moving on to the next question.</a:t>
            </a:r>
            <a:endParaRPr dirty="0"/>
          </a:p>
        </p:txBody>
      </p:sp>
      <p:pic>
        <p:nvPicPr>
          <p:cNvPr id="849714311"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2"/>
            <a:ext cx="3726421" cy="3257795"/>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9282167"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1</a:t>
            </a:r>
            <a:endParaRPr sz="2800"/>
          </a:p>
        </p:txBody>
      </p:sp>
      <p:sp>
        <p:nvSpPr>
          <p:cNvPr id="834584854" name="Rounded Rectangle 3_1">
            <a:extLst>
              <a:ext uri="{C183D7F6-B498-43B3-948B-1728B52AA6E4}">
                <adec:decorative xmlns:adec="http://schemas.microsoft.com/office/drawing/2017/decorative" val="1"/>
              </a:ext>
            </a:extLst>
          </p:cNvPr>
          <p:cNvSpPr/>
          <p:nvPr/>
        </p:nvSpPr>
        <p:spPr bwMode="auto">
          <a:xfrm>
            <a:off x="594774" y="1097168"/>
            <a:ext cx="10618657" cy="4328362"/>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200"/>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294176979" name="TextBox 2"/>
          <p:cNvSpPr txBox="1"/>
          <p:nvPr/>
        </p:nvSpPr>
        <p:spPr bwMode="auto">
          <a:xfrm>
            <a:off x="889965" y="1435230"/>
            <a:ext cx="9800896" cy="3543909"/>
          </a:xfrm>
          <a:prstGeom prst="rect">
            <a:avLst/>
          </a:prstGeom>
          <a:noFill/>
        </p:spPr>
        <p:txBody>
          <a:bodyPr wrap="square" lIns="91440" tIns="45720" rIns="91440" bIns="45720" anchor="t">
            <a:noAutofit/>
          </a:bodyPr>
          <a:lstStyle/>
          <a:p>
            <a:pPr marL="228600" marR="0" lvl="0" indent="-228600">
              <a:spcAft>
                <a:spcPts val="719"/>
              </a:spcAft>
              <a:buFont typeface="Arial"/>
              <a:buChar char="•"/>
              <a:defRPr/>
            </a:pPr>
            <a:r>
              <a:rPr lang="es-ES" b="0" i="0" strike="noStrike" cap="none" baseline="0" dirty="0">
                <a:solidFill>
                  <a:srgbClr val="000000"/>
                </a:solidFill>
                <a:effectLst/>
                <a:latin typeface="Segoe UI Semibold"/>
                <a:ea typeface="Segoe UI Semibold"/>
                <a:cs typeface="Segoe UI Semibold"/>
              </a:rPr>
              <a:t>Entornos:</a:t>
            </a:r>
            <a:r>
              <a:rPr lang="es-ES" b="0" i="0" strike="noStrike" cap="none" baseline="0" dirty="0">
                <a:solidFill>
                  <a:srgbClr val="000000"/>
                </a:solidFill>
                <a:effectLst/>
                <a:latin typeface="Segoe UI"/>
                <a:ea typeface="Segoe UI"/>
                <a:cs typeface="Segoe UI"/>
              </a:rPr>
              <a:t> límite compartido para redes, registro y aislamiento entre aplicaciones relacionadas</a:t>
            </a:r>
            <a:endParaRPr dirty="0"/>
          </a:p>
          <a:p>
            <a:pPr marL="228600" marR="0" lvl="0" indent="-228600" algn="l">
              <a:lnSpc>
                <a:spcPct val="100000"/>
              </a:lnSpc>
              <a:spcBef>
                <a:spcPct val="0"/>
              </a:spcBef>
              <a:spcAft>
                <a:spcPts val="719"/>
              </a:spcAft>
              <a:buFont typeface="Arial"/>
              <a:buChar char="•"/>
              <a:defRPr/>
            </a:pPr>
            <a:r>
              <a:rPr lang="es-ES" b="0" i="0" strike="noStrike" cap="none" baseline="0" dirty="0">
                <a:solidFill>
                  <a:srgbClr val="000000"/>
                </a:solidFill>
                <a:effectLst/>
                <a:latin typeface="Segoe UI Semibold"/>
                <a:ea typeface="Segoe UI Semibold"/>
                <a:cs typeface="Segoe UI Semibold"/>
              </a:rPr>
              <a:t>Rutas de implementación:</a:t>
            </a:r>
            <a:r>
              <a:rPr lang="es-ES" b="0" i="0" strike="noStrike" cap="none" baseline="0" dirty="0">
                <a:solidFill>
                  <a:srgbClr val="000000"/>
                </a:solidFill>
                <a:effectLst/>
                <a:latin typeface="Segoe UI"/>
                <a:ea typeface="Segoe UI"/>
                <a:cs typeface="Segoe UI"/>
              </a:rPr>
              <a:t> creación del prototipo rápidamente y, a continuación, paso a YAML para la repetibilidad de producción</a:t>
            </a:r>
            <a:endParaRPr dirty="0"/>
          </a:p>
          <a:p>
            <a:pPr marL="228600" marR="0" lvl="0" indent="-228600" algn="l">
              <a:lnSpc>
                <a:spcPct val="100000"/>
              </a:lnSpc>
              <a:spcBef>
                <a:spcPct val="0"/>
              </a:spcBef>
              <a:spcAft>
                <a:spcPts val="719"/>
              </a:spcAft>
              <a:buFont typeface="Arial"/>
              <a:buChar char="•"/>
              <a:defRPr/>
            </a:pPr>
            <a:r>
              <a:rPr lang="es-ES" b="0" i="0" strike="noStrike" cap="none" baseline="0" dirty="0">
                <a:solidFill>
                  <a:srgbClr val="000000"/>
                </a:solidFill>
                <a:effectLst/>
                <a:latin typeface="Segoe UI Semibold"/>
                <a:ea typeface="Segoe UI Semibold"/>
                <a:cs typeface="Segoe UI Semibold"/>
              </a:rPr>
              <a:t>Revisiones:</a:t>
            </a:r>
            <a:r>
              <a:rPr lang="es-ES" b="0" i="0" strike="noStrike" cap="none" baseline="0" dirty="0">
                <a:solidFill>
                  <a:srgbClr val="000000"/>
                </a:solidFill>
                <a:effectLst/>
                <a:latin typeface="Segoe UI"/>
                <a:ea typeface="Segoe UI"/>
                <a:cs typeface="Segoe UI"/>
              </a:rPr>
              <a:t> cada cambio de configuración crea una instantánea con versiones para lanzamientos seguros</a:t>
            </a:r>
            <a:endParaRPr dirty="0"/>
          </a:p>
          <a:p>
            <a:pPr marL="228600" marR="0" lvl="0" indent="-228600" algn="l">
              <a:lnSpc>
                <a:spcPct val="100000"/>
              </a:lnSpc>
              <a:spcBef>
                <a:spcPct val="0"/>
              </a:spcBef>
              <a:spcAft>
                <a:spcPts val="719"/>
              </a:spcAft>
              <a:buFont typeface="Arial"/>
              <a:buChar char="•"/>
              <a:defRPr/>
            </a:pPr>
            <a:r>
              <a:rPr lang="es-ES" b="0" i="0" strike="noStrike" cap="none" baseline="0" dirty="0">
                <a:solidFill>
                  <a:srgbClr val="000000"/>
                </a:solidFill>
                <a:effectLst/>
                <a:latin typeface="Segoe UI Semibold"/>
                <a:ea typeface="Segoe UI Semibold"/>
                <a:cs typeface="Aptos"/>
              </a:rPr>
              <a:t>Patrón de secretos:</a:t>
            </a:r>
            <a:r>
              <a:rPr lang="es-ES" b="0" i="0" strike="noStrike" cap="none" baseline="0" dirty="0">
                <a:solidFill>
                  <a:srgbClr val="000000"/>
                </a:solidFill>
                <a:effectLst/>
                <a:latin typeface="Segoe UI"/>
                <a:ea typeface="Segoe UI"/>
                <a:cs typeface="Segoe UI"/>
              </a:rPr>
              <a:t> almacenamiento de secretos por separado y referencia a ellos desde variables de entorno</a:t>
            </a:r>
            <a:endParaRPr dirty="0"/>
          </a:p>
          <a:p>
            <a:pPr marL="228600" marR="0" lvl="0" indent="-228600" algn="l">
              <a:lnSpc>
                <a:spcPct val="100000"/>
              </a:lnSpc>
              <a:spcBef>
                <a:spcPct val="0"/>
              </a:spcBef>
              <a:spcAft>
                <a:spcPts val="719"/>
              </a:spcAft>
              <a:buFont typeface="Arial"/>
              <a:buChar char="•"/>
              <a:defRPr/>
            </a:pPr>
            <a:r>
              <a:rPr lang="es-ES" b="0" i="0" strike="noStrike" cap="none" baseline="0" dirty="0">
                <a:solidFill>
                  <a:srgbClr val="000000"/>
                </a:solidFill>
                <a:effectLst/>
                <a:latin typeface="Segoe UI Semibold"/>
                <a:ea typeface="Segoe UI Semibold"/>
                <a:cs typeface="Segoe UI Semibold"/>
              </a:rPr>
              <a:t>Autenticación del registro:</a:t>
            </a:r>
            <a:r>
              <a:rPr lang="es-ES" b="0" i="0" strike="noStrike" cap="none" baseline="0" dirty="0">
                <a:solidFill>
                  <a:srgbClr val="000000"/>
                </a:solidFill>
                <a:effectLst/>
                <a:latin typeface="Segoe UI"/>
                <a:ea typeface="Segoe UI"/>
                <a:cs typeface="Segoe UI"/>
              </a:rPr>
              <a:t> preferencia de la identidad administrada para ACR en producción</a:t>
            </a:r>
            <a:endParaRPr dirty="0"/>
          </a:p>
          <a:p>
            <a:pPr marL="228600" marR="0" indent="-228600" algn="l">
              <a:lnSpc>
                <a:spcPct val="100000"/>
              </a:lnSpc>
              <a:spcBef>
                <a:spcPct val="0"/>
              </a:spcBef>
              <a:spcAft>
                <a:spcPts val="719"/>
              </a:spcAft>
              <a:buFont typeface="Arial"/>
              <a:buChar char="•"/>
              <a:defRPr/>
            </a:pPr>
            <a:r>
              <a:rPr lang="es-ES" b="0" i="0" strike="noStrike" cap="none" baseline="0" dirty="0">
                <a:solidFill>
                  <a:srgbClr val="000000"/>
                </a:solidFill>
                <a:effectLst/>
                <a:latin typeface="Segoe UI Semibold"/>
                <a:ea typeface="Segoe UI Semibold"/>
                <a:cs typeface="Segoe UI Semibold"/>
              </a:rPr>
              <a:t>Orden de comprobación:</a:t>
            </a:r>
            <a:r>
              <a:rPr lang="es-ES" b="0" i="0" strike="noStrike" cap="none" baseline="0" dirty="0">
                <a:solidFill>
                  <a:srgbClr val="000000"/>
                </a:solidFill>
                <a:effectLst/>
                <a:latin typeface="Segoe UI"/>
                <a:ea typeface="Segoe UI"/>
                <a:cs typeface="Segoe UI"/>
              </a:rPr>
              <a:t> registro primero del diagnóstico rápido y, a continuación, revisiones y réplicas</a:t>
            </a:r>
            <a:endParaRPr lang="en-US" sz="1400" dirty="0">
              <a:solidFill>
                <a:prstClr val="black"/>
              </a:solidFil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1474484" name="Title 3"/>
          <p:cNvSpPr>
            <a:spLocks noGrp="1"/>
          </p:cNvSpPr>
          <p:nvPr>
            <p:ph type="title"/>
          </p:nvPr>
        </p:nvSpPr>
        <p:spPr bwMode="auto">
          <a:xfrm>
            <a:off x="581339" y="2239084"/>
            <a:ext cx="6472833" cy="2262083"/>
          </a:xfrm>
        </p:spPr>
        <p:txBody>
          <a:bodyPr/>
          <a:lstStyle/>
          <a:p>
            <a:pPr>
              <a:defRPr/>
            </a:pPr>
            <a:r>
              <a:rPr lang="es-ES" sz="4100" b="0" i="0" strike="noStrike" cap="none" baseline="0">
                <a:solidFill>
                  <a:srgbClr val="000000"/>
                </a:solidFill>
                <a:effectLst/>
                <a:latin typeface="Segoe UI"/>
                <a:ea typeface="Segoe UI"/>
                <a:cs typeface="Segoe UI"/>
              </a:rPr>
              <a:t>Módulo 1: Administración de contenedores en Azure Container Apps</a:t>
            </a:r>
            <a:endParaRPr/>
          </a:p>
          <a:p>
            <a:pPr>
              <a:defRPr/>
            </a:pPr>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3771651"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454615598" name="Content Placeholder 2"/>
          <p:cNvSpPr>
            <a:spLocks noGrp="1"/>
          </p:cNvSpPr>
          <p:nvPr>
            <p:ph sz="quarter" idx="10"/>
          </p:nvPr>
        </p:nvSpPr>
        <p:spPr bwMode="auto">
          <a:xfrm>
            <a:off x="457200" y="1235075"/>
            <a:ext cx="10934700" cy="4816475"/>
          </a:xfrm>
        </p:spPr>
        <p:txBody>
          <a:bodyPr vert="horz" lIns="0" tIns="0" rIns="0" bIns="0" rtlCol="0" anchor="t">
            <a:normAutofit/>
          </a:bodyPr>
          <a:lstStyle/>
          <a:p>
            <a:pPr lvl="0">
              <a:spcAft>
                <a:spcPts val="719"/>
              </a:spcAft>
              <a:defRPr/>
            </a:pPr>
            <a:r>
              <a:rPr lang="es-ES" sz="2400" b="0" i="0" strike="noStrike" cap="none" baseline="0" dirty="0">
                <a:solidFill>
                  <a:srgbClr val="000000"/>
                </a:solidFill>
                <a:effectLst/>
                <a:latin typeface="Segoe UI"/>
                <a:ea typeface="Segoe UI"/>
                <a:cs typeface="Segoe UI"/>
              </a:rPr>
              <a:t>Actualizar imágenes de contenedor y administrar revisiones de forma segura durante los ciclos de desarrollo y lanzamiento</a:t>
            </a:r>
            <a:endParaRPr sz="2400" dirty="0"/>
          </a:p>
          <a:p>
            <a:pPr lvl="0">
              <a:spcAft>
                <a:spcPts val="719"/>
              </a:spcAft>
              <a:defRPr/>
            </a:pPr>
            <a:r>
              <a:rPr lang="es-ES" sz="2400" b="0" i="0" strike="noStrike" cap="none" baseline="0" dirty="0">
                <a:solidFill>
                  <a:srgbClr val="000000"/>
                </a:solidFill>
                <a:effectLst/>
                <a:latin typeface="Segoe UI"/>
                <a:ea typeface="Segoe UI"/>
                <a:cs typeface="Segoe UI"/>
              </a:rPr>
              <a:t>Realizar operaciones de ciclo de vida de aplicaciones y diagnosticar revisiones con errores</a:t>
            </a:r>
            <a:endParaRPr sz="2400" dirty="0"/>
          </a:p>
          <a:p>
            <a:pPr lvl="0">
              <a:spcAft>
                <a:spcPts val="719"/>
              </a:spcAft>
              <a:defRPr/>
            </a:pPr>
            <a:r>
              <a:rPr lang="es-ES" sz="2400" b="0" i="0" strike="noStrike" cap="none" baseline="0" dirty="0">
                <a:solidFill>
                  <a:srgbClr val="000000"/>
                </a:solidFill>
                <a:effectLst/>
                <a:latin typeface="Segoe UI"/>
                <a:ea typeface="Segoe UI"/>
                <a:cs typeface="Segoe UI"/>
              </a:rPr>
              <a:t>Supervisar registros y solucionar problemas comunes de revisión y tiempo de ejecución</a:t>
            </a:r>
            <a:endParaRPr sz="2400" dirty="0"/>
          </a:p>
          <a:p>
            <a:pPr lvl="0">
              <a:spcAft>
                <a:spcPts val="719"/>
              </a:spcAft>
              <a:defRPr/>
            </a:pPr>
            <a:r>
              <a:rPr lang="es-ES" sz="2400" b="0" i="0" strike="noStrike" cap="none" baseline="0" dirty="0">
                <a:solidFill>
                  <a:srgbClr val="000000"/>
                </a:solidFill>
                <a:effectLst/>
                <a:latin typeface="Segoe UI"/>
                <a:ea typeface="Segoe UI"/>
                <a:cs typeface="Segoe UI"/>
              </a:rPr>
              <a:t>Configurar sondeos de estado y solucionar problemas de errores de sondeo</a:t>
            </a:r>
            <a:endParaRPr sz="2400" dirty="0"/>
          </a:p>
          <a:p>
            <a:pPr lvl="0">
              <a:spcAft>
                <a:spcPts val="719"/>
              </a:spcAft>
              <a:defRPr/>
            </a:pPr>
            <a:r>
              <a:rPr lang="es-ES" sz="2400" b="0" i="0" strike="noStrike" cap="none" baseline="0" dirty="0">
                <a:solidFill>
                  <a:srgbClr val="000000"/>
                </a:solidFill>
                <a:effectLst/>
                <a:latin typeface="Segoe UI"/>
                <a:ea typeface="Segoe UI"/>
                <a:cs typeface="Segoe UI"/>
              </a:rPr>
              <a:t>Optimizar recursos de contenedor y la configuración de escalado para equilibrar el coste y el rendimiento</a:t>
            </a:r>
            <a:endParaRPr sz="2400" dirty="0"/>
          </a:p>
          <a:p>
            <a:pPr>
              <a:defRPr/>
            </a:pPr>
            <a:endParaRPr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0084288"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943087288" name="Content Placeholder 3"/>
          <p:cNvSpPr>
            <a:spLocks noGrp="1"/>
          </p:cNvSpPr>
          <p:nvPr>
            <p:ph sz="quarter" idx="10"/>
          </p:nvPr>
        </p:nvSpPr>
        <p:spPr bwMode="auto">
          <a:xfrm>
            <a:off x="457200" y="1235074"/>
            <a:ext cx="5238144" cy="4929506"/>
          </a:xfrm>
        </p:spPr>
        <p:txBody>
          <a:bodyPr vert="horz" lIns="0" tIns="0" rIns="0" bIns="0" rtlCol="0" anchor="t">
            <a:normAutofit fontScale="95000"/>
          </a:bodyPr>
          <a:lstStyle/>
          <a:p>
            <a:pPr lvl="0">
              <a:spcAft>
                <a:spcPts val="719"/>
              </a:spcAft>
              <a:defRPr/>
            </a:pPr>
            <a:r>
              <a:rPr lang="es-ES" sz="2000" b="0" i="0" strike="noStrike" cap="none" baseline="0" dirty="0">
                <a:solidFill>
                  <a:srgbClr val="000000"/>
                </a:solidFill>
                <a:effectLst/>
                <a:latin typeface="Segoe UI"/>
                <a:ea typeface="Segoe UI"/>
                <a:cs typeface="Segoe UI"/>
              </a:rPr>
              <a:t>Vector de búsqueda integrado en Azure Cosmos DB </a:t>
            </a:r>
            <a:r>
              <a:rPr lang="es-ES" sz="2000" b="0" i="0" strike="noStrike" cap="none" baseline="0" dirty="0" err="1">
                <a:solidFill>
                  <a:srgbClr val="000000"/>
                </a:solidFill>
                <a:effectLst/>
                <a:latin typeface="Segoe UI"/>
                <a:ea typeface="Segoe UI"/>
                <a:cs typeface="Segoe UI"/>
              </a:rPr>
              <a:t>for</a:t>
            </a:r>
            <a:r>
              <a:rPr lang="es-ES" sz="2000" b="0" i="0" strike="noStrike" cap="none" baseline="0" dirty="0">
                <a:solidFill>
                  <a:srgbClr val="000000"/>
                </a:solidFill>
                <a:effectLst/>
                <a:latin typeface="Segoe UI"/>
                <a:ea typeface="Segoe UI"/>
                <a:cs typeface="Segoe UI"/>
              </a:rPr>
              <a:t> NoSQL, no se requiere ninguna base de datos vectorial independiente y operaciones del día dos para cargas de trabajo de IA </a:t>
            </a:r>
            <a:r>
              <a:rPr lang="es-ES" sz="2000" b="0" i="0" strike="noStrike" cap="none" baseline="0" dirty="0" err="1">
                <a:solidFill>
                  <a:srgbClr val="000000"/>
                </a:solidFill>
                <a:effectLst/>
                <a:latin typeface="Segoe UI"/>
                <a:ea typeface="Segoe UI"/>
                <a:cs typeface="Segoe UI"/>
              </a:rPr>
              <a:t>contenedorizadas</a:t>
            </a:r>
            <a:endParaRPr sz="2000" dirty="0"/>
          </a:p>
          <a:p>
            <a:pPr marL="228600" marR="0" lvl="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a:ea typeface="Segoe UI"/>
                <a:cs typeface="Segoe UI"/>
              </a:rPr>
              <a:t>Modelo basado en revisiones: cada actualización crea una instantánea con versiones</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a:ea typeface="Segoe UI"/>
                <a:cs typeface="Aptos"/>
              </a:rPr>
              <a:t>Acciones de ciclo de vida integradas para la respuesta a incidentes</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a:ea typeface="Segoe UI"/>
                <a:cs typeface="Segoe UI"/>
              </a:rPr>
              <a:t>Registro integrado con Azure Monitor</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a:ea typeface="Segoe UI"/>
                <a:cs typeface="Segoe UI"/>
              </a:rPr>
              <a:t>Tráfico de la puerta de sondeos de estado a réplicas correctas</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2000" b="0" i="0" strike="noStrike" cap="none" baseline="0" dirty="0">
                <a:solidFill>
                  <a:srgbClr val="000000"/>
                </a:solidFill>
                <a:effectLst/>
                <a:latin typeface="Segoe UI"/>
                <a:ea typeface="Segoe UI"/>
                <a:cs typeface="Segoe UI"/>
              </a:rPr>
              <a:t>Dimensionamiento y escalado automático por réplica para el control de costes</a:t>
            </a:r>
            <a:endParaRPr lang="en-US" sz="2000" b="0" i="0" u="none" strike="noStrike" cap="none" spc="0" dirty="0">
              <a:solidFill>
                <a:schemeClr val="tx1"/>
              </a:solidFill>
              <a:latin typeface="Segoe UI"/>
              <a:cs typeface="Segoe UI"/>
            </a:endParaRPr>
          </a:p>
        </p:txBody>
      </p:sp>
      <p:pic>
        <p:nvPicPr>
          <p:cNvPr id="1653725600" name="Picture 1" descr="Icon cluster showing five Container Apps management capabilities: revision control, lifecycle actions, log diagnostics, health probes, and resource optimization&#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300215" y="996696"/>
            <a:ext cx="4946903" cy="5303520"/>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839621" name="Title 1"/>
          <p:cNvSpPr>
            <a:spLocks noGrp="1"/>
          </p:cNvSpPr>
          <p:nvPr>
            <p:ph type="title"/>
          </p:nvPr>
        </p:nvSpPr>
        <p:spPr bwMode="auto">
          <a:xfrm>
            <a:off x="457200" y="411480"/>
            <a:ext cx="10965180" cy="515442"/>
          </a:xfrm>
        </p:spPr>
        <p:txBody>
          <a:bodyPr/>
          <a:lstStyle/>
          <a:p>
            <a:pPr>
              <a:defRPr/>
            </a:pPr>
            <a:r>
              <a:rPr lang="es-ES" sz="3200" b="0" i="0" strike="noStrike" cap="none" baseline="0" dirty="0">
                <a:solidFill>
                  <a:srgbClr val="000000"/>
                </a:solidFill>
                <a:effectLst/>
                <a:latin typeface="Segoe UI Semibold"/>
                <a:ea typeface="Segoe UI Semibold"/>
                <a:cs typeface="Segoe UI Semibold"/>
              </a:rPr>
              <a:t>Actualización de imágenes y administración de revisiones de forma segura</a:t>
            </a:r>
            <a:endParaRPr lang="en-US" dirty="0"/>
          </a:p>
        </p:txBody>
      </p:sp>
      <p:sp>
        <p:nvSpPr>
          <p:cNvPr id="1086824778" name="Content Placeholder 2"/>
          <p:cNvSpPr>
            <a:spLocks noGrp="1"/>
          </p:cNvSpPr>
          <p:nvPr>
            <p:ph sz="quarter" idx="10"/>
          </p:nvPr>
        </p:nvSpPr>
        <p:spPr bwMode="auto">
          <a:xfrm>
            <a:off x="457200" y="1301115"/>
            <a:ext cx="4800600" cy="4974716"/>
          </a:xfrm>
        </p:spPr>
        <p:txBody>
          <a:bodyPr vert="horz" wrap="square" lIns="45720" tIns="0" rIns="0" bIns="0" rtlCol="0" anchor="t">
            <a:noAutofit/>
          </a:bodyPr>
          <a:lstStyle/>
          <a:p>
            <a:pPr marL="0" indent="0">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Identidad de imagen</a:t>
            </a:r>
            <a:endParaRPr sz="2000" b="0" i="0" u="none" strike="noStrike" cap="none" spc="0" dirty="0">
              <a:solidFill>
                <a:schemeClr val="tx1"/>
              </a:solidFill>
              <a:latin typeface="Segoe UI"/>
              <a:cs typeface="Segoe UI"/>
            </a:endParaRPr>
          </a:p>
          <a:p>
            <a:pPr>
              <a:defRPr/>
            </a:pPr>
            <a:r>
              <a:rPr lang="es-ES" sz="1800" b="0" i="0" strike="noStrike" cap="none" baseline="0" dirty="0">
                <a:solidFill>
                  <a:srgbClr val="000000"/>
                </a:solidFill>
                <a:effectLst/>
                <a:latin typeface="Segoe UI"/>
                <a:ea typeface="Segoe UI"/>
                <a:cs typeface="Segoe UI"/>
              </a:rPr>
              <a:t>Las etiquetas son cómodas, pero mutables. Los resúmenes son inmutables</a:t>
            </a:r>
            <a:endParaRPr sz="1800" b="0" i="0" u="none" strike="noStrike" cap="none" spc="0" dirty="0">
              <a:solidFill>
                <a:schemeClr val="tx1"/>
              </a:solidFill>
              <a:latin typeface="Segoe UI"/>
              <a:cs typeface="Segoe UI"/>
            </a:endParaRPr>
          </a:p>
          <a:p>
            <a:pPr>
              <a:defRPr/>
            </a:pPr>
            <a:r>
              <a:rPr lang="es-ES" sz="1800" b="0" i="0" strike="noStrike" cap="none" baseline="0" dirty="0">
                <a:solidFill>
                  <a:srgbClr val="000000"/>
                </a:solidFill>
                <a:effectLst/>
                <a:latin typeface="Segoe UI"/>
                <a:ea typeface="Segoe UI"/>
                <a:cs typeface="Segoe UI"/>
              </a:rPr>
              <a:t>Uso de resúmenes en producción para la rastreabilidad durante incidentes</a:t>
            </a:r>
            <a:endParaRPr sz="1800" b="0" i="0" u="none" strike="noStrike" cap="none" spc="0" dirty="0">
              <a:solidFill>
                <a:schemeClr val="tx1"/>
              </a:solidFill>
              <a:latin typeface="Segoe UI"/>
              <a:cs typeface="Segoe UI"/>
            </a:endParaRPr>
          </a:p>
          <a:p>
            <a:pPr>
              <a:defRPr/>
            </a:pPr>
            <a:r>
              <a:rPr lang="es-ES" sz="1800" b="0" i="0" strike="noStrike" cap="none" baseline="0" dirty="0">
                <a:solidFill>
                  <a:srgbClr val="000000"/>
                </a:solidFill>
                <a:effectLst/>
                <a:latin typeface="Segoe UI"/>
                <a:ea typeface="Segoe UI"/>
                <a:cs typeface="Segoe UI"/>
              </a:rPr>
              <a:t>Correlación del comportamiento operativo con un artefacto de compilación específico</a:t>
            </a:r>
            <a:endParaRPr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Flujo de trabajo de revisión</a:t>
            </a:r>
            <a:endParaRPr sz="18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Cada actualización de imagen crea una nueva revisión</a:t>
            </a:r>
            <a:endParaRPr sz="18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Comprobación del estado antes de cambiar el tráfico</a:t>
            </a:r>
            <a:endParaRPr sz="18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Desactivación de revisiones problemáticas. Conservación para la investigación</a:t>
            </a:r>
            <a:endParaRPr sz="18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Definición de una estrategia de retención para revisiones inactivas</a:t>
            </a:r>
            <a:endParaRPr dirty="0"/>
          </a:p>
        </p:txBody>
      </p:sp>
      <p:pic>
        <p:nvPicPr>
          <p:cNvPr id="381104021" name="Picture 1" descr="Vertical flow diagram showing the image update workflow: push image, create revision, verify health, shift traffic, with a rollback path on failure&#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172200" y="1124711"/>
            <a:ext cx="5340095" cy="5074920"/>
          </a:xfrm>
          <a:prstGeom prst="rect">
            <a:avLst/>
          </a:prstGeom>
          <a:noFill/>
          <a:ln w="9525">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3674992"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Administración del ciclo de vida de la aplicación contenedora</a:t>
            </a:r>
            <a:endParaRPr/>
          </a:p>
        </p:txBody>
      </p:sp>
      <p:sp>
        <p:nvSpPr>
          <p:cNvPr id="1919761705" name="TextBox 2"/>
          <p:cNvSpPr txBox="1"/>
          <p:nvPr/>
        </p:nvSpPr>
        <p:spPr bwMode="auto">
          <a:xfrm>
            <a:off x="457199" y="1225296"/>
            <a:ext cx="9701144"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400" b="0" i="0" strike="noStrike" cap="none" baseline="0" dirty="0">
                <a:solidFill>
                  <a:srgbClr val="000000"/>
                </a:solidFill>
                <a:effectLst/>
                <a:latin typeface="Segoe UI Semibold"/>
                <a:ea typeface="Segoe UI Semibold"/>
                <a:cs typeface="Segoe UI Semibold"/>
              </a:rPr>
              <a:t>Elección de la acción adecuada</a:t>
            </a:r>
            <a:endParaRPr lang="en-US" sz="20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Detener:</a:t>
            </a:r>
            <a:r>
              <a:rPr lang="es-ES" sz="2000" b="0" i="0" strike="noStrike" cap="none" baseline="0" dirty="0">
                <a:solidFill>
                  <a:srgbClr val="000000"/>
                </a:solidFill>
                <a:effectLst/>
                <a:latin typeface="Segoe UI"/>
                <a:ea typeface="Segoe UI"/>
                <a:cs typeface="Segoe UI"/>
              </a:rPr>
              <a:t> garantiza cero tráfico. Ámbito amplio. Uso durante incidentes</a:t>
            </a:r>
            <a:endParaRPr lang="en-US" sz="20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Reiniciar:</a:t>
            </a:r>
            <a:r>
              <a:rPr lang="es-ES" sz="2000" b="0" i="0" strike="noStrike" cap="none" baseline="0" dirty="0">
                <a:solidFill>
                  <a:srgbClr val="000000"/>
                </a:solidFill>
                <a:effectLst/>
                <a:latin typeface="Segoe UI"/>
                <a:ea typeface="Segoe UI"/>
                <a:cs typeface="Segoe UI"/>
              </a:rPr>
              <a:t> borra el estado transitorio. Uso para interbloqueos y procesos bloqueados</a:t>
            </a:r>
            <a:endParaRPr lang="en-US" sz="20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Font typeface="Arial"/>
              <a:buChar char="•"/>
              <a:defRPr/>
            </a:pPr>
            <a:r>
              <a:rPr lang="es-ES" sz="2000" b="0" i="0" strike="noStrike" cap="none" baseline="0" dirty="0">
                <a:solidFill>
                  <a:srgbClr val="000000"/>
                </a:solidFill>
                <a:effectLst/>
                <a:latin typeface="Segoe UI Semibold"/>
                <a:ea typeface="Segoe UI Semibold"/>
                <a:cs typeface="Segoe UI Semibold"/>
              </a:rPr>
              <a:t>Desactivar revisión:</a:t>
            </a:r>
            <a:r>
              <a:rPr lang="es-ES" sz="2000" b="0" i="0" strike="noStrike" cap="none" baseline="0" dirty="0">
                <a:solidFill>
                  <a:srgbClr val="000000"/>
                </a:solidFill>
                <a:effectLst/>
                <a:latin typeface="Segoe UI"/>
                <a:ea typeface="Segoe UI"/>
                <a:cs typeface="Segoe UI"/>
              </a:rPr>
              <a:t> aísla una versión incorrecta. Primer paso más seguro</a:t>
            </a:r>
            <a:endParaRPr lang="en-US" sz="2000" b="0" i="0" u="none" strike="noStrike" cap="none" spc="0" dirty="0">
              <a:solidFill>
                <a:schemeClr val="tx1"/>
              </a:solidFill>
              <a:latin typeface="Segoe UI"/>
              <a:cs typeface="Segoe UI"/>
            </a:endParaRPr>
          </a:p>
          <a:p>
            <a:pPr>
              <a:spcBef>
                <a:spcPts val="719"/>
              </a:spcBef>
              <a:spcAft>
                <a:spcPts val="359"/>
              </a:spcAft>
              <a:defRPr/>
            </a:pPr>
            <a:endParaRPr lang="en-US" sz="2000" b="0" i="0" u="none" strike="noStrike" cap="none" spc="0" dirty="0">
              <a:solidFill>
                <a:schemeClr val="tx1"/>
              </a:solidFill>
              <a:latin typeface="Segoe UI"/>
              <a:cs typeface="Segoe UI"/>
            </a:endParaRPr>
          </a:p>
          <a:p>
            <a:pPr>
              <a:spcBef>
                <a:spcPts val="719"/>
              </a:spcBef>
              <a:spcAft>
                <a:spcPts val="359"/>
              </a:spcAft>
              <a:defRPr/>
            </a:pPr>
            <a:r>
              <a:rPr lang="es-ES" sz="2200" b="0" i="0" strike="noStrike" cap="none" baseline="0" dirty="0">
                <a:solidFill>
                  <a:srgbClr val="000000"/>
                </a:solidFill>
                <a:effectLst/>
                <a:latin typeface="Segoe UI Semibold"/>
                <a:ea typeface="Segoe UI Semibold"/>
                <a:cs typeface="Segoe UI Semibold"/>
              </a:rPr>
              <a:t>Patrones de error comunes para validar</a:t>
            </a:r>
          </a:p>
          <a:p>
            <a:pPr marL="283879" indent="-283879">
              <a:spcAft>
                <a:spcPts val="359"/>
              </a:spcAft>
              <a:buFont typeface="Arial"/>
              <a:buChar char="•"/>
              <a:defRPr/>
            </a:pPr>
            <a:r>
              <a:rPr lang="es-ES" sz="2000" b="0" i="0" strike="noStrike" cap="none" baseline="0" dirty="0">
                <a:solidFill>
                  <a:srgbClr val="000000"/>
                </a:solidFill>
                <a:effectLst/>
                <a:latin typeface="Segoe UI"/>
                <a:ea typeface="Segoe UI"/>
                <a:cs typeface="Segoe UI"/>
              </a:rPr>
              <a:t>Errores de extracción de imágenes (credenciales del registro)</a:t>
            </a:r>
            <a:endParaRPr lang="en-US" sz="20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2000" b="0" i="0" strike="noStrike" cap="none" baseline="0" dirty="0">
                <a:solidFill>
                  <a:srgbClr val="000000"/>
                </a:solidFill>
                <a:effectLst/>
                <a:latin typeface="Segoe UI"/>
                <a:ea typeface="Segoe UI"/>
                <a:cs typeface="Segoe UI"/>
              </a:rPr>
              <a:t>Errores de coincidencia de puertos (configuración de contenedor frente a entrada)</a:t>
            </a:r>
            <a:endParaRPr lang="en-US" sz="20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2000" b="0" i="0" strike="noStrike" cap="none" baseline="0" dirty="0">
                <a:solidFill>
                  <a:srgbClr val="000000"/>
                </a:solidFill>
                <a:effectLst/>
                <a:latin typeface="Segoe UI"/>
                <a:ea typeface="Segoe UI"/>
                <a:cs typeface="Segoe UI"/>
              </a:rPr>
              <a:t>Faltan variables de entorno o secretos</a:t>
            </a:r>
            <a:endParaRPr lang="en-US" sz="20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2000" b="0" i="0" strike="noStrike" cap="none" baseline="0" dirty="0">
                <a:solidFill>
                  <a:srgbClr val="000000"/>
                </a:solidFill>
                <a:effectLst/>
                <a:latin typeface="Segoe UI"/>
                <a:ea typeface="Segoe UI"/>
                <a:cs typeface="Segoe UI"/>
              </a:rPr>
              <a:t>Errores de sondeo (ruta de acceso incorrecta, tiempo de expiración corto)</a:t>
            </a:r>
            <a:endParaRPr lang="en-US" sz="2000" b="0" i="0" u="none" strike="noStrike" cap="none" spc="0" dirty="0">
              <a:solidFill>
                <a:schemeClr val="tx1"/>
              </a:solidFill>
              <a:latin typeface="Segoe UI"/>
              <a:cs typeface="Segoe UI"/>
            </a:endParaRPr>
          </a:p>
          <a:p>
            <a:pPr marL="228600" indent="-228600">
              <a:spcAft>
                <a:spcPts val="359"/>
              </a:spcAft>
              <a:buFont typeface="Arial"/>
              <a:buChar char="•"/>
              <a:defRPr/>
            </a:pPr>
            <a:r>
              <a:rPr lang="es-ES" sz="2000" b="0" i="0" strike="noStrike" cap="none" baseline="0" dirty="0">
                <a:solidFill>
                  <a:srgbClr val="000000"/>
                </a:solidFill>
                <a:effectLst/>
                <a:latin typeface="Segoe UI"/>
                <a:ea typeface="Segoe UI"/>
                <a:cs typeface="Segoe UI"/>
              </a:rPr>
              <a:t>Presión de recursos (limitación de CPU, reinicios de OOM)</a:t>
            </a:r>
            <a:endParaRPr sz="2000" dirty="0">
              <a:latin typeface="Segoe UI"/>
              <a:cs typeface="Segoe UI"/>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6289110" name="Title 1"/>
          <p:cNvSpPr>
            <a:spLocks noGrp="1"/>
          </p:cNvSpPr>
          <p:nvPr>
            <p:ph type="title"/>
          </p:nvPr>
        </p:nvSpPr>
        <p:spPr bwMode="auto"/>
        <p:txBody>
          <a:bodyPr/>
          <a:lstStyle/>
          <a:p>
            <a:pPr marL="0" lvl="0" indent="0">
              <a:buNone/>
              <a:defRPr/>
            </a:pPr>
            <a:r>
              <a:rPr lang="es-ES" sz="3200" b="0" i="0" strike="noStrike" cap="none" baseline="0">
                <a:solidFill>
                  <a:srgbClr val="000000"/>
                </a:solidFill>
                <a:effectLst/>
                <a:latin typeface="Segoe UI Semibold"/>
                <a:ea typeface="Segoe UI Semibold"/>
                <a:cs typeface="Segoe UI Semibold"/>
              </a:rPr>
              <a:t>Supervisión de registros y solución de problemas</a:t>
            </a:r>
            <a:endParaRPr sz="3200"/>
          </a:p>
          <a:p>
            <a:pPr>
              <a:defRPr/>
            </a:pPr>
            <a:endParaRPr/>
          </a:p>
        </p:txBody>
      </p:sp>
      <p:pic>
        <p:nvPicPr>
          <p:cNvPr id="818017235" name="Picture 1" descr="Numbered steps showing four-step troubleshooting workflow: identify revision, stream logs, compare revisions, fix and verify&#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512064" y="1069847"/>
            <a:ext cx="4187952" cy="4187952"/>
          </a:xfrm>
          <a:prstGeom prst="rect">
            <a:avLst/>
          </a:prstGeom>
          <a:noFill/>
          <a:ln w="9525">
            <a:noFill/>
          </a:ln>
        </p:spPr>
      </p:pic>
      <p:sp>
        <p:nvSpPr>
          <p:cNvPr id="698134761" name="TextBox 2"/>
          <p:cNvSpPr txBox="1"/>
          <p:nvPr/>
        </p:nvSpPr>
        <p:spPr bwMode="auto">
          <a:xfrm>
            <a:off x="5178503" y="1071624"/>
            <a:ext cx="6160057" cy="548919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b="0" i="0" strike="noStrike" cap="none" baseline="0" dirty="0">
                <a:solidFill>
                  <a:srgbClr val="000000"/>
                </a:solidFill>
                <a:effectLst/>
                <a:latin typeface="Segoe UI Semibold"/>
                <a:ea typeface="Segoe UI Semibold"/>
                <a:cs typeface="Segoe UI Semibold"/>
              </a:rPr>
              <a:t>Tipos de registro</a:t>
            </a:r>
            <a:endParaRPr lang="en-US" sz="16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1600" b="0" i="0" strike="noStrike" cap="none" baseline="0" dirty="0">
                <a:solidFill>
                  <a:srgbClr val="000000"/>
                </a:solidFill>
                <a:effectLst/>
                <a:latin typeface="Segoe UI"/>
                <a:ea typeface="Segoe UI"/>
                <a:cs typeface="Segoe UI"/>
              </a:rPr>
              <a:t>Registros de consola: salida de la aplicación (errores, mensajes de inicio)</a:t>
            </a:r>
            <a:endParaRPr lang="en-US" sz="16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1600" b="0" i="0" strike="noStrike" cap="none" baseline="0" dirty="0">
                <a:solidFill>
                  <a:srgbClr val="000000"/>
                </a:solidFill>
                <a:effectLst/>
                <a:latin typeface="Segoe UI"/>
                <a:ea typeface="Segoe UI"/>
                <a:cs typeface="Segoe UI"/>
              </a:rPr>
              <a:t>Registros del sistema: eventos de plataforma (extracción de imágenes, escalado y sondeos)</a:t>
            </a:r>
            <a:endParaRPr lang="en-US" sz="16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Flujo de trabajo de solución de problemas repetible</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Identificación de qué extensión produce un error</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Transmisión de registros al reproducir el problema</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Comparación de la configuración de revisión con errores frente a correcta</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Aplicación de la corrección de destino y comprobación de que la revisión siguiente es correcta</a:t>
            </a:r>
            <a:endParaRPr lang="en-US" sz="16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Recomendaciones de registro estructurado</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Inclusión del Id. de solicitud, del Id. de revisión y de la versión del modelo</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Desgloses de latencia de registro para llamadas de dependencia</a:t>
            </a:r>
            <a:endParaRPr lang="en-US" sz="1600" b="0" i="0" u="none" strike="noStrike" cap="none" spc="0" dirty="0">
              <a:solidFill>
                <a:schemeClr val="tx1"/>
              </a:solidFill>
              <a:latin typeface="Segoe UI"/>
              <a:cs typeface="Segoe UI"/>
            </a:endParaRPr>
          </a:p>
          <a:p>
            <a:pPr marL="283879" marR="0" lvl="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Evitar el registro de contenido confidencial (indicaciones y documentos)</a:t>
            </a:r>
            <a:endParaRPr lang="en-US" sz="1600" b="0" i="0" u="none" strike="noStrike" cap="none" spc="0" dirty="0">
              <a:solidFill>
                <a:schemeClr val="tx1"/>
              </a:solidFill>
              <a:latin typeface="Segoe UI"/>
              <a:cs typeface="Segoe UI"/>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462626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Configuración de sondeos de estado y errores de solución de problemas</a:t>
            </a:r>
            <a:endParaRPr/>
          </a:p>
        </p:txBody>
      </p:sp>
      <p:sp>
        <p:nvSpPr>
          <p:cNvPr id="1633766795" name="TextBox 2"/>
          <p:cNvSpPr txBox="1"/>
          <p:nvPr/>
        </p:nvSpPr>
        <p:spPr bwMode="auto">
          <a:xfrm>
            <a:off x="457200" y="1225296"/>
            <a:ext cx="4968740"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000" b="0" i="0" strike="noStrike" cap="none" baseline="0">
                <a:solidFill>
                  <a:srgbClr val="000000"/>
                </a:solidFill>
                <a:effectLst/>
                <a:latin typeface="Segoe UI Semibold"/>
                <a:ea typeface="Segoe UI Semibold"/>
                <a:cs typeface="Segoe UI Semibold"/>
              </a:rPr>
              <a:t>Preparación frente a vivacidad</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Preparación: protección de la carga y del calentamiento del modelo</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Vivacidad: detección de interbloqueos. Desencadenamiento del reinicio</a:t>
            </a:r>
            <a:endParaRPr lang="en-US" sz="1800" b="0" i="0" u="none" strike="noStrike" cap="none" spc="0">
              <a:solidFill>
                <a:schemeClr val="tx1"/>
              </a:solidFill>
              <a:latin typeface="Segoe UI"/>
              <a:cs typeface="Segoe UI"/>
            </a:endParaRPr>
          </a:p>
          <a:p>
            <a:pPr>
              <a:spcBef>
                <a:spcPts val="1799"/>
              </a:spcBef>
              <a:spcAft>
                <a:spcPts val="359"/>
              </a:spcAft>
              <a:defRPr/>
            </a:pPr>
            <a:r>
              <a:rPr lang="es-ES" sz="2000" b="0" i="0" strike="noStrike" cap="none" baseline="0">
                <a:solidFill>
                  <a:srgbClr val="000000"/>
                </a:solidFill>
                <a:effectLst/>
                <a:latin typeface="Segoe UI Semibold"/>
                <a:ea typeface="Segoe UI Semibold"/>
                <a:cs typeface="Segoe UI Semibold"/>
              </a:rPr>
              <a:t>Ajuste de los servicios de IA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Establecimiento de </a:t>
            </a:r>
            <a:r>
              <a:rPr lang="es-ES" sz="1800" b="0" i="0" strike="noStrike" cap="none" baseline="0">
                <a:solidFill>
                  <a:srgbClr val="000000"/>
                </a:solidFill>
                <a:effectLst/>
                <a:latin typeface="Consolas"/>
                <a:ea typeface="Consolas"/>
                <a:cs typeface="Consolas"/>
              </a:rPr>
              <a:t>initialDelaySeconds</a:t>
            </a:r>
            <a:r>
              <a:rPr lang="es-ES" sz="1800" b="0" i="0" strike="noStrike" cap="none" baseline="0">
                <a:solidFill>
                  <a:srgbClr val="000000"/>
                </a:solidFill>
                <a:effectLst/>
                <a:latin typeface="Segoe UI"/>
                <a:ea typeface="Segoe UI"/>
                <a:cs typeface="Segoe UI"/>
              </a:rPr>
              <a:t> para cubrir el tiempo de carga del modelo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Uso de un generoso </a:t>
            </a:r>
            <a:r>
              <a:rPr lang="es-ES" sz="1800" b="0" i="0" strike="noStrike" cap="none" baseline="0">
                <a:solidFill>
                  <a:srgbClr val="000000"/>
                </a:solidFill>
                <a:effectLst/>
                <a:latin typeface="Consolas"/>
                <a:ea typeface="Consolas"/>
                <a:cs typeface="Consolas"/>
              </a:rPr>
              <a:t>failureThreshold</a:t>
            </a:r>
            <a:r>
              <a:rPr lang="es-ES" sz="1800" b="0" i="0" strike="noStrike" cap="none" baseline="0">
                <a:solidFill>
                  <a:srgbClr val="000000"/>
                </a:solidFill>
                <a:effectLst/>
                <a:latin typeface="Segoe UI"/>
                <a:ea typeface="Segoe UI"/>
                <a:cs typeface="Segoe UI"/>
              </a:rPr>
              <a:t> para el calentamiento lento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No dejar que se active la vivacidad durante el inicio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Los puntos de conexión de sondeo no deben depender de servicios externos</a:t>
            </a:r>
            <a:endParaRPr lang="en-US" sz="1800" b="0" i="0" u="none" strike="noStrike" cap="none" spc="0">
              <a:solidFill>
                <a:schemeClr val="tx1"/>
              </a:solidFill>
              <a:latin typeface="Segoe UI"/>
              <a:cs typeface="Segoe UI"/>
            </a:endParaRPr>
          </a:p>
        </p:txBody>
      </p:sp>
      <p:sp>
        <p:nvSpPr>
          <p:cNvPr id="1024560461" name="TextBox 2"/>
          <p:cNvSpPr txBox="1"/>
          <p:nvPr/>
        </p:nvSpPr>
        <p:spPr bwMode="auto">
          <a:xfrm>
            <a:off x="5899991" y="1225296"/>
            <a:ext cx="5779818"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100000"/>
              </a:lnSpc>
              <a:spcBef>
                <a:spcPts val="718"/>
              </a:spcBef>
              <a:spcAft>
                <a:spcPts val="358"/>
              </a:spcAft>
              <a:defRPr/>
            </a:pPr>
            <a:r>
              <a:rPr lang="es-ES" sz="2200" b="0" i="0" strike="noStrike" cap="none" baseline="0">
                <a:solidFill>
                  <a:srgbClr val="000000"/>
                </a:solidFill>
                <a:effectLst/>
                <a:latin typeface="Segoe UI Semibold"/>
                <a:ea typeface="Segoe UI Semibold"/>
                <a:cs typeface="Segoe UI Semibold"/>
              </a:rPr>
              <a:t>Cuando se produce un error en los sondeos inmediatamente después de la implementación</a:t>
            </a:r>
            <a:endParaRPr lang="en-US" sz="20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2000" b="0" i="0" strike="noStrike" cap="none" baseline="0">
                <a:solidFill>
                  <a:srgbClr val="000000"/>
                </a:solidFill>
                <a:effectLst/>
                <a:latin typeface="Segoe UI"/>
                <a:ea typeface="Segoe UI"/>
                <a:cs typeface="Segoe UI"/>
              </a:rPr>
              <a:t>Validación de la coincidencia del puerto y de la ruta de acceso con el servidor HTTP del contenedor</a:t>
            </a:r>
            <a:endParaRPr lang="en-US" sz="20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2000" b="0" i="0" strike="noStrike" cap="none" baseline="0">
                <a:solidFill>
                  <a:srgbClr val="000000"/>
                </a:solidFill>
                <a:effectLst/>
                <a:latin typeface="Segoe UI"/>
                <a:ea typeface="Segoe UI"/>
                <a:cs typeface="Segoe UI"/>
              </a:rPr>
              <a:t>Comprobación de que el tiempo de expiración permite tiempo suficiente para la respuesta</a:t>
            </a:r>
            <a:endParaRPr sz="2000">
              <a:latin typeface="Segoe UI"/>
              <a:cs typeface="Segoe UI"/>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925143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Optimización de recursos de contenedor y escalado</a:t>
            </a:r>
            <a:endParaRPr/>
          </a:p>
        </p:txBody>
      </p:sp>
      <p:sp>
        <p:nvSpPr>
          <p:cNvPr id="452567975" name="TextBox 2"/>
          <p:cNvSpPr txBox="1"/>
          <p:nvPr/>
        </p:nvSpPr>
        <p:spPr bwMode="auto">
          <a:xfrm>
            <a:off x="457201" y="1225296"/>
            <a:ext cx="5295900"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b="0" i="0" strike="noStrike" cap="none" baseline="0" dirty="0">
                <a:solidFill>
                  <a:srgbClr val="000000"/>
                </a:solidFill>
                <a:effectLst/>
                <a:latin typeface="Segoe UI Semibold"/>
                <a:ea typeface="Segoe UI Semibold"/>
                <a:cs typeface="Segoe UI Semibold"/>
              </a:rPr>
              <a:t>Dimensionamiento por réplica</a:t>
            </a:r>
            <a:endParaRPr lang="en-US" sz="16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1600" b="0" i="0" strike="noStrike" cap="none" baseline="0" dirty="0">
                <a:solidFill>
                  <a:srgbClr val="000000"/>
                </a:solidFill>
                <a:effectLst/>
                <a:latin typeface="Segoe UI"/>
                <a:ea typeface="Segoe UI"/>
                <a:cs typeface="Segoe UI"/>
              </a:rPr>
              <a:t>Limitación de CPU = necesidad de más CPU por réplica</a:t>
            </a:r>
            <a:endParaRPr lang="en-US" sz="16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1600" b="0" i="0" strike="noStrike" cap="none" baseline="0" dirty="0">
                <a:solidFill>
                  <a:srgbClr val="000000"/>
                </a:solidFill>
                <a:effectLst/>
                <a:latin typeface="Segoe UI"/>
                <a:ea typeface="Segoe UI"/>
                <a:cs typeface="Segoe UI"/>
              </a:rPr>
              <a:t>Reinicios de OOM = necesita más memoria por réplica</a:t>
            </a:r>
            <a:endParaRPr lang="en-US" sz="1600" b="0" i="0" u="none" strike="noStrike" cap="none" spc="0" dirty="0">
              <a:solidFill>
                <a:schemeClr val="tx1"/>
              </a:solidFill>
              <a:latin typeface="Segoe UI"/>
              <a:cs typeface="Segoe UI"/>
            </a:endParaRPr>
          </a:p>
          <a:p>
            <a:pPr marL="283879" indent="-283879">
              <a:spcAft>
                <a:spcPts val="359"/>
              </a:spcAft>
              <a:buFont typeface="Arial"/>
              <a:buChar char="•"/>
              <a:defRPr/>
            </a:pPr>
            <a:r>
              <a:rPr lang="es-ES" sz="1600" b="0" i="0" strike="noStrike" cap="none" baseline="0" dirty="0">
                <a:solidFill>
                  <a:srgbClr val="000000"/>
                </a:solidFill>
                <a:effectLst/>
                <a:latin typeface="Segoe UI"/>
                <a:ea typeface="Segoe UI"/>
                <a:cs typeface="Segoe UI"/>
              </a:rPr>
              <a:t>Coste total = recuento de réplicas x tamaño de réplica</a:t>
            </a:r>
            <a:endParaRPr lang="en-US" sz="16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Las estrategias de escalado difieren según la carga de trabajo</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Semibold"/>
                <a:ea typeface="Segoe UI Semibold"/>
                <a:cs typeface="Segoe UI Semibold"/>
              </a:rPr>
              <a:t>API de sincronización:</a:t>
            </a:r>
            <a:r>
              <a:rPr lang="es-ES" sz="1600" b="0" i="0" strike="noStrike" cap="none" baseline="0" dirty="0">
                <a:solidFill>
                  <a:srgbClr val="000000"/>
                </a:solidFill>
                <a:effectLst/>
                <a:latin typeface="Segoe UI"/>
                <a:ea typeface="Segoe UI"/>
                <a:cs typeface="Segoe UI"/>
              </a:rPr>
              <a:t> réplicas mínimas para reducir arranques en frío. Optimización para latencia</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Semibold"/>
                <a:ea typeface="Segoe UI Semibold"/>
                <a:cs typeface="Segoe UI Semibold"/>
              </a:rPr>
              <a:t>Trabajador en segundo plano:</a:t>
            </a:r>
            <a:r>
              <a:rPr lang="es-ES" sz="1600" b="0" i="0" strike="noStrike" cap="none" baseline="0" dirty="0">
                <a:solidFill>
                  <a:srgbClr val="000000"/>
                </a:solidFill>
                <a:effectLst/>
                <a:latin typeface="Segoe UI"/>
                <a:ea typeface="Segoe UI"/>
                <a:cs typeface="Segoe UI"/>
              </a:rPr>
              <a:t> escalado a cero si se controla por eventos. Optimización para el rendimiento</a:t>
            </a:r>
            <a:endParaRPr lang="en-US" sz="16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Enfoque de optimización</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Medida antes de cambiar (registros + métricas)</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Cambio de una variable a la vez</a:t>
            </a:r>
            <a:endParaRPr lang="en-US" sz="1600" b="0" i="0" u="none" strike="noStrike" cap="none" spc="0" dirty="0">
              <a:solidFill>
                <a:schemeClr val="tx1"/>
              </a:solidFill>
              <a:latin typeface="Segoe UI"/>
              <a:cs typeface="Segoe UI"/>
            </a:endParaRPr>
          </a:p>
          <a:p>
            <a:pPr marL="283879" marR="0" indent="-283879"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Reevaluación después de que cambie la versión del modelo</a:t>
            </a:r>
            <a:endParaRPr sz="1600" dirty="0">
              <a:latin typeface="Segoe UI"/>
              <a:cs typeface="Segoe UI"/>
            </a:endParaRPr>
          </a:p>
        </p:txBody>
      </p:sp>
      <p:pic>
        <p:nvPicPr>
          <p:cNvPr id="58839705" name="Picture 1" descr="Diagram showing per-replica CPU and memory combined with scaling rules to determine total cost, with different optimization strategies for sync APIs versus background worker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254496" y="1197864"/>
            <a:ext cx="5422391" cy="5257798"/>
          </a:xfrm>
          <a:prstGeom prst="rect">
            <a:avLst/>
          </a:prstGeom>
          <a:noFill/>
          <a:ln w="9525">
            <a:noFill/>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1857147"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96487132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903207174" name="Text Placeholder 4"/>
          <p:cNvSpPr>
            <a:spLocks noGrp="1"/>
          </p:cNvSpPr>
          <p:nvPr>
            <p:ph type="body" sz="quarter" idx="16"/>
          </p:nvPr>
        </p:nvSpPr>
        <p:spPr bwMode="auto">
          <a:xfrm>
            <a:off x="584199" y="1594153"/>
            <a:ext cx="5655291" cy="731520"/>
          </a:xfrm>
        </p:spPr>
        <p:txBody>
          <a:bodyPr/>
          <a:lstStyle/>
          <a:p>
            <a:pPr>
              <a:defRPr/>
            </a:pPr>
            <a:r>
              <a:rPr lang="es-ES" sz="1600" b="0" i="0" strike="noStrike" cap="none" baseline="0" dirty="0">
                <a:solidFill>
                  <a:srgbClr val="000000"/>
                </a:solidFill>
                <a:effectLst/>
                <a:latin typeface="Segoe UI Semibold"/>
                <a:ea typeface="Segoe UI Semibold"/>
                <a:cs typeface="Segoe UI Semibold"/>
              </a:rPr>
              <a:t>Diagnosticar y corregir una implementación con errores</a:t>
            </a:r>
            <a:endParaRPr lang="en-US" dirty="0"/>
          </a:p>
          <a:p>
            <a:pPr>
              <a:defRPr/>
            </a:pPr>
            <a:endParaRPr lang="en-US" dirty="0"/>
          </a:p>
        </p:txBody>
      </p:sp>
      <p:sp>
        <p:nvSpPr>
          <p:cNvPr id="781720223" name="Text Placeholder 61"/>
          <p:cNvSpPr>
            <a:spLocks noGrp="1"/>
          </p:cNvSpPr>
          <p:nvPr>
            <p:ph type="body" sz="quarter" idx="15"/>
          </p:nvPr>
        </p:nvSpPr>
        <p:spPr bwMode="auto">
          <a:xfrm>
            <a:off x="579439" y="2501490"/>
            <a:ext cx="4853622" cy="2682241"/>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solucionarás problemas de una aplicación contenedora con errores y aplicarás correcciones de destino. Usarás el estado de revisión, los registros y la CLI de Azure para aislar problemas de implementación. </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4" history="0"/>
              </a:rPr>
              <a:t>https://go.microsoft.com/fwlink/?linkid=2348400</a:t>
            </a:r>
            <a:endParaRPr dirty="0"/>
          </a:p>
          <a:p>
            <a:pPr marL="0" indent="0">
              <a:buNone/>
              <a:defRPr/>
            </a:pPr>
            <a:endParaRPr lang="en-US" dirty="0"/>
          </a:p>
        </p:txBody>
      </p:sp>
      <p:sp>
        <p:nvSpPr>
          <p:cNvPr id="1195343873"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344418258"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065863"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2</a:t>
            </a:r>
            <a:endParaRPr/>
          </a:p>
        </p:txBody>
      </p:sp>
      <p:sp>
        <p:nvSpPr>
          <p:cNvPr id="1742572789"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100941172" name="Text Placeholder 43"/>
          <p:cNvSpPr txBox="1"/>
          <p:nvPr/>
        </p:nvSpPr>
        <p:spPr bwMode="auto">
          <a:xfrm>
            <a:off x="1641205" y="1783917"/>
            <a:ext cx="9217197" cy="1755210"/>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Implementarás una nueva imagen en una aplicación contenedora de producción. ¿Qué enfoque proporciona la mejor rastreabilidad y reduce el riesgo de implementar el artefacto incorrecto?</a:t>
            </a:r>
            <a:endParaRPr sz="2600"/>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Hacer referencia a la imagen por resumen</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Hacer referencia a la imagen por la etiqueta </a:t>
            </a:r>
            <a:r>
              <a:rPr lang="es-ES" sz="1600" b="0" i="0" strike="noStrike" cap="none" baseline="0">
                <a:solidFill>
                  <a:srgbClr val="000000"/>
                </a:solidFill>
                <a:effectLst/>
                <a:latin typeface="Consolas"/>
                <a:ea typeface="Consolas"/>
                <a:cs typeface="Consolas"/>
              </a:rPr>
              <a:t>latest</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Recompilar la imagen localmente en cada entorno</a:t>
            </a:r>
            <a:endParaRPr sz="1600"/>
          </a:p>
        </p:txBody>
      </p:sp>
      <p:sp>
        <p:nvSpPr>
          <p:cNvPr id="1038350521"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731313996" name="Text Placeholder 43"/>
          <p:cNvSpPr txBox="1"/>
          <p:nvPr/>
        </p:nvSpPr>
        <p:spPr bwMode="auto">
          <a:xfrm>
            <a:off x="1641204" y="3860982"/>
            <a:ext cx="9217197" cy="1882186"/>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Tu API de IA muestra una latencia alta, y los mensajes de registro indican la limitación de CPU durante el tráfico máximo. ¿Qué cambio se dirige más directamente a la limitación?</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Aumentar la asignación de CPU por réplica y, a continuación, volver a evaluar reglas de escalado</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Desactivar la revisión más reciente para reducir la carga</a:t>
            </a:r>
          </a:p>
          <a:p>
            <a:pPr marL="261849" indent="-261849">
              <a:buFont typeface="Arial"/>
              <a:buAutoNum type="alphaUcPeriod"/>
              <a:defRPr/>
            </a:pPr>
            <a:r>
              <a:rPr lang="es-ES" sz="1600" b="0" i="0" strike="noStrike" cap="none" baseline="0">
                <a:solidFill>
                  <a:srgbClr val="000000"/>
                </a:solidFill>
                <a:effectLst/>
                <a:latin typeface="Segoe UI"/>
                <a:ea typeface="Segoe UI"/>
                <a:cs typeface="Segoe UI"/>
              </a:rPr>
              <a:t>Cambiar la referencia de la imagen de resumen a etiqueta</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6535916"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617188766" name="Text Placeholder 1"/>
          <p:cNvSpPr>
            <a:spLocks noGrp="1"/>
          </p:cNvSpPr>
          <p:nvPr>
            <p:ph type="body" sz="quarter" idx="4294967295"/>
          </p:nvPr>
        </p:nvSpPr>
        <p:spPr bwMode="auto">
          <a:xfrm>
            <a:off x="4798236" y="2051473"/>
            <a:ext cx="6714090" cy="2926440"/>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an Azure Container Apps (ACA) expert, please create three multiple-choice questions that assess knowledge of managing containers in ACA.</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1307261482"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6964998"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2</a:t>
            </a:r>
            <a:endParaRPr sz="2800"/>
          </a:p>
        </p:txBody>
      </p:sp>
      <p:sp>
        <p:nvSpPr>
          <p:cNvPr id="760243975" name="Rounded Rectangle 3_1">
            <a:extLst>
              <a:ext uri="{C183D7F6-B498-43B3-948B-1728B52AA6E4}">
                <adec:decorative xmlns:adec="http://schemas.microsoft.com/office/drawing/2017/decorative" val="1"/>
              </a:ext>
            </a:extLst>
          </p:cNvPr>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558532102" name="TextBox 2"/>
          <p:cNvSpPr txBox="1"/>
          <p:nvPr/>
        </p:nvSpPr>
        <p:spPr bwMode="auto">
          <a:xfrm>
            <a:off x="889962" y="1435230"/>
            <a:ext cx="9671358" cy="3543908"/>
          </a:xfrm>
          <a:prstGeom prst="rect">
            <a:avLst/>
          </a:prstGeom>
          <a:noFill/>
        </p:spPr>
        <p:txBody>
          <a:bodyPr wrap="square" lIns="91440" tIns="45720" rIns="91440" bIns="45720" anchor="t">
            <a:noAutofit/>
          </a:bodyPr>
          <a:lstStyle/>
          <a:p>
            <a:pPr marL="228600" marR="0" indent="-228600">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Resúmenes de imágenes:</a:t>
            </a:r>
            <a:r>
              <a:rPr lang="es-ES" sz="1600" b="0" i="0" strike="noStrike" cap="none" baseline="0" dirty="0">
                <a:solidFill>
                  <a:srgbClr val="000000"/>
                </a:solidFill>
                <a:effectLst/>
                <a:latin typeface="Segoe UI"/>
                <a:ea typeface="Segoe UI"/>
                <a:cs typeface="Segoe UI"/>
              </a:rPr>
              <a:t> referencias inmutables para la rastreabilidad de producción. Las etiquetas solo se usan por comodidad</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Flujo de trabajo de revisión:</a:t>
            </a:r>
            <a:r>
              <a:rPr lang="es-ES" sz="1600" b="0" i="0" strike="noStrike" cap="none" baseline="0" dirty="0">
                <a:solidFill>
                  <a:srgbClr val="000000"/>
                </a:solidFill>
                <a:effectLst/>
                <a:latin typeface="Segoe UI"/>
                <a:ea typeface="Segoe UI"/>
                <a:cs typeface="Segoe UI"/>
              </a:rPr>
              <a:t> actualización, comprobación del estado y, a continuación, cambio del tráfico. Desactivación antes de la eliminación</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Ámbito del ciclo de vida:</a:t>
            </a:r>
            <a:r>
              <a:rPr lang="es-ES" sz="1600" b="0" i="0" strike="noStrike" cap="none" baseline="0" dirty="0">
                <a:solidFill>
                  <a:srgbClr val="000000"/>
                </a:solidFill>
                <a:effectLst/>
                <a:latin typeface="Segoe UI"/>
                <a:ea typeface="Segoe UI"/>
                <a:cs typeface="Segoe UI"/>
              </a:rPr>
              <a:t> la desactivación de revisiones aísla una versión. La detención y el reinicio afectan a toda la aplicación</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Registros primero:</a:t>
            </a:r>
            <a:r>
              <a:rPr lang="es-ES" sz="1600" b="0" i="0" strike="noStrike" cap="none" baseline="0" dirty="0">
                <a:solidFill>
                  <a:srgbClr val="000000"/>
                </a:solidFill>
                <a:effectLst/>
                <a:latin typeface="Segoe UI"/>
                <a:ea typeface="Segoe UI"/>
                <a:cs typeface="Segoe UI"/>
              </a:rPr>
              <a:t> los registros de consola y del sistema son la señal de diagnóstico más rápida en una plataforma administrada</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Protección de los sondeos de los lanzamientos:</a:t>
            </a:r>
            <a:r>
              <a:rPr lang="es-ES" sz="1600" b="0" i="0" strike="noStrike" cap="none" baseline="0" dirty="0">
                <a:solidFill>
                  <a:srgbClr val="000000"/>
                </a:solidFill>
                <a:effectLst/>
                <a:latin typeface="Segoe UI"/>
                <a:ea typeface="Segoe UI"/>
                <a:cs typeface="Segoe UI"/>
              </a:rPr>
              <a:t> tráfico de puertas de preparación. Reinicio de los desencadenadores de vivacidad. Ajuste de ambos para el comportamiento real de inicio</a:t>
            </a:r>
            <a:endParaRPr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719"/>
              </a:spcAft>
              <a:buFont typeface="Arial"/>
              <a:buChar char="•"/>
              <a:defRPr/>
            </a:pPr>
            <a:r>
              <a:rPr lang="es-ES" sz="1600" b="0" i="0" strike="noStrike" cap="none" baseline="0" dirty="0">
                <a:solidFill>
                  <a:srgbClr val="000000"/>
                </a:solidFill>
                <a:effectLst/>
                <a:latin typeface="Segoe UI Semibold"/>
                <a:ea typeface="Segoe UI Semibold"/>
                <a:cs typeface="Segoe UI Semibold"/>
              </a:rPr>
              <a:t>Dimensionamiento, a continuación, escalado:</a:t>
            </a:r>
            <a:r>
              <a:rPr lang="es-ES" sz="1600" b="0" i="0" strike="noStrike" cap="none" baseline="0" dirty="0">
                <a:solidFill>
                  <a:srgbClr val="000000"/>
                </a:solidFill>
                <a:effectLst/>
                <a:latin typeface="Segoe UI"/>
                <a:ea typeface="Segoe UI"/>
                <a:cs typeface="Segoe UI"/>
              </a:rPr>
              <a:t> corrección de los cuellos de botella por réplica antes de agregar réplicas Cambio de una variable cada vez</a:t>
            </a:r>
            <a:endParaRPr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62234" name="Title 3"/>
          <p:cNvSpPr>
            <a:spLocks noGrp="1"/>
          </p:cNvSpPr>
          <p:nvPr>
            <p:ph type="title"/>
          </p:nvPr>
        </p:nvSpPr>
        <p:spPr bwMode="auto">
          <a:xfrm>
            <a:off x="581338" y="2239801"/>
            <a:ext cx="5019362" cy="2262083"/>
          </a:xfrm>
        </p:spPr>
        <p:txBody>
          <a:bodyPr/>
          <a:lstStyle/>
          <a:p>
            <a:pPr>
              <a:defRPr/>
            </a:pPr>
            <a:r>
              <a:rPr lang="es-ES" sz="4100" b="0" i="0" strike="noStrike" cap="none" baseline="0" dirty="0">
                <a:solidFill>
                  <a:srgbClr val="000000"/>
                </a:solidFill>
                <a:effectLst/>
                <a:latin typeface="Segoe UI"/>
                <a:ea typeface="Segoe UI"/>
                <a:cs typeface="Segoe UI"/>
              </a:rPr>
              <a:t>Módulo 3: Escalado de contenedores en Azure Container Apps</a:t>
            </a:r>
            <a:endParaRPr dirty="0"/>
          </a:p>
          <a:p>
            <a:pPr>
              <a:defRPr/>
            </a:pP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1168644"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275282917" name="Content Placeholder 2"/>
          <p:cNvSpPr>
            <a:spLocks noGrp="1"/>
          </p:cNvSpPr>
          <p:nvPr>
            <p:ph sz="quarter" idx="10"/>
          </p:nvPr>
        </p:nvSpPr>
        <p:spPr bwMode="auto">
          <a:xfrm>
            <a:off x="457200" y="1235075"/>
            <a:ext cx="10911840" cy="4816475"/>
          </a:xfrm>
        </p:spPr>
        <p:txBody>
          <a:bodyPr vert="horz" lIns="0" tIns="0" rIns="0" bIns="0" rtlCol="0" anchor="t">
            <a:normAutofit/>
          </a:bodyPr>
          <a:lstStyle/>
          <a:p>
            <a:pPr marL="228600" marR="0" indent="-228600" algn="l">
              <a:lnSpc>
                <a:spcPct val="100000"/>
              </a:lnSpc>
              <a:spcBef>
                <a:spcPct val="0"/>
              </a:spcBef>
              <a:spcAft>
                <a:spcPts val="718"/>
              </a:spcAft>
              <a:buFont typeface="Arial"/>
              <a:buChar char="•"/>
              <a:defRPr/>
            </a:pPr>
            <a:r>
              <a:rPr lang="es-ES" sz="2200" b="0" i="0" strike="noStrike" cap="none" baseline="0" dirty="0">
                <a:solidFill>
                  <a:srgbClr val="000000"/>
                </a:solidFill>
                <a:effectLst/>
                <a:latin typeface="Segoe UI"/>
                <a:ea typeface="Segoe UI"/>
                <a:cs typeface="Segoe UI"/>
              </a:rPr>
              <a:t>Configurar reglas de escalado de memoria, CPU, TCP y HTTP para aplicaciones contenedoras</a:t>
            </a:r>
            <a:endParaRPr lang="en-US" sz="2200" b="0" i="0" u="none" strike="noStrike" cap="none" spc="0" dirty="0">
              <a:solidFill>
                <a:schemeClr val="tx1"/>
              </a:solidFill>
              <a:latin typeface="Segoe UI"/>
              <a:cs typeface="Segoe UI"/>
            </a:endParaRPr>
          </a:p>
          <a:p>
            <a:pPr marL="228600" marR="0" indent="-228600" algn="l">
              <a:lnSpc>
                <a:spcPct val="100000"/>
              </a:lnSpc>
              <a:spcBef>
                <a:spcPct val="0"/>
              </a:spcBef>
              <a:spcAft>
                <a:spcPts val="718"/>
              </a:spcAft>
              <a:buFont typeface="Arial"/>
              <a:buChar char="•"/>
              <a:defRPr/>
            </a:pPr>
            <a:r>
              <a:rPr lang="es-ES" sz="2200" b="0" i="0" strike="noStrike" cap="none" baseline="0" dirty="0">
                <a:solidFill>
                  <a:srgbClr val="000000"/>
                </a:solidFill>
                <a:effectLst/>
                <a:latin typeface="Segoe UI"/>
                <a:ea typeface="Segoe UI"/>
                <a:cs typeface="Segoe UI"/>
              </a:rPr>
              <a:t>Implementar el escalado controlado por eventos mediante escaladores KEDA para servicios de Azure</a:t>
            </a:r>
            <a:endParaRPr lang="en-US" sz="2200" b="0" i="0" u="none" strike="noStrike" cap="none" spc="0" dirty="0">
              <a:solidFill>
                <a:schemeClr val="tx1"/>
              </a:solidFill>
              <a:latin typeface="Segoe UI"/>
              <a:cs typeface="Segoe UI"/>
            </a:endParaRPr>
          </a:p>
          <a:p>
            <a:pPr marL="228600" marR="0" indent="-228600" algn="l">
              <a:lnSpc>
                <a:spcPct val="100000"/>
              </a:lnSpc>
              <a:spcBef>
                <a:spcPct val="0"/>
              </a:spcBef>
              <a:spcAft>
                <a:spcPts val="718"/>
              </a:spcAft>
              <a:buFont typeface="Arial"/>
              <a:buChar char="•"/>
              <a:defRPr/>
            </a:pPr>
            <a:r>
              <a:rPr lang="es-ES" sz="2200" b="0" i="0" strike="noStrike" cap="none" baseline="0" dirty="0">
                <a:solidFill>
                  <a:srgbClr val="000000"/>
                </a:solidFill>
                <a:effectLst/>
                <a:latin typeface="Segoe UI"/>
                <a:ea typeface="Segoe UI"/>
                <a:cs typeface="Segoe UI"/>
              </a:rPr>
              <a:t>Seleccionar recursos de proceso adecuados para optimizar el rendimiento y el coste</a:t>
            </a:r>
            <a:endParaRPr lang="en-US" sz="2200" b="0" i="0" u="none" strike="noStrike" cap="none" spc="0" dirty="0">
              <a:solidFill>
                <a:schemeClr val="tx1"/>
              </a:solidFill>
              <a:latin typeface="Segoe UI"/>
              <a:cs typeface="Segoe UI"/>
            </a:endParaRPr>
          </a:p>
          <a:p>
            <a:pPr marL="228600" marR="0" lvl="0" indent="-228600" algn="l">
              <a:lnSpc>
                <a:spcPct val="100000"/>
              </a:lnSpc>
              <a:spcBef>
                <a:spcPct val="0"/>
              </a:spcBef>
              <a:spcAft>
                <a:spcPts val="718"/>
              </a:spcAft>
              <a:buFont typeface="Arial"/>
              <a:buChar char="•"/>
              <a:defRPr/>
            </a:pPr>
            <a:r>
              <a:rPr lang="es-ES" sz="2200" b="0" i="0" strike="noStrike" cap="none" baseline="0" dirty="0">
                <a:solidFill>
                  <a:srgbClr val="000000"/>
                </a:solidFill>
                <a:effectLst/>
                <a:latin typeface="Segoe UI"/>
                <a:ea typeface="Segoe UI"/>
                <a:cs typeface="Segoe UI"/>
              </a:rPr>
              <a:t>Aplicar modos de revisión para controlar el comportamiento de escalado y la distribución del tráfico</a:t>
            </a:r>
            <a:endParaRPr lang="en-US" sz="2200" b="0" i="0" u="none" strike="noStrike" cap="none" spc="0" dirty="0">
              <a:solidFill>
                <a:schemeClr val="tx1"/>
              </a:solidFill>
              <a:latin typeface="Segoe UI"/>
              <a:cs typeface="Segoe UI"/>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667004"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055998741" name="Content Placeholder 3"/>
          <p:cNvSpPr>
            <a:spLocks noGrp="1"/>
          </p:cNvSpPr>
          <p:nvPr>
            <p:ph sz="quarter" idx="10"/>
          </p:nvPr>
        </p:nvSpPr>
        <p:spPr bwMode="auto"/>
        <p:txBody>
          <a:bodyPr vertOverflow="overflow" horzOverflow="overflow" vert="horz" wrap="square" lIns="0" tIns="0" rIns="0" bIns="0" numCol="1" spcCol="0" rtlCol="0" fromWordArt="0" anchor="t" anchorCtr="0" forceAA="0" compatLnSpc="0">
            <a:normAutofit/>
          </a:bodyPr>
          <a:lstStyle/>
          <a:p>
            <a:pPr lvl="0">
              <a:spcAft>
                <a:spcPts val="719"/>
              </a:spcAft>
              <a:defRPr/>
            </a:pPr>
            <a:r>
              <a:rPr lang="es-ES" sz="2200" b="0" i="0" strike="noStrike" cap="none" baseline="0">
                <a:solidFill>
                  <a:srgbClr val="000000"/>
                </a:solidFill>
                <a:effectLst/>
                <a:latin typeface="Segoe UI"/>
                <a:ea typeface="Segoe UI"/>
                <a:cs typeface="Segoe UI"/>
              </a:rPr>
              <a:t>Escalado horizontal automático en función de la demanda</a:t>
            </a:r>
            <a:endParaRPr sz="2200"/>
          </a:p>
          <a:p>
            <a:pPr lvl="0">
              <a:spcAft>
                <a:spcPts val="719"/>
              </a:spcAft>
              <a:defRPr/>
            </a:pPr>
            <a:r>
              <a:rPr lang="es-ES" sz="2200" b="0" i="0" strike="noStrike" cap="none" baseline="0">
                <a:solidFill>
                  <a:srgbClr val="000000"/>
                </a:solidFill>
                <a:effectLst/>
                <a:latin typeface="Segoe UI"/>
                <a:ea typeface="Segoe UI"/>
                <a:cs typeface="Segoe UI"/>
              </a:rPr>
              <a:t>Con tecnología de KEDA (Kubernete Event-Driven Autoscaling)</a:t>
            </a:r>
            <a:endParaRPr sz="2200"/>
          </a:p>
          <a:p>
            <a:pPr lvl="0">
              <a:spcAft>
                <a:spcPts val="719"/>
              </a:spcAft>
              <a:defRPr/>
            </a:pPr>
            <a:r>
              <a:rPr lang="es-ES" sz="2200" b="0" i="0" strike="noStrike" cap="none" baseline="0">
                <a:solidFill>
                  <a:srgbClr val="000000"/>
                </a:solidFill>
                <a:effectLst/>
                <a:latin typeface="Segoe UI"/>
                <a:ea typeface="Segoe UI"/>
                <a:cs typeface="Segoe UI"/>
              </a:rPr>
              <a:t>Escalado a cero para ahorrar costes durante períodos de inactividad</a:t>
            </a:r>
            <a:endParaRPr sz="2200"/>
          </a:p>
          <a:p>
            <a:pPr lvl="0">
              <a:spcAft>
                <a:spcPts val="719"/>
              </a:spcAft>
              <a:defRPr/>
            </a:pPr>
            <a:r>
              <a:rPr lang="es-ES" sz="2200" b="0" i="0" strike="noStrike" cap="none" baseline="0">
                <a:solidFill>
                  <a:srgbClr val="000000"/>
                </a:solidFill>
                <a:effectLst/>
                <a:latin typeface="Segoe UI"/>
                <a:ea typeface="Segoe UI"/>
                <a:cs typeface="Segoe UI"/>
              </a:rPr>
              <a:t>Desencadenadores de memoria, CPU, TCP y HTTP integrados</a:t>
            </a:r>
            <a:endParaRPr sz="2200"/>
          </a:p>
          <a:p>
            <a:pPr lvl="0">
              <a:spcAft>
                <a:spcPts val="719"/>
              </a:spcAft>
              <a:defRPr/>
            </a:pPr>
            <a:r>
              <a:rPr lang="es-ES" sz="2200" b="0" i="0" strike="noStrike" cap="none" baseline="0">
                <a:solidFill>
                  <a:srgbClr val="000000"/>
                </a:solidFill>
                <a:effectLst/>
                <a:latin typeface="Segoe UI"/>
                <a:ea typeface="Segoe UI"/>
                <a:cs typeface="Segoe UI"/>
              </a:rPr>
              <a:t>Escalado controlado por eventos para colas, secuencias y métricas personalizadas</a:t>
            </a:r>
            <a:endParaRPr sz="2200"/>
          </a:p>
          <a:p>
            <a:pPr lvl="0">
              <a:spcAft>
                <a:spcPts val="719"/>
              </a:spcAft>
              <a:defRPr/>
            </a:pPr>
            <a:r>
              <a:rPr lang="es-ES" sz="2200" b="0" i="0" strike="noStrike" cap="none" baseline="0">
                <a:solidFill>
                  <a:srgbClr val="000000"/>
                </a:solidFill>
                <a:effectLst/>
                <a:latin typeface="Segoe UI"/>
                <a:ea typeface="Segoe UI"/>
                <a:cs typeface="Segoe UI"/>
              </a:rPr>
              <a:t>División del tráfico entre revisiones para lanzamientos seguros</a:t>
            </a:r>
            <a:endParaRPr sz="2200"/>
          </a:p>
          <a:p>
            <a:pPr>
              <a:defRPr/>
            </a:pPr>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1658664"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Configuración de reglas de escala</a:t>
            </a:r>
            <a:endParaRPr/>
          </a:p>
        </p:txBody>
      </p:sp>
      <p:sp>
        <p:nvSpPr>
          <p:cNvPr id="1488831508" name="TextBox 2"/>
          <p:cNvSpPr txBox="1"/>
          <p:nvPr/>
        </p:nvSpPr>
        <p:spPr bwMode="auto">
          <a:xfrm>
            <a:off x="457200" y="1301496"/>
            <a:ext cx="5791200" cy="468782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lvl="0" indent="0">
              <a:spcAft>
                <a:spcPts val="719"/>
              </a:spcAft>
              <a:buNone/>
              <a:defRPr/>
            </a:pPr>
            <a:r>
              <a:rPr lang="es-ES" sz="2000" b="0" i="0" strike="noStrike" cap="none" baseline="0" dirty="0">
                <a:solidFill>
                  <a:srgbClr val="000000"/>
                </a:solidFill>
                <a:effectLst/>
                <a:latin typeface="Segoe UI Semibold"/>
                <a:ea typeface="Segoe UI Semibold"/>
                <a:cs typeface="Segoe UI Semibold"/>
              </a:rPr>
              <a:t>Escalado de componentes de definición</a:t>
            </a:r>
            <a:endParaRPr b="0" dirty="0"/>
          </a:p>
          <a:p>
            <a:pPr marL="228600" marR="0" lvl="0" indent="-228600">
              <a:spcAft>
                <a:spcPts val="359"/>
              </a:spcAft>
              <a:buFont typeface="Arial"/>
              <a:buChar char="•"/>
              <a:defRPr/>
            </a:pPr>
            <a:r>
              <a:rPr lang="es-ES" sz="1600" b="0" i="0" strike="noStrike" cap="none" baseline="0" dirty="0">
                <a:solidFill>
                  <a:srgbClr val="000000"/>
                </a:solidFill>
                <a:effectLst/>
                <a:latin typeface="Segoe UI"/>
                <a:ea typeface="Segoe UI"/>
                <a:cs typeface="Segoe UI"/>
              </a:rPr>
              <a:t>Límites: número mínimo y máximo de réplicas (de 0 a 1000)</a:t>
            </a:r>
            <a:endParaRPr b="0" dirty="0"/>
          </a:p>
          <a:p>
            <a:pPr marL="228600" marR="0" lvl="0" indent="-228600">
              <a:spcAft>
                <a:spcPts val="359"/>
              </a:spcAft>
              <a:buFont typeface="Arial"/>
              <a:buChar char="•"/>
              <a:defRPr/>
            </a:pPr>
            <a:r>
              <a:rPr lang="es-ES" sz="1600" b="0" i="0" strike="noStrike" cap="none" baseline="0" dirty="0">
                <a:solidFill>
                  <a:srgbClr val="000000"/>
                </a:solidFill>
                <a:effectLst/>
                <a:latin typeface="Segoe UI"/>
                <a:ea typeface="Segoe UI"/>
                <a:cs typeface="Segoe UI"/>
              </a:rPr>
              <a:t>Reglas: desencadenadores que impulsan decisiones de escalado</a:t>
            </a:r>
            <a:endParaRPr b="0" dirty="0"/>
          </a:p>
          <a:p>
            <a:pPr marL="228600" marR="0" lvl="0" indent="-228600">
              <a:spcAft>
                <a:spcPts val="359"/>
              </a:spcAft>
              <a:buFont typeface="Arial"/>
              <a:buChar char="•"/>
              <a:defRPr/>
            </a:pPr>
            <a:r>
              <a:rPr lang="es-ES" sz="1600" b="0" i="0" strike="noStrike" cap="none" baseline="0" dirty="0">
                <a:solidFill>
                  <a:srgbClr val="000000"/>
                </a:solidFill>
                <a:effectLst/>
                <a:latin typeface="Segoe UI"/>
                <a:ea typeface="Segoe UI"/>
                <a:cs typeface="Segoe UI"/>
              </a:rPr>
              <a:t>Comportamiento: tiempo de sondeo, enfriamiento y estabilización</a:t>
            </a:r>
            <a:endParaRPr b="0" dirty="0"/>
          </a:p>
          <a:p>
            <a:pPr marL="0" marR="0" lvl="0" indent="0" algn="l">
              <a:lnSpc>
                <a:spcPct val="100000"/>
              </a:lnSpc>
              <a:spcBef>
                <a:spcPts val="719"/>
              </a:spcBef>
              <a:spcAft>
                <a:spcPts val="719"/>
              </a:spcAft>
              <a:buNone/>
              <a:defRPr/>
            </a:pPr>
            <a:r>
              <a:rPr lang="es-ES" sz="2000" b="0" i="0" strike="noStrike" cap="none" baseline="0" dirty="0">
                <a:solidFill>
                  <a:srgbClr val="000000"/>
                </a:solidFill>
                <a:effectLst/>
                <a:latin typeface="Segoe UI Semibold"/>
                <a:ea typeface="Segoe UI Semibold"/>
                <a:cs typeface="Segoe UI Semibold"/>
              </a:rPr>
              <a:t>Tipos de roles integrados</a:t>
            </a:r>
            <a:endParaRPr lang="en-US" sz="2000" b="0" i="0" u="none" strike="noStrike" cap="none" spc="0" dirty="0">
              <a:solidFill>
                <a:schemeClr val="tx1"/>
              </a:solidFill>
              <a:latin typeface="Segoe UI Semibold"/>
              <a:cs typeface="Segoe UI Semibold"/>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HTTP: solicitudes simultáneas por réplica (valor predeterminado: 10)</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TCP: conexiones simultáneas para protocolos persistentes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CPU: porcentaje de uso (no se puede escalar a cero)</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Memoria: porcentaje de consumo (no se puede escalar a cero)</a:t>
            </a:r>
            <a:endParaRPr lang="en-US" sz="1600" b="0" i="0" u="none" strike="noStrike" cap="none" spc="0" dirty="0">
              <a:solidFill>
                <a:schemeClr val="tx1"/>
              </a:solidFill>
              <a:latin typeface="Segoe UI"/>
              <a:cs typeface="Segoe UI"/>
            </a:endParaRPr>
          </a:p>
          <a:p>
            <a:pPr marL="0" lvl="0" indent="0">
              <a:spcBef>
                <a:spcPts val="935"/>
              </a:spcBef>
              <a:buNone/>
              <a:defRPr/>
            </a:pPr>
            <a:r>
              <a:rPr lang="es-ES" sz="1600" b="0" i="0" strike="noStrike" cap="none" baseline="0" dirty="0">
                <a:solidFill>
                  <a:srgbClr val="000000"/>
                </a:solidFill>
                <a:effectLst/>
                <a:latin typeface="Segoe UI Semibold"/>
                <a:ea typeface="Segoe UI Semibold"/>
                <a:cs typeface="Segoe UI Semibold"/>
              </a:rPr>
              <a:t>Comportamiento clave:</a:t>
            </a:r>
            <a:r>
              <a:rPr lang="es-ES" sz="1600" b="0" i="0" strike="noStrike" cap="none" baseline="0" dirty="0">
                <a:solidFill>
                  <a:srgbClr val="000000"/>
                </a:solidFill>
                <a:effectLst/>
                <a:latin typeface="Segoe UI"/>
                <a:ea typeface="Segoe UI"/>
                <a:cs typeface="Segoe UI"/>
              </a:rPr>
              <a:t> varias reglas usan el número de réplicas más alto</a:t>
            </a:r>
            <a:endParaRPr lang="en-US" sz="1600" b="0" i="0" u="none" strike="noStrike" cap="none" spc="0" dirty="0">
              <a:solidFill>
                <a:schemeClr val="tx1"/>
              </a:solidFill>
              <a:latin typeface="Times New Roman"/>
              <a:cs typeface="Times New Roman"/>
            </a:endParaRPr>
          </a:p>
          <a:p>
            <a:pPr>
              <a:defRPr/>
            </a:pPr>
            <a:endParaRPr sz="1600" b="0" dirty="0"/>
          </a:p>
        </p:txBody>
      </p:sp>
      <p:pic>
        <p:nvPicPr>
          <p:cNvPr id="1808281244" name="Picture 1" descr="Flow diagram showing scale triggers flowing through threshold checks and scale decisions to scale-up or scale-down actions that adjust replica count&#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839319" y="1033074"/>
            <a:ext cx="4352543" cy="5586983"/>
          </a:xfrm>
          <a:prstGeom prst="rect">
            <a:avLst/>
          </a:prstGeom>
          <a:noFill/>
          <a:ln w="9525">
            <a:noFill/>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4608511"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Implementación del escalado controlado por eventos con KEDA</a:t>
            </a:r>
            <a:endParaRPr lang="en-US"/>
          </a:p>
        </p:txBody>
      </p:sp>
      <p:sp>
        <p:nvSpPr>
          <p:cNvPr id="795205370" name="TextBox 2"/>
          <p:cNvSpPr txBox="1"/>
          <p:nvPr/>
        </p:nvSpPr>
        <p:spPr bwMode="auto">
          <a:xfrm>
            <a:off x="582238" y="1229356"/>
            <a:ext cx="5376602" cy="5108053"/>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lvl="0" indent="0">
              <a:spcAft>
                <a:spcPts val="359"/>
              </a:spcAft>
              <a:buNone/>
              <a:defRPr/>
            </a:pPr>
            <a:r>
              <a:rPr lang="es-ES" b="0" i="0" strike="noStrike" cap="none" baseline="0" dirty="0">
                <a:solidFill>
                  <a:srgbClr val="000000"/>
                </a:solidFill>
                <a:effectLst/>
                <a:latin typeface="Segoe UI Semibold"/>
                <a:ea typeface="Segoe UI Semibold"/>
                <a:cs typeface="Segoe UI Semibold"/>
              </a:rPr>
              <a:t>Escaladores nativos de Azure (de primera entidad)</a:t>
            </a:r>
            <a:endParaRPr dirty="0"/>
          </a:p>
          <a:p>
            <a:pPr marL="228600" marR="0" lvl="0" indent="-228600" algn="l">
              <a:lnSpc>
                <a:spcPct val="100000"/>
              </a:lnSpc>
              <a:spcBef>
                <a:spcPct val="0"/>
              </a:spcBef>
              <a:spcAft>
                <a:spcPts val="359"/>
              </a:spcAft>
              <a:buChar char="•"/>
              <a:defRPr/>
            </a:pPr>
            <a:r>
              <a:rPr lang="es-ES" sz="1600" b="0" i="0" strike="noStrike" cap="none" baseline="0" dirty="0" err="1">
                <a:solidFill>
                  <a:srgbClr val="000000"/>
                </a:solidFill>
                <a:effectLst/>
                <a:latin typeface="Segoe UI"/>
                <a:ea typeface="Segoe UI"/>
                <a:cs typeface="Segoe UI"/>
              </a:rPr>
              <a:t>Service</a:t>
            </a:r>
            <a:r>
              <a:rPr lang="es-ES" sz="1600" b="0" i="0" strike="noStrike" cap="none" baseline="0" dirty="0">
                <a:solidFill>
                  <a:srgbClr val="000000"/>
                </a:solidFill>
                <a:effectLst/>
                <a:latin typeface="Segoe UI"/>
                <a:ea typeface="Segoe UI"/>
                <a:cs typeface="Segoe UI"/>
              </a:rPr>
              <a:t> Bus: escalado en el número de mensajes de cola/tema</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err="1">
                <a:solidFill>
                  <a:srgbClr val="000000"/>
                </a:solidFill>
                <a:effectLst/>
                <a:latin typeface="Segoe UI"/>
                <a:ea typeface="Segoe UI"/>
                <a:cs typeface="Segoe UI"/>
              </a:rPr>
              <a:t>Event</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Hubs</a:t>
            </a:r>
            <a:r>
              <a:rPr lang="es-ES" sz="1600" b="0" i="0" strike="noStrike" cap="none" baseline="0" dirty="0">
                <a:solidFill>
                  <a:srgbClr val="000000"/>
                </a:solidFill>
                <a:effectLst/>
                <a:latin typeface="Segoe UI"/>
                <a:ea typeface="Segoe UI"/>
                <a:cs typeface="Segoe UI"/>
              </a:rPr>
              <a:t>: escalado en el retraso del consumidor de particiones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Cola de almacenamiento: escalado en el número aproximado de mensajes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Blob Storage: escalado en el número de blobs</a:t>
            </a:r>
            <a:endParaRPr dirty="0"/>
          </a:p>
          <a:p>
            <a:pPr marL="0" marR="0" lvl="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Funcionamiento</a:t>
            </a:r>
            <a:endParaRPr dirty="0"/>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KEDA sondea el origen del evento cada 30 segundos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Divide la métrica actual por umbral para obtener el número de réplicas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Admite el escalado a cero para procesadores de cola inactivos</a:t>
            </a:r>
            <a:endParaRPr dirty="0"/>
          </a:p>
          <a:p>
            <a:pPr marL="0" marR="0" lvl="0" indent="0" algn="l">
              <a:lnSpc>
                <a:spcPct val="100000"/>
              </a:lnSpc>
              <a:spcBef>
                <a:spcPts val="719"/>
              </a:spcBef>
              <a:spcAft>
                <a:spcPts val="359"/>
              </a:spcAft>
              <a:defRPr/>
            </a:pPr>
            <a:r>
              <a:rPr lang="es-ES" b="0" i="0" strike="noStrike" cap="none" baseline="0" dirty="0">
                <a:solidFill>
                  <a:srgbClr val="000000"/>
                </a:solidFill>
                <a:effectLst/>
                <a:latin typeface="Segoe UI Semibold"/>
                <a:ea typeface="Segoe UI Semibold"/>
                <a:cs typeface="Segoe UI Semibold"/>
              </a:rPr>
              <a:t>Autenticación</a:t>
            </a:r>
            <a:endParaRPr dirty="0"/>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Identidad administrada (recomendada para producción)</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Cadenas de conexión basadas en secretos</a:t>
            </a:r>
            <a:endParaRPr sz="1600" dirty="0"/>
          </a:p>
        </p:txBody>
      </p:sp>
      <p:pic>
        <p:nvPicPr>
          <p:cNvPr id="1423738958" name="Picture 1" descr="Architecture diagram showing KEDA driving Container Apps replicas based on event sources including Service Bus, Event Hubs, Storage Queue, and Blob Storage, with managed identity and secrets authentication option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219008" y="1069847"/>
            <a:ext cx="4112549" cy="5267563"/>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197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Aplicación de escaladores KEDA para cargas de trabajo personalizadas</a:t>
            </a:r>
            <a:endParaRPr lang="en-US"/>
          </a:p>
        </p:txBody>
      </p:sp>
      <p:sp>
        <p:nvSpPr>
          <p:cNvPr id="1571940036" name="TextBox 2"/>
          <p:cNvSpPr txBox="1"/>
          <p:nvPr/>
        </p:nvSpPr>
        <p:spPr bwMode="auto">
          <a:xfrm>
            <a:off x="457199" y="1226083"/>
            <a:ext cx="4785361" cy="499183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lvl="0" indent="0">
              <a:spcAft>
                <a:spcPts val="359"/>
              </a:spcAft>
              <a:buNone/>
              <a:defRPr/>
            </a:pPr>
            <a:r>
              <a:rPr lang="es-ES" sz="1800" b="0" i="0" strike="noStrike" cap="none" baseline="0" dirty="0">
                <a:solidFill>
                  <a:srgbClr val="000000"/>
                </a:solidFill>
                <a:effectLst/>
                <a:latin typeface="Segoe UI Semibold"/>
                <a:ea typeface="Segoe UI Semibold"/>
                <a:cs typeface="Segoe UI Semibold"/>
              </a:rPr>
              <a:t>Más allá de los escaladores nativos de Azure</a:t>
            </a:r>
            <a:endParaRPr sz="2000" b="0" dirty="0">
              <a:latin typeface="Segoe UI"/>
              <a:cs typeface="Segoe UI"/>
            </a:endParaRPr>
          </a:p>
          <a:p>
            <a:pPr marL="228600" marR="0" lvl="0" indent="-228600">
              <a:spcAft>
                <a:spcPts val="287"/>
              </a:spcAft>
              <a:buFont typeface="Arial"/>
              <a:buChar char="•"/>
              <a:defRPr/>
            </a:pPr>
            <a:r>
              <a:rPr lang="es-ES" sz="1800" b="0" i="0" strike="noStrike" cap="none" baseline="0" dirty="0">
                <a:solidFill>
                  <a:srgbClr val="000000"/>
                </a:solidFill>
                <a:effectLst/>
                <a:latin typeface="Segoe UI"/>
                <a:ea typeface="Segoe UI"/>
                <a:cs typeface="Segoe UI"/>
              </a:rPr>
              <a:t>Kafka: retraso del grupo de consumidores por partición</a:t>
            </a:r>
            <a:endParaRPr sz="2000" b="0" dirty="0">
              <a:latin typeface="Segoe UI"/>
              <a:cs typeface="Segoe UI"/>
            </a:endParaRPr>
          </a:p>
          <a:p>
            <a:pPr marL="228600" marR="0" lvl="0" indent="-228600">
              <a:spcAft>
                <a:spcPts val="287"/>
              </a:spcAft>
              <a:buFont typeface="Arial"/>
              <a:buChar char="•"/>
              <a:defRPr/>
            </a:pPr>
            <a:r>
              <a:rPr lang="es-ES" sz="1800" b="0" i="0" strike="noStrike" cap="none" baseline="0" dirty="0">
                <a:solidFill>
                  <a:srgbClr val="000000"/>
                </a:solidFill>
                <a:effectLst/>
                <a:latin typeface="Segoe UI"/>
                <a:ea typeface="Segoe UI"/>
                <a:cs typeface="Segoe UI"/>
              </a:rPr>
              <a:t>Redis: enumeración de la longitud o de las entradas pendientes de secuencia</a:t>
            </a:r>
            <a:endParaRPr sz="2000" b="0" dirty="0">
              <a:latin typeface="Segoe UI"/>
              <a:cs typeface="Segoe UI"/>
            </a:endParaRPr>
          </a:p>
          <a:p>
            <a:pPr marL="228600" marR="0" lvl="0" indent="-228600">
              <a:spcAft>
                <a:spcPts val="287"/>
              </a:spcAft>
              <a:buFont typeface="Arial"/>
              <a:buChar char="•"/>
              <a:defRPr/>
            </a:pPr>
            <a:r>
              <a:rPr lang="es-ES" sz="1800" b="0" i="0" strike="noStrike" cap="none" baseline="0" dirty="0">
                <a:solidFill>
                  <a:srgbClr val="000000"/>
                </a:solidFill>
                <a:effectLst/>
                <a:latin typeface="Segoe UI"/>
                <a:ea typeface="Segoe UI"/>
                <a:cs typeface="Segoe UI"/>
              </a:rPr>
              <a:t>Cron: escalado previo basado en el tiempo para picos conocidos</a:t>
            </a:r>
            <a:endParaRPr sz="2000" b="0" dirty="0">
              <a:latin typeface="Segoe UI"/>
              <a:cs typeface="Segoe UI"/>
            </a:endParaRPr>
          </a:p>
          <a:p>
            <a:pPr marL="228600" marR="0" lvl="0" indent="-228600">
              <a:spcAft>
                <a:spcPts val="287"/>
              </a:spcAft>
              <a:buFont typeface="Arial"/>
              <a:buChar char="•"/>
              <a:defRPr/>
            </a:pPr>
            <a:r>
              <a:rPr lang="es-ES" sz="1800" b="0" i="0" strike="noStrike" cap="none" baseline="0" dirty="0" err="1">
                <a:solidFill>
                  <a:srgbClr val="000000"/>
                </a:solidFill>
                <a:effectLst/>
                <a:latin typeface="Segoe UI"/>
                <a:ea typeface="Segoe UI"/>
                <a:cs typeface="Segoe UI"/>
              </a:rPr>
              <a:t>Prometheus</a:t>
            </a:r>
            <a:r>
              <a:rPr lang="es-ES" sz="1800" b="0" i="0" strike="noStrike" cap="none" baseline="0" dirty="0">
                <a:solidFill>
                  <a:srgbClr val="000000"/>
                </a:solidFill>
                <a:effectLst/>
                <a:latin typeface="Segoe UI"/>
                <a:ea typeface="Segoe UI"/>
                <a:cs typeface="Segoe UI"/>
              </a:rPr>
              <a:t>: métricas empresariales personalizadas de </a:t>
            </a:r>
            <a:r>
              <a:rPr lang="es-ES" sz="1800" b="0" i="0" strike="noStrike" cap="none" baseline="0" dirty="0" err="1">
                <a:solidFill>
                  <a:srgbClr val="000000"/>
                </a:solidFill>
                <a:effectLst/>
                <a:latin typeface="Segoe UI"/>
                <a:ea typeface="Segoe UI"/>
                <a:cs typeface="Segoe UI"/>
              </a:rPr>
              <a:t>PromQL</a:t>
            </a:r>
            <a:endParaRPr sz="2000" b="0" dirty="0">
              <a:latin typeface="Segoe UI"/>
              <a:cs typeface="Segoe UI"/>
            </a:endParaRPr>
          </a:p>
          <a:p>
            <a:pPr marL="0" marR="0" lvl="0" indent="0" algn="l">
              <a:lnSpc>
                <a:spcPct val="100000"/>
              </a:lnSpc>
              <a:spcBef>
                <a:spcPts val="719"/>
              </a:spcBef>
              <a:spcAft>
                <a:spcPts val="359"/>
              </a:spcAft>
              <a:buNone/>
              <a:defRPr/>
            </a:pPr>
            <a:r>
              <a:rPr lang="es-ES" sz="1800" b="0" i="0" strike="noStrike" cap="none" baseline="0" dirty="0">
                <a:solidFill>
                  <a:srgbClr val="000000"/>
                </a:solidFill>
                <a:effectLst/>
                <a:latin typeface="Segoe UI Semibold"/>
                <a:ea typeface="Segoe UI Semibold"/>
                <a:cs typeface="Segoe UI Semibold"/>
              </a:rPr>
              <a:t>Combinación de escaladores</a:t>
            </a:r>
            <a:endParaRPr sz="2000" b="0" dirty="0">
              <a:latin typeface="Segoe UI"/>
              <a:cs typeface="Segoe UI"/>
            </a:endParaRPr>
          </a:p>
          <a:p>
            <a:pPr marL="228600" marR="0" lvl="0" indent="-228600" algn="l">
              <a:lnSpc>
                <a:spcPct val="100000"/>
              </a:lnSpc>
              <a:spcBef>
                <a:spcPct val="0"/>
              </a:spcBef>
              <a:spcAft>
                <a:spcPts val="287"/>
              </a:spcAft>
              <a:buChar char="•"/>
              <a:defRPr/>
            </a:pPr>
            <a:r>
              <a:rPr lang="es-ES" sz="1800" b="0" i="0" strike="noStrike" cap="none" baseline="0" dirty="0">
                <a:solidFill>
                  <a:srgbClr val="000000"/>
                </a:solidFill>
                <a:effectLst/>
                <a:latin typeface="Segoe UI"/>
                <a:ea typeface="Segoe UI"/>
                <a:cs typeface="Segoe UI"/>
              </a:rPr>
              <a:t>Cron establece la capacidad de línea base según la programación</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287"/>
              </a:spcAft>
              <a:buChar char="•"/>
              <a:defRPr/>
            </a:pPr>
            <a:r>
              <a:rPr lang="es-ES" sz="1800" b="0" i="0" strike="noStrike" cap="none" baseline="0" dirty="0">
                <a:solidFill>
                  <a:srgbClr val="000000"/>
                </a:solidFill>
                <a:effectLst/>
                <a:latin typeface="Segoe UI"/>
                <a:ea typeface="Segoe UI"/>
                <a:cs typeface="Segoe UI"/>
              </a:rPr>
              <a:t>Los escaladores de eventos o HTTP controlan la demanda en tiempo real</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287"/>
              </a:spcAft>
              <a:buChar char="•"/>
              <a:defRPr/>
            </a:pPr>
            <a:r>
              <a:rPr lang="es-ES" sz="1800" b="0" i="0" strike="noStrike" cap="none" baseline="0" dirty="0">
                <a:solidFill>
                  <a:srgbClr val="000000"/>
                </a:solidFill>
                <a:effectLst/>
                <a:latin typeface="Segoe UI"/>
                <a:ea typeface="Segoe UI"/>
                <a:cs typeface="Segoe UI"/>
              </a:rPr>
              <a:t>La plataforma usa el número de réplicas más alto en todas las reglas</a:t>
            </a:r>
            <a:endParaRPr sz="2000" b="0" dirty="0">
              <a:latin typeface="Segoe UI"/>
              <a:cs typeface="Segoe UI"/>
            </a:endParaRPr>
          </a:p>
        </p:txBody>
      </p:sp>
      <p:sp>
        <p:nvSpPr>
          <p:cNvPr id="1170528119" name="TextBox 2"/>
          <p:cNvSpPr txBox="1"/>
          <p:nvPr/>
        </p:nvSpPr>
        <p:spPr bwMode="auto">
          <a:xfrm>
            <a:off x="6068505" y="1226083"/>
            <a:ext cx="4607115"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lvl="0" indent="0">
              <a:spcBef>
                <a:spcPct val="0"/>
              </a:spcBef>
              <a:spcAft>
                <a:spcPts val="358"/>
              </a:spcAft>
              <a:buNone/>
              <a:defRPr/>
            </a:pPr>
            <a:r>
              <a:rPr lang="es-ES" sz="1800" b="0" i="0" strike="noStrike" cap="none" baseline="0" dirty="0">
                <a:solidFill>
                  <a:srgbClr val="000000"/>
                </a:solidFill>
                <a:effectLst/>
                <a:latin typeface="Segoe UI Semibold"/>
                <a:ea typeface="Segoe UI Semibold"/>
                <a:cs typeface="Segoe UI Semibold"/>
              </a:rPr>
              <a:t>Migración desde KEDA de </a:t>
            </a:r>
            <a:r>
              <a:rPr lang="es-ES" sz="1800" b="0" i="0" strike="noStrike" cap="none" baseline="0" dirty="0" err="1">
                <a:solidFill>
                  <a:srgbClr val="000000"/>
                </a:solidFill>
                <a:effectLst/>
                <a:latin typeface="Segoe UI Semibold"/>
                <a:ea typeface="Segoe UI Semibold"/>
                <a:cs typeface="Segoe UI Semibold"/>
              </a:rPr>
              <a:t>Kubernetes</a:t>
            </a:r>
            <a:endParaRPr sz="2000" b="0" dirty="0">
              <a:latin typeface="Segoe UI"/>
              <a:cs typeface="Segoe UI"/>
            </a:endParaRPr>
          </a:p>
          <a:p>
            <a:pPr marL="228600" marR="0" lvl="0" indent="-228600" algn="l">
              <a:lnSpc>
                <a:spcPct val="100000"/>
              </a:lnSpc>
              <a:spcBef>
                <a:spcPct val="0"/>
              </a:spcBef>
              <a:spcAft>
                <a:spcPts val="286"/>
              </a:spcAft>
              <a:buChar char="•"/>
              <a:defRPr/>
            </a:pPr>
            <a:r>
              <a:rPr lang="es-ES" sz="1800" b="0" i="0" strike="noStrike" cap="none" baseline="0" dirty="0">
                <a:solidFill>
                  <a:srgbClr val="000000"/>
                </a:solidFill>
                <a:effectLst/>
                <a:latin typeface="Segoe UI"/>
                <a:ea typeface="Segoe UI"/>
                <a:cs typeface="Segoe UI"/>
              </a:rPr>
              <a:t>Asignación del tipo </a:t>
            </a:r>
            <a:r>
              <a:rPr lang="es-ES" sz="1800" b="0" i="0" strike="noStrike" cap="none" baseline="0" dirty="0" err="1">
                <a:solidFill>
                  <a:srgbClr val="000000"/>
                </a:solidFill>
                <a:effectLst/>
                <a:latin typeface="Segoe UI"/>
                <a:ea typeface="Segoe UI"/>
                <a:cs typeface="Segoe UI"/>
              </a:rPr>
              <a:t>ScaledObject</a:t>
            </a:r>
            <a:r>
              <a:rPr lang="es-ES" sz="1800" b="0" i="0" strike="noStrike" cap="none" baseline="0" dirty="0">
                <a:solidFill>
                  <a:srgbClr val="000000"/>
                </a:solidFill>
                <a:effectLst/>
                <a:latin typeface="Segoe UI"/>
                <a:ea typeface="Segoe UI"/>
                <a:cs typeface="Segoe UI"/>
              </a:rPr>
              <a:t> al tipo de regla Container Apps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286"/>
              </a:spcAft>
              <a:buChar char="•"/>
              <a:defRPr/>
            </a:pPr>
            <a:r>
              <a:rPr lang="es-ES" sz="1800" b="0" i="0" strike="noStrike" cap="none" baseline="0" dirty="0">
                <a:solidFill>
                  <a:srgbClr val="000000"/>
                </a:solidFill>
                <a:effectLst/>
                <a:latin typeface="Segoe UI"/>
                <a:ea typeface="Segoe UI"/>
                <a:cs typeface="Segoe UI"/>
              </a:rPr>
              <a:t>Extracción de metadatos y parámetros de autenticación</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286"/>
              </a:spcAft>
              <a:buChar char="•"/>
              <a:defRPr/>
            </a:pPr>
            <a:r>
              <a:rPr lang="es-ES" sz="1800" b="0" i="0" strike="noStrike" cap="none" baseline="0" dirty="0">
                <a:solidFill>
                  <a:srgbClr val="000000"/>
                </a:solidFill>
                <a:effectLst/>
                <a:latin typeface="Segoe UI"/>
                <a:ea typeface="Segoe UI"/>
                <a:cs typeface="Segoe UI"/>
              </a:rPr>
              <a:t>Reemplazo de </a:t>
            </a:r>
            <a:r>
              <a:rPr lang="es-ES" sz="1800" b="0" i="0" strike="noStrike" cap="none" baseline="0" dirty="0" err="1">
                <a:solidFill>
                  <a:srgbClr val="000000"/>
                </a:solidFill>
                <a:effectLst/>
                <a:latin typeface="Segoe UI"/>
                <a:ea typeface="Segoe UI"/>
                <a:cs typeface="Segoe UI"/>
              </a:rPr>
              <a:t>TriggerAuthentication</a:t>
            </a:r>
            <a:r>
              <a:rPr lang="es-ES" sz="1800" b="0" i="0" strike="noStrike" cap="none" baseline="0" dirty="0">
                <a:solidFill>
                  <a:srgbClr val="000000"/>
                </a:solidFill>
                <a:effectLst/>
                <a:latin typeface="Segoe UI"/>
                <a:ea typeface="Segoe UI"/>
                <a:cs typeface="Segoe UI"/>
              </a:rPr>
              <a:t> por secretos o identidad</a:t>
            </a:r>
            <a:endParaRPr sz="18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154885" name="Title 1"/>
          <p:cNvSpPr>
            <a:spLocks noGrp="1"/>
          </p:cNvSpPr>
          <p:nvPr>
            <p:ph type="title"/>
          </p:nvPr>
        </p:nvSpPr>
        <p:spPr bwMode="auto">
          <a:xfrm>
            <a:off x="457200" y="411480"/>
            <a:ext cx="9966960" cy="515442"/>
          </a:xfrm>
        </p:spPr>
        <p:txBody>
          <a:bodyPr/>
          <a:lstStyle/>
          <a:p>
            <a:pPr>
              <a:defRPr/>
            </a:pPr>
            <a:r>
              <a:rPr lang="es-ES" sz="3200" b="0" i="0" strike="noStrike" cap="none" baseline="0" dirty="0">
                <a:solidFill>
                  <a:srgbClr val="000000"/>
                </a:solidFill>
                <a:effectLst/>
                <a:latin typeface="Segoe UI Semibold"/>
                <a:ea typeface="Segoe UI Semibold"/>
                <a:cs typeface="Segoe UI Semibold"/>
              </a:rPr>
              <a:t>Selección de recursos de proceso para el rendimiento y el coste</a:t>
            </a:r>
            <a:endParaRPr lang="en-US" dirty="0"/>
          </a:p>
        </p:txBody>
      </p:sp>
      <p:sp>
        <p:nvSpPr>
          <p:cNvPr id="133028953" name="TextBox 2"/>
          <p:cNvSpPr txBox="1"/>
          <p:nvPr/>
        </p:nvSpPr>
        <p:spPr bwMode="auto">
          <a:xfrm>
            <a:off x="457199" y="1226083"/>
            <a:ext cx="4853942" cy="486991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b="0" i="0" strike="noStrike" cap="none" baseline="0" dirty="0">
                <a:solidFill>
                  <a:srgbClr val="000000"/>
                </a:solidFill>
                <a:effectLst/>
                <a:latin typeface="Segoe UI Semibold"/>
                <a:ea typeface="Segoe UI Semibold"/>
                <a:cs typeface="Segoe UI Semibold"/>
              </a:rPr>
              <a:t>Asignación de recursos</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CPU en núcleos y memoria en GiB por contenedor</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La memoria debe ser al menos 2 veces superior al valor de CPU</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Si se supera el límite de memoria, se reinicia la réplica</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Superación de las limitaciones del límite de CPU (sin reinicio)</a:t>
            </a:r>
            <a:endParaRPr lang="en-US" sz="1600" b="0" i="0" u="none" strike="noStrike" cap="none" spc="0" dirty="0">
              <a:solidFill>
                <a:schemeClr val="tx1"/>
              </a:solidFill>
              <a:latin typeface="Segoe UI"/>
              <a:cs typeface="Segoe UI"/>
            </a:endParaRPr>
          </a:p>
          <a:p>
            <a:pPr>
              <a:spcBef>
                <a:spcPts val="719"/>
              </a:spcBef>
              <a:spcAft>
                <a:spcPts val="359"/>
              </a:spcAft>
              <a:defRPr/>
            </a:pPr>
            <a:r>
              <a:rPr lang="es-ES" sz="1600" b="0" i="0" strike="noStrike" cap="none" baseline="0" dirty="0">
                <a:solidFill>
                  <a:srgbClr val="000000"/>
                </a:solidFill>
                <a:effectLst/>
                <a:latin typeface="Segoe UI Semibold"/>
                <a:ea typeface="Segoe UI Semibold"/>
                <a:cs typeface="Segoe UI Semibold"/>
              </a:rPr>
              <a:t>Palancas de coste</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El escalado a cero elimina cargos de proceso inactivos</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Tamaño correcto en función del uso real, no de las estimaciones</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Capacidad total = recursos por réplica x réplicas máximas</a:t>
            </a:r>
            <a:endParaRPr lang="en-US"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600" b="0" i="0" strike="noStrike" cap="none" baseline="0" dirty="0">
                <a:solidFill>
                  <a:srgbClr val="000000"/>
                </a:solidFill>
                <a:effectLst/>
                <a:latin typeface="Segoe UI"/>
                <a:ea typeface="Segoe UI"/>
                <a:cs typeface="Segoe UI"/>
              </a:rPr>
              <a:t>Las réplicas más pequeñas escalan con más precisión, pero con más frecuencia</a:t>
            </a:r>
            <a:endParaRPr lang="en-US" sz="1600" b="0" i="0" u="none" strike="noStrike" cap="none" spc="0" dirty="0">
              <a:solidFill>
                <a:schemeClr val="tx1"/>
              </a:solidFill>
              <a:latin typeface="Segoe UI"/>
              <a:cs typeface="Segoe UI"/>
            </a:endParaRPr>
          </a:p>
        </p:txBody>
      </p:sp>
      <p:pic>
        <p:nvPicPr>
          <p:cNvPr id="1098967871" name="Picture 1" descr="Side-by-side comparison of Consumption plan versus Dedicated workload profiles, showing trade-offs in billing, scale-to-zero support, resource limits, and infrastructure, plus key guidance on default sizing and memory constraint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291071" y="1197864"/>
            <a:ext cx="4626863" cy="5148071"/>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653885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Elección y aplicación de modos de revisión</a:t>
            </a:r>
            <a:endParaRPr lang="en-US"/>
          </a:p>
        </p:txBody>
      </p:sp>
      <p:pic>
        <p:nvPicPr>
          <p:cNvPr id="522526611" name="Picture 1" descr="Flow diagram showing single revision mode with automatic cutover from v1 to v2, and multiple revision mode with 80/20 traffic split between stable and canary revisions, plus blue and green revision label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457200" y="1271015"/>
            <a:ext cx="3886199" cy="4663440"/>
          </a:xfrm>
          <a:prstGeom prst="rect">
            <a:avLst/>
          </a:prstGeom>
          <a:noFill/>
          <a:ln w="9525">
            <a:noFill/>
          </a:ln>
        </p:spPr>
      </p:pic>
      <p:sp>
        <p:nvSpPr>
          <p:cNvPr id="896694709" name="Content Placeholder 3"/>
          <p:cNvSpPr>
            <a:spLocks noGrp="1"/>
          </p:cNvSpPr>
          <p:nvPr/>
        </p:nvSpPr>
        <p:spPr bwMode="auto">
          <a:xfrm>
            <a:off x="5202936" y="1225296"/>
            <a:ext cx="6592824" cy="5381244"/>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Modo de revisión única (valor predeterminado)</a:t>
            </a:r>
            <a:endParaRPr lang="en-US" sz="1600" b="0" i="0" u="none" strike="noStrike" cap="none" spc="0" dirty="0">
              <a:solidFill>
                <a:schemeClr val="tx1"/>
              </a:solidFill>
              <a:latin typeface="Segoe UI"/>
              <a:cs typeface="Segoe UI"/>
            </a:endParaRPr>
          </a:p>
          <a:p>
            <a:pPr marL="228599" marR="0" indent="-228599">
              <a:spcAft>
                <a:spcPts val="143"/>
              </a:spcAft>
              <a:defRPr/>
            </a:pPr>
            <a:r>
              <a:rPr lang="es-ES" sz="1600" b="0" i="0" strike="noStrike" cap="none" baseline="0" dirty="0">
                <a:solidFill>
                  <a:srgbClr val="000000"/>
                </a:solidFill>
                <a:effectLst/>
                <a:latin typeface="Segoe UI"/>
                <a:ea typeface="Segoe UI"/>
                <a:cs typeface="Segoe UI"/>
              </a:rPr>
              <a:t>Una revisión activa cada vez</a:t>
            </a:r>
            <a:endParaRPr lang="en-US" sz="1600" b="0" i="0" u="none" strike="noStrike" cap="none" spc="0" dirty="0">
              <a:solidFill>
                <a:schemeClr val="tx1"/>
              </a:solidFill>
              <a:latin typeface="Segoe UI"/>
              <a:cs typeface="Segoe UI"/>
            </a:endParaRPr>
          </a:p>
          <a:p>
            <a:pPr marL="228599" marR="0" indent="-228599">
              <a:spcAft>
                <a:spcPts val="143"/>
              </a:spcAft>
              <a:defRPr/>
            </a:pPr>
            <a:r>
              <a:rPr lang="es-ES" sz="1600" b="0" i="0" strike="noStrike" cap="none" baseline="0" dirty="0">
                <a:solidFill>
                  <a:srgbClr val="000000"/>
                </a:solidFill>
                <a:effectLst/>
                <a:latin typeface="Segoe UI"/>
                <a:ea typeface="Segoe UI"/>
                <a:cs typeface="Segoe UI"/>
              </a:rPr>
              <a:t>La implementación sin tiempo de inactividad es automática</a:t>
            </a:r>
            <a:endParaRPr lang="en-US" sz="1600" b="0" i="0" u="none" strike="noStrike" cap="none" spc="0" dirty="0">
              <a:solidFill>
                <a:schemeClr val="tx1"/>
              </a:solidFill>
              <a:latin typeface="Segoe UI"/>
              <a:cs typeface="Segoe UI"/>
            </a:endParaRPr>
          </a:p>
          <a:p>
            <a:pPr marL="228599" marR="0" indent="-228599">
              <a:spcAft>
                <a:spcPts val="143"/>
              </a:spcAft>
              <a:defRPr/>
            </a:pPr>
            <a:r>
              <a:rPr lang="es-ES" sz="1600" b="0" i="0" strike="noStrike" cap="none" baseline="0" dirty="0">
                <a:solidFill>
                  <a:srgbClr val="000000"/>
                </a:solidFill>
                <a:effectLst/>
                <a:latin typeface="Segoe UI"/>
                <a:ea typeface="Segoe UI"/>
                <a:cs typeface="Segoe UI"/>
              </a:rPr>
              <a:t>La nueva revisión reemplaza a la antigua después de superar las comprobaciones de estado</a:t>
            </a:r>
            <a:endParaRPr lang="en-US" sz="1600" b="0" i="0" u="none" strike="noStrike" cap="none" spc="0" dirty="0">
              <a:solidFill>
                <a:schemeClr val="tx1"/>
              </a:solidFill>
              <a:latin typeface="Segoe UI"/>
              <a:cs typeface="Segoe UI"/>
            </a:endParaRPr>
          </a:p>
          <a:p>
            <a:pPr marL="228599" marR="0" indent="-228599">
              <a:spcAft>
                <a:spcPts val="143"/>
              </a:spcAft>
              <a:defRPr/>
            </a:pPr>
            <a:r>
              <a:rPr lang="es-ES" sz="1600" b="0" i="0" strike="noStrike" cap="none" baseline="0" dirty="0">
                <a:solidFill>
                  <a:srgbClr val="000000"/>
                </a:solidFill>
                <a:effectLst/>
                <a:latin typeface="Segoe UI"/>
                <a:ea typeface="Segoe UI"/>
                <a:cs typeface="Segoe UI"/>
              </a:rPr>
              <a:t>Sin funcionalidad de división de tráfico</a:t>
            </a:r>
            <a:endParaRPr lang="en-US" sz="1600" b="0" i="0" u="none" strike="noStrike" cap="none" spc="0" dirty="0">
              <a:solidFill>
                <a:schemeClr val="tx1"/>
              </a:solidFill>
              <a:latin typeface="Segoe UI"/>
              <a:cs typeface="Segoe UI"/>
            </a:endParaRPr>
          </a:p>
          <a:p>
            <a:pPr marL="0" indent="0">
              <a:spcBef>
                <a:spcPts val="719"/>
              </a:spcBef>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Modo de revisión múltiple</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Varias revisiones activas simultáneamente</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División del tráfico por ponderaciones porcentuales</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Versiones de valor controlado, implementaciones azul-verde y pruebas A/B</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Las revisiones antiguas deben desactivarse manualmente</a:t>
            </a:r>
            <a:endParaRPr lang="en-US" sz="16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1600" b="0" i="0" strike="noStrike" cap="none" baseline="0" dirty="0">
                <a:solidFill>
                  <a:srgbClr val="000000"/>
                </a:solidFill>
                <a:effectLst/>
                <a:latin typeface="Segoe UI Semibold"/>
                <a:ea typeface="Segoe UI Semibold"/>
                <a:cs typeface="Segoe UI Semibold"/>
              </a:rPr>
              <a:t>Etiquetas de revisión</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Puntos de conexión con nombre para el acceso directo a revisiones</a:t>
            </a:r>
            <a:endParaRPr lang="en-US" sz="1600" b="0" i="0" u="none" strike="noStrike" cap="none" spc="0" dirty="0">
              <a:solidFill>
                <a:schemeClr val="tx1"/>
              </a:solidFill>
              <a:latin typeface="Segoe UI"/>
              <a:cs typeface="Segoe UI"/>
            </a:endParaRPr>
          </a:p>
          <a:p>
            <a:pPr marL="228599" marR="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Prueba de revisiones específicas sin afectar al tráfico de producción</a:t>
            </a:r>
            <a:endParaRPr lang="en-US" sz="1600" b="0" i="0" u="none" strike="noStrike" cap="none" spc="0" dirty="0">
              <a:solidFill>
                <a:schemeClr val="tx1"/>
              </a:solidFill>
              <a:latin typeface="Segoe UI"/>
              <a:cs typeface="Segoe UI"/>
            </a:endParaRPr>
          </a:p>
          <a:p>
            <a:pPr marL="228599" marR="0" lvl="0" indent="-228599" algn="l">
              <a:lnSpc>
                <a:spcPct val="100000"/>
              </a:lnSpc>
              <a:spcBef>
                <a:spcPct val="0"/>
              </a:spcBef>
              <a:spcAft>
                <a:spcPts val="215"/>
              </a:spcAft>
              <a:buChar char="•"/>
              <a:defRPr/>
            </a:pPr>
            <a:r>
              <a:rPr lang="es-ES" sz="1600" b="0" i="0" strike="noStrike" cap="none" baseline="0" dirty="0">
                <a:solidFill>
                  <a:srgbClr val="000000"/>
                </a:solidFill>
                <a:effectLst/>
                <a:latin typeface="Segoe UI"/>
                <a:ea typeface="Segoe UI"/>
                <a:cs typeface="Segoe UI"/>
              </a:rPr>
              <a:t>Habilitación de la conmutación azul-verde a través de movimientos de etiqueta</a:t>
            </a:r>
            <a:endParaRPr lang="en-US" sz="1600" b="0" i="0" u="none" strike="noStrike" cap="none" spc="0" dirty="0">
              <a:solidFill>
                <a:schemeClr val="tx1"/>
              </a:solidFill>
              <a:latin typeface="Segoe UI"/>
              <a:cs typeface="Segoe UI"/>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4328402"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3626902"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1796938845" name="Text Placeholder 4"/>
          <p:cNvSpPr>
            <a:spLocks noGrp="1"/>
          </p:cNvSpPr>
          <p:nvPr>
            <p:ph type="body" sz="quarter" idx="16"/>
          </p:nvPr>
        </p:nvSpPr>
        <p:spPr bwMode="auto">
          <a:xfrm>
            <a:off x="584199" y="1594151"/>
            <a:ext cx="5655650"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Configurar el escalado automático con el uso de desencadenadores KEDA</a:t>
            </a:r>
            <a:endParaRPr lang="en-US"/>
          </a:p>
          <a:p>
            <a:pPr>
              <a:defRPr/>
            </a:pPr>
            <a:endParaRPr lang="en-US"/>
          </a:p>
        </p:txBody>
      </p:sp>
      <p:sp>
        <p:nvSpPr>
          <p:cNvPr id="1940279012" name="Text Placeholder 61"/>
          <p:cNvSpPr>
            <a:spLocks noGrp="1"/>
          </p:cNvSpPr>
          <p:nvPr>
            <p:ph type="body" sz="quarter" idx="15"/>
          </p:nvPr>
        </p:nvSpPr>
        <p:spPr bwMode="auto">
          <a:xfrm>
            <a:off x="579438" y="2501489"/>
            <a:ext cx="5655244" cy="2194560"/>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implementarás una API de agente ficticio simple y configurarás el escalado automático basándote en solicitudes simultáneas HTTP. </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4" history="0"/>
              </a:rPr>
              <a:t>https://go.microsoft.com/fwlink/?linkid=2348401</a:t>
            </a:r>
            <a:endParaRPr dirty="0"/>
          </a:p>
          <a:p>
            <a:pPr marL="0" indent="0">
              <a:buNone/>
              <a:defRPr/>
            </a:pPr>
            <a:endParaRPr lang="en-US" dirty="0"/>
          </a:p>
        </p:txBody>
      </p:sp>
      <p:sp>
        <p:nvSpPr>
          <p:cNvPr id="1641001970"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52193994"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6332971"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3</a:t>
            </a:r>
            <a:endParaRPr/>
          </a:p>
        </p:txBody>
      </p:sp>
      <p:sp>
        <p:nvSpPr>
          <p:cNvPr id="101435645"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457982290" name="Text Placeholder 43"/>
          <p:cNvSpPr txBox="1"/>
          <p:nvPr/>
        </p:nvSpPr>
        <p:spPr bwMode="auto">
          <a:xfrm>
            <a:off x="1641205" y="1783917"/>
            <a:ext cx="9624927" cy="164508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 desarrollador quiere configurar una aplicación contenedora que procese mensajes de una cola de Azure Service Bus y escale a cero réplicas cuando no haya mensajes presentes. ¿Qué configuración de escalado cumple este requisito?</a:t>
            </a:r>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Establecer </a:t>
            </a:r>
            <a:r>
              <a:rPr lang="es-ES" sz="1600" b="0" i="0" strike="noStrike" cap="none" baseline="0">
                <a:solidFill>
                  <a:srgbClr val="000000"/>
                </a:solidFill>
                <a:effectLst/>
                <a:latin typeface="Consolas"/>
                <a:ea typeface="Consolas"/>
                <a:cs typeface="Segoe UI"/>
              </a:rPr>
              <a:t>--min-replicas 0</a:t>
            </a:r>
            <a:r>
              <a:rPr lang="es-ES" sz="1600" b="0" i="0" strike="noStrike" cap="none" baseline="0">
                <a:solidFill>
                  <a:srgbClr val="000000"/>
                </a:solidFill>
                <a:effectLst/>
                <a:latin typeface="Segoe UI"/>
                <a:ea typeface="Segoe UI"/>
                <a:cs typeface="Segoe UI"/>
              </a:rPr>
              <a:t> con una regla de escalado HTTP</a:t>
            </a:r>
            <a:endParaRPr lang="en-US"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Establecer </a:t>
            </a:r>
            <a:r>
              <a:rPr lang="es-ES" sz="1600" b="0" i="0" strike="noStrike" cap="none" baseline="0">
                <a:solidFill>
                  <a:srgbClr val="000000"/>
                </a:solidFill>
                <a:effectLst/>
                <a:latin typeface="Consolas"/>
                <a:ea typeface="Consolas"/>
                <a:cs typeface="Consolas"/>
              </a:rPr>
              <a:t>--min-replicas 0</a:t>
            </a:r>
            <a:r>
              <a:rPr lang="es-ES" sz="1600" b="0" i="0" strike="noStrike" cap="none" baseline="0">
                <a:solidFill>
                  <a:srgbClr val="000000"/>
                </a:solidFill>
                <a:effectLst/>
                <a:latin typeface="Segoe UI"/>
                <a:ea typeface="Segoe UI"/>
                <a:cs typeface="Segoe UI"/>
              </a:rPr>
              <a:t> con una regla de escalado de CPU</a:t>
            </a:r>
            <a:endParaRPr lang="en-US"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Establecer </a:t>
            </a:r>
            <a:r>
              <a:rPr lang="es-ES" sz="1600" b="0" i="0" strike="noStrike" cap="none" baseline="0">
                <a:solidFill>
                  <a:srgbClr val="000000"/>
                </a:solidFill>
                <a:effectLst/>
                <a:latin typeface="Consolas"/>
                <a:ea typeface="Consolas"/>
                <a:cs typeface="Consolas"/>
              </a:rPr>
              <a:t>--min-replicas 0</a:t>
            </a:r>
            <a:r>
              <a:rPr lang="es-ES" sz="1600" b="0" i="0" strike="noStrike" cap="none" baseline="0">
                <a:solidFill>
                  <a:srgbClr val="000000"/>
                </a:solidFill>
                <a:effectLst/>
                <a:latin typeface="Segoe UI"/>
                <a:ea typeface="Segoe UI"/>
                <a:cs typeface="Segoe UI"/>
              </a:rPr>
              <a:t> con una regla de escalado de azure-servicebus</a:t>
            </a:r>
            <a:endParaRPr sz="1600"/>
          </a:p>
        </p:txBody>
      </p:sp>
      <p:sp>
        <p:nvSpPr>
          <p:cNvPr id="82463301"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1831530339" name="Text Placeholder 43"/>
          <p:cNvSpPr txBox="1"/>
          <p:nvPr/>
        </p:nvSpPr>
        <p:spPr bwMode="auto">
          <a:xfrm>
            <a:off x="1641204" y="3860982"/>
            <a:ext cx="9217197" cy="2015093"/>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 equipo de desarrollo quiere asegurarse de que su aplicación de contenedor tiene cinco réplicas listas antes del pico de tráfico a las 8:00 AM de la mañana, a la vez que permite escalar a cero durante la noche. ¿Qué enfoque de escalado cumple este requisito?</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Configurar una regla de escalado cron combinada con una regla de escalado HTTP</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Establecer réplicas mínimas en cinco con una regla de escalado HTTP</a:t>
            </a:r>
            <a:endParaRPr lang="en-US" sz="1600" b="0" i="0" u="none" strike="noStrike" cap="none" spc="0">
              <a:solidFill>
                <a:schemeClr val="tx1"/>
              </a:solidFill>
              <a:latin typeface="Segoe UI"/>
              <a:cs typeface="Segoe UI"/>
            </a:endParaRPr>
          </a:p>
          <a:p>
            <a:pPr marL="228600" marR="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Configurar una regla de escalado de CPU con un umbral de uso bajo</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436776351"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1462443080" name="Text Placeholder 1"/>
          <p:cNvSpPr>
            <a:spLocks noGrp="1"/>
          </p:cNvSpPr>
          <p:nvPr>
            <p:ph type="body" sz="quarter" idx="4294967295"/>
          </p:nvPr>
        </p:nvSpPr>
        <p:spPr bwMode="auto">
          <a:xfrm>
            <a:off x="4798236" y="2051473"/>
            <a:ext cx="6714810" cy="2926440"/>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an Azure Container Apps (ACA) expert, please create three multiple-choice questions that assess knowledge of scaling containers in ACA.</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1342902038"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6983519"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3</a:t>
            </a:r>
            <a:endParaRPr sz="2800"/>
          </a:p>
        </p:txBody>
      </p:sp>
      <p:sp>
        <p:nvSpPr>
          <p:cNvPr id="520272393" name="Rounded Rectangle 3_1">
            <a:extLst>
              <a:ext uri="{C183D7F6-B498-43B3-948B-1728B52AA6E4}">
                <adec:decorative xmlns:adec="http://schemas.microsoft.com/office/drawing/2017/decorative" val="1"/>
              </a:ext>
            </a:extLst>
          </p:cNvPr>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901984804" name="TextBox 2"/>
          <p:cNvSpPr txBox="1"/>
          <p:nvPr/>
        </p:nvSpPr>
        <p:spPr bwMode="auto">
          <a:xfrm>
            <a:off x="889962" y="1435230"/>
            <a:ext cx="9828024" cy="3543908"/>
          </a:xfrm>
          <a:prstGeom prst="rect">
            <a:avLst/>
          </a:prstGeom>
          <a:noFill/>
        </p:spPr>
        <p:txBody>
          <a:bodyPr wrap="square" lIns="91440" tIns="45720" rIns="91440" bIns="45720" anchor="t">
            <a:noAutofit/>
          </a:bodyPr>
          <a:lstStyle/>
          <a:p>
            <a:pPr marL="228600" marR="0" lvl="0" indent="-228600">
              <a:lnSpc>
                <a:spcPct val="100000"/>
              </a:lnSpc>
              <a:spcBef>
                <a:spcPct val="0"/>
              </a:spcBef>
              <a:spcAft>
                <a:spcPts val="71"/>
              </a:spcAft>
              <a:buFont typeface="Arial"/>
              <a:buChar char="•"/>
              <a:defRPr/>
            </a:pPr>
            <a:r>
              <a:rPr lang="es-ES" sz="1800" b="1" i="0" strike="noStrike" cap="none" baseline="0">
                <a:solidFill>
                  <a:srgbClr val="000000"/>
                </a:solidFill>
                <a:effectLst/>
                <a:latin typeface="Segoe UI"/>
                <a:ea typeface="Segoe UI"/>
                <a:cs typeface="Segoe UI"/>
              </a:rPr>
              <a:t>Tipos de índice:</a:t>
            </a:r>
            <a:r>
              <a:rPr lang="es-ES" sz="1800" b="0" i="0" strike="noStrike" cap="none" baseline="0">
                <a:solidFill>
                  <a:srgbClr val="000000"/>
                </a:solidFill>
                <a:effectLst/>
                <a:latin typeface="Segoe UI"/>
                <a:ea typeface="Segoe UI"/>
                <a:cs typeface="Segoe UI"/>
              </a:rPr>
              <a:t> intervalo para filtros, compuesto para la ordenación de varias propiedades, vector de similitud y espacial para consultas geográficas</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Los </a:t>
            </a:r>
            <a:r>
              <a:rPr lang="es-ES" sz="1800" b="1" i="0" strike="noStrike" cap="none" baseline="0">
                <a:solidFill>
                  <a:srgbClr val="000000"/>
                </a:solidFill>
                <a:effectLst/>
                <a:latin typeface="Segoe UI"/>
                <a:ea typeface="Segoe UI"/>
                <a:cs typeface="Segoe UI"/>
              </a:rPr>
              <a:t>índices compuestos</a:t>
            </a:r>
            <a:r>
              <a:rPr lang="es-ES" sz="1800" b="0" i="0" strike="noStrike" cap="none" baseline="0">
                <a:solidFill>
                  <a:srgbClr val="000000"/>
                </a:solidFill>
                <a:effectLst/>
                <a:latin typeface="Segoe UI"/>
                <a:ea typeface="Segoe UI"/>
                <a:cs typeface="Segoe UI"/>
              </a:rPr>
              <a:t> deben coincidir con la secuencia de propiedades exacta y la dirección de ordenación en las cláusulas ORDER BY</a:t>
            </a:r>
            <a:endParaRPr sz="1800"/>
          </a:p>
          <a:p>
            <a:pPr marL="228600" marR="0" lvl="0" indent="-228600">
              <a:lnSpc>
                <a:spcPct val="100000"/>
              </a:lnSpc>
              <a:spcBef>
                <a:spcPct val="0"/>
              </a:spcBef>
              <a:spcAft>
                <a:spcPts val="71"/>
              </a:spcAft>
              <a:buFont typeface="Arial"/>
              <a:buChar char="•"/>
              <a:defRPr/>
            </a:pPr>
            <a:r>
              <a:rPr lang="es-ES" sz="1800" b="1" i="0" strike="noStrike" cap="none" baseline="0">
                <a:solidFill>
                  <a:srgbClr val="000000"/>
                </a:solidFill>
                <a:effectLst/>
                <a:latin typeface="Segoe UI"/>
                <a:ea typeface="Segoe UI"/>
                <a:cs typeface="Segoe UI"/>
              </a:rPr>
              <a:t>Selección de índices vectoriales:</a:t>
            </a:r>
            <a:r>
              <a:rPr lang="es-ES" sz="1800" b="0" i="0" strike="noStrike" cap="none" baseline="0">
                <a:solidFill>
                  <a:srgbClr val="000000"/>
                </a:solidFill>
                <a:effectLst/>
                <a:latin typeface="Segoe UI"/>
                <a:ea typeface="Segoe UI"/>
                <a:cs typeface="Segoe UI"/>
              </a:rPr>
              <a:t> flat para conjuntos de datos pequeños, quantizedFlat para producción mediana y diskANN para producción a gran escala</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 </a:t>
            </a:r>
            <a:r>
              <a:rPr lang="es-ES" sz="1800" b="1" i="0" strike="noStrike" cap="none" baseline="0">
                <a:solidFill>
                  <a:srgbClr val="000000"/>
                </a:solidFill>
                <a:effectLst/>
                <a:latin typeface="Segoe UI"/>
                <a:ea typeface="Segoe UI"/>
                <a:cs typeface="Segoe UI"/>
              </a:rPr>
              <a:t>indexación selectiva</a:t>
            </a:r>
            <a:r>
              <a:rPr lang="es-ES" sz="1800" b="0" i="0" strike="noStrike" cap="none" baseline="0">
                <a:solidFill>
                  <a:srgbClr val="000000"/>
                </a:solidFill>
                <a:effectLst/>
                <a:latin typeface="Segoe UI"/>
                <a:ea typeface="Segoe UI"/>
                <a:cs typeface="Segoe UI"/>
              </a:rPr>
              <a:t> excluye propiedades sin usar. Excluye siempre matrices de inserción de los índices de intervalo</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Las </a:t>
            </a:r>
            <a:r>
              <a:rPr lang="es-ES" sz="1800" b="1" i="0" strike="noStrike" cap="none" baseline="0">
                <a:solidFill>
                  <a:srgbClr val="000000"/>
                </a:solidFill>
                <a:effectLst/>
                <a:latin typeface="Segoe UI"/>
                <a:ea typeface="Segoe UI"/>
                <a:cs typeface="Segoe UI"/>
              </a:rPr>
              <a:t>métricas de consulta</a:t>
            </a:r>
            <a:r>
              <a:rPr lang="es-ES" sz="1800" b="0" i="0" strike="noStrike" cap="none" baseline="0">
                <a:solidFill>
                  <a:srgbClr val="000000"/>
                </a:solidFill>
                <a:effectLst/>
                <a:latin typeface="Segoe UI"/>
                <a:ea typeface="Segoe UI"/>
                <a:cs typeface="Segoe UI"/>
              </a:rPr>
              <a:t> muestran índices que faltan a través de un uso bajo y de relaciones elevadas entre documentos recuperados y documentos de salida</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 </a:t>
            </a:r>
            <a:r>
              <a:rPr lang="es-ES" sz="1800" b="1" i="0" strike="noStrike" cap="none" baseline="0">
                <a:solidFill>
                  <a:srgbClr val="000000"/>
                </a:solidFill>
                <a:effectLst/>
                <a:latin typeface="Segoe UI"/>
                <a:ea typeface="Segoe UI"/>
                <a:cs typeface="Segoe UI"/>
              </a:rPr>
              <a:t>coherencia de sesión</a:t>
            </a:r>
            <a:r>
              <a:rPr lang="es-ES" sz="1800" b="0" i="0" strike="noStrike" cap="none" baseline="0">
                <a:solidFill>
                  <a:srgbClr val="000000"/>
                </a:solidFill>
                <a:effectLst/>
                <a:latin typeface="Segoe UI"/>
                <a:ea typeface="Segoe UI"/>
                <a:cs typeface="Segoe UI"/>
              </a:rPr>
              <a:t> proporciona operaciones de lectura y escritura para operaciones orientadas al usuario a 1 vez el coste de RU.</a:t>
            </a:r>
            <a:endParaRPr sz="1800"/>
          </a:p>
          <a:p>
            <a:pPr>
              <a:defRPr/>
            </a:pPr>
            <a:endParaRPr sz="1600"/>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1369134" name="Title 4"/>
          <p:cNvSpPr>
            <a:spLocks noGrp="1"/>
          </p:cNvSpPr>
          <p:nvPr>
            <p:ph type="title"/>
          </p:nvPr>
        </p:nvSpPr>
        <p:spPr bwMode="auto"/>
        <p:txBody>
          <a:bodyPr/>
          <a:lstStyle/>
          <a:p>
            <a:pPr>
              <a:defRPr/>
            </a:pPr>
            <a:r>
              <a:rPr lang="es-ES" sz="4100" b="0" i="0" strike="noStrike" cap="none" baseline="0">
                <a:solidFill>
                  <a:srgbClr val="000000"/>
                </a:solidFill>
                <a:effectLst/>
                <a:latin typeface="Segoe UI"/>
                <a:ea typeface="Segoe UI"/>
                <a:cs typeface="Segoe UI"/>
              </a:rPr>
              <a:t>Fin de la presentación</a:t>
            </a:r>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TotalTime>
  <Words>8023</Words>
  <Application>Microsoft Office PowerPoint</Application>
  <PresentationFormat>Panorámica</PresentationFormat>
  <Paragraphs>618</Paragraphs>
  <Slides>39</Slides>
  <Notes>39</Notes>
  <HiddenSlides>3</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39</vt:i4>
      </vt:variant>
    </vt:vector>
  </HeadingPairs>
  <TitlesOfParts>
    <vt:vector size="49" baseType="lpstr">
      <vt:lpstr>Aptos</vt:lpstr>
      <vt:lpstr>Arial</vt:lpstr>
      <vt:lpstr>Consolas</vt:lpstr>
      <vt:lpstr>Courier</vt:lpstr>
      <vt:lpstr>Segoe UI</vt:lpstr>
      <vt:lpstr>Segoe UI Semibold</vt:lpstr>
      <vt:lpstr>Times New Roman</vt:lpstr>
      <vt:lpstr>Wingdings</vt:lpstr>
      <vt:lpstr>Office Theme</vt:lpstr>
      <vt:lpstr>LIGHT MODE</vt:lpstr>
      <vt:lpstr>AI-200T00A Implementación y administración de aplicaciones en Azure Container Apps</vt:lpstr>
      <vt:lpstr>Agenda</vt:lpstr>
      <vt:lpstr>Módulo 1: Implementación de contenedores en Azure Container Apps</vt:lpstr>
      <vt:lpstr>Objetivos de aprendizaje</vt:lpstr>
      <vt:lpstr>Introducción</vt:lpstr>
      <vt:lpstr>Exploración de entornos de Container Apps</vt:lpstr>
      <vt:lpstr>Implementación de una aplicación contenedora con el uso de al CLI de Azure y YAML</vt:lpstr>
      <vt:lpstr>Establecimiento de la configuración en tiempo de ejecución con variables de entorno y secretos</vt:lpstr>
      <vt:lpstr>Configurar la autenticación de extracción de imágenes para registros privados.</vt:lpstr>
      <vt:lpstr>Comprobación de las implementaciones con registros y estado</vt:lpstr>
      <vt:lpstr>Ejercicio</vt:lpstr>
      <vt:lpstr>Prueba de conocimientos del módulo 1</vt:lpstr>
      <vt:lpstr>Interactive Knowledge check </vt:lpstr>
      <vt:lpstr>Resumen del módulo 1</vt:lpstr>
      <vt:lpstr>Módulo 1: Administración de contenedores en Azure Container Apps </vt:lpstr>
      <vt:lpstr>Objetivos de aprendizaje</vt:lpstr>
      <vt:lpstr>Introducción</vt:lpstr>
      <vt:lpstr>Actualización de imágenes y administración de revisiones de forma segura</vt:lpstr>
      <vt:lpstr>Administración del ciclo de vida de la aplicación contenedora</vt:lpstr>
      <vt:lpstr>Supervisión de registros y solución de problemas </vt:lpstr>
      <vt:lpstr>Configuración de sondeos de estado y errores de solución de problemas</vt:lpstr>
      <vt:lpstr>Optimización de recursos de contenedor y escalado</vt:lpstr>
      <vt:lpstr>Ejercicio</vt:lpstr>
      <vt:lpstr>Prueba de conocimientos del módulo 2</vt:lpstr>
      <vt:lpstr>Interactive Knowledge check </vt:lpstr>
      <vt:lpstr>Resumen del módulo 2</vt:lpstr>
      <vt:lpstr>Módulo 3: Escalado de contenedores en Azure Container Apps </vt:lpstr>
      <vt:lpstr>Objetivos de aprendizaje</vt:lpstr>
      <vt:lpstr>Introducción</vt:lpstr>
      <vt:lpstr>Configuración de reglas de escala</vt:lpstr>
      <vt:lpstr>Implementación del escalado controlado por eventos con KEDA</vt:lpstr>
      <vt:lpstr>Aplicación de escaladores KEDA para cargas de trabajo personalizadas</vt:lpstr>
      <vt:lpstr>Selección de recursos de proceso para el rendimiento y el coste</vt:lpstr>
      <vt:lpstr>Elección y aplicación de modos de revisión</vt:lpstr>
      <vt:lpstr>Ejercicio</vt:lpstr>
      <vt:lpstr>Prueba de conocimientos del módulo 3</vt:lpstr>
      <vt:lpstr>Interactive Knowledge check </vt:lpstr>
      <vt:lpstr>Resumen del módulo 3</vt:lpstr>
      <vt:lpstr>Fin de la presentación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Julio Armando Estremadoyro Aguirre</cp:lastModifiedBy>
  <cp:revision>25</cp:revision>
  <dcterms:created xsi:type="dcterms:W3CDTF">2023-12-14T00:17:42Z</dcterms:created>
  <dcterms:modified xsi:type="dcterms:W3CDTF">2026-10-09T19:33:59Z</dcterms:modified>
</cp:coreProperties>
</file>